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748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ru-RU"/>
  <c:roundedCorners val="1"/>
  <c:style val="2"/>
  <c:chart>
    <c:title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Вес</c:v>
                </c:pt>
              </c:strCache>
            </c:strRef>
          </c:tx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/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Sheet1!$A$2:$A$7</c:f>
              <c:strCache>
                <c:ptCount val="6"/>
                <c:pt idx="0">
                  <c:v>Доступность</c:v>
                </c:pt>
                <c:pt idx="1">
                  <c:v>Эффект адаптации</c:v>
                </c:pt>
                <c:pt idx="2">
                  <c:v>Стоимость</c:v>
                </c:pt>
                <c:pt idx="3">
                  <c:v>Срок внедрения</c:v>
                </c:pt>
                <c:pt idx="4">
                  <c:v>Масштабируемость</c:v>
                </c:pt>
                <c:pt idx="5">
                  <c:v>Социальная значимость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0.25</c:v>
                </c:pt>
                <c:pt idx="1">
                  <c:v>0.25</c:v>
                </c:pt>
                <c:pt idx="2">
                  <c:v>0.15</c:v>
                </c:pt>
                <c:pt idx="3">
                  <c:v>0.15</c:v>
                </c:pt>
                <c:pt idx="4">
                  <c:v>0.1</c:v>
                </c:pt>
                <c:pt idx="5">
                  <c:v>0.1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2C6-4AB0-800E-644314A5DE2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legend>
      <c:legendPos val="r"/>
      <c:overlay val="0"/>
    </c:legend>
    <c:plotVisOnly val="1"/>
    <c:dispBlanksAs val="gap"/>
    <c:showDLblsOverMax val="1"/>
  </c:chart>
  <c:txPr>
    <a:bodyPr/>
    <a:lstStyle/>
    <a:p>
      <a:pPr>
        <a:defRPr sz="1800"/>
      </a:pPr>
      <a:endParaRPr lang="ru-RU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title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Итоговая оценка</c:v>
                </c:pt>
              </c:strCache>
            </c:strRef>
          </c:tx>
          <c:invertIfNegative val="1"/>
          <c:cat>
            <c:strRef>
              <c:f>Sheet1!$A$2:$A$5</c:f>
              <c:strCache>
                <c:ptCount val="4"/>
                <c:pt idx="0">
                  <c:v>А1 Очный</c:v>
                </c:pt>
                <c:pt idx="1">
                  <c:v>А2 Цифровой</c:v>
                </c:pt>
                <c:pt idx="2">
                  <c:v>А3 Гибридный</c:v>
                </c:pt>
                <c:pt idx="3">
                  <c:v>А4 Наставничество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3.7</c:v>
                </c:pt>
                <c:pt idx="1">
                  <c:v>3.6</c:v>
                </c:pt>
                <c:pt idx="2">
                  <c:v>4.55</c:v>
                </c:pt>
                <c:pt idx="3">
                  <c:v>3.85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CC9-43EF-A1B0-AB604B39D6E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5"/>
          <c:min val="0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  <c:majorUnit val="1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ru-RU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6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228600"/>
            <a:ext cx="10789920" cy="4114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"/>
              </a:rPr>
              <a:t>Методы принятия управленческих решений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00200"/>
            <a:ext cx="10789920" cy="10058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3200" b="1">
                <a:solidFill>
                  <a:srgbClr val="1F2937"/>
                </a:solidFill>
                <a:latin typeface="Arial"/>
              </a:rPr>
              <a:t>Проект решения: адаптационный квест для абитуриентов с ОВЗ и инвалидностью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657600"/>
            <a:ext cx="329184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31520" y="3657600"/>
            <a:ext cx="3291840" cy="146304"/>
          </a:xfrm>
          <a:prstGeom prst="roundRect">
            <a:avLst/>
          </a:prstGeom>
          <a:solidFill>
            <a:srgbClr val="26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3858768"/>
            <a:ext cx="301752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800" b="1">
                <a:solidFill>
                  <a:srgbClr val="1F2937"/>
                </a:solidFill>
                <a:latin typeface="Arial"/>
              </a:rPr>
              <a:t>Команда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251960"/>
            <a:ext cx="3017520" cy="655564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lang="ru-RU" sz="1300" b="0" dirty="0">
                <a:solidFill>
                  <a:srgbClr val="6B7280"/>
                </a:solidFill>
                <a:latin typeface="Arial"/>
              </a:rPr>
              <a:t>Зубарев В.С.</a:t>
            </a:r>
            <a:r>
              <a:rPr sz="1300" b="0" dirty="0">
                <a:solidFill>
                  <a:srgbClr val="6B7280"/>
                </a:solidFill>
                <a:latin typeface="Arial"/>
              </a:rPr>
              <a:t>• </a:t>
            </a:r>
            <a:r>
              <a:rPr lang="ru-RU" sz="1300" b="0" dirty="0" err="1">
                <a:solidFill>
                  <a:srgbClr val="6B7280"/>
                </a:solidFill>
                <a:latin typeface="Arial"/>
              </a:rPr>
              <a:t>Белослудцев</a:t>
            </a:r>
            <a:r>
              <a:rPr lang="ru-RU" sz="1300" b="0" dirty="0">
                <a:solidFill>
                  <a:srgbClr val="6B7280"/>
                </a:solidFill>
                <a:latin typeface="Arial"/>
              </a:rPr>
              <a:t> И.А.</a:t>
            </a:r>
            <a:r>
              <a:rPr sz="1300" b="0" dirty="0">
                <a:solidFill>
                  <a:srgbClr val="6B7280"/>
                </a:solidFill>
                <a:latin typeface="Arial"/>
              </a:rPr>
              <a:t>
</a:t>
            </a:r>
            <a:r>
              <a:rPr lang="ru-RU" sz="1300" b="0" dirty="0">
                <a:solidFill>
                  <a:srgbClr val="6B7280"/>
                </a:solidFill>
                <a:latin typeface="Arial"/>
              </a:rPr>
              <a:t>Савченков К.В.</a:t>
            </a:r>
            <a:r>
              <a:rPr sz="1300" b="0" dirty="0">
                <a:solidFill>
                  <a:srgbClr val="6B7280"/>
                </a:solidFill>
                <a:latin typeface="Arial"/>
              </a:rPr>
              <a:t> • </a:t>
            </a:r>
            <a:r>
              <a:rPr lang="ru-RU" sz="1300" b="0" dirty="0" err="1">
                <a:solidFill>
                  <a:srgbClr val="6B7280"/>
                </a:solidFill>
                <a:latin typeface="Arial"/>
              </a:rPr>
              <a:t>Рыженин</a:t>
            </a:r>
            <a:r>
              <a:rPr lang="ru-RU" sz="1300" b="0" dirty="0">
                <a:solidFill>
                  <a:srgbClr val="6B7280"/>
                </a:solidFill>
                <a:latin typeface="Arial"/>
              </a:rPr>
              <a:t> А.А.</a:t>
            </a:r>
            <a:r>
              <a:rPr sz="1300" b="0" dirty="0">
                <a:solidFill>
                  <a:srgbClr val="6B7280"/>
                </a:solidFill>
                <a:latin typeface="Arial"/>
              </a:rPr>
              <a:t>
</a:t>
            </a:r>
            <a:r>
              <a:rPr lang="ru-RU" sz="1300" b="0" dirty="0">
                <a:solidFill>
                  <a:srgbClr val="6B7280"/>
                </a:solidFill>
                <a:latin typeface="Arial"/>
              </a:rPr>
              <a:t>Хохлов А.И.</a:t>
            </a:r>
            <a:r>
              <a:rPr sz="1300" b="0" dirty="0">
                <a:solidFill>
                  <a:srgbClr val="6B7280"/>
                </a:solidFill>
                <a:latin typeface="Arial"/>
              </a:rPr>
              <a:t> • </a:t>
            </a:r>
            <a:r>
              <a:rPr lang="ru-RU" sz="1300" b="0" dirty="0" err="1">
                <a:solidFill>
                  <a:srgbClr val="6B7280"/>
                </a:solidFill>
                <a:latin typeface="Arial"/>
              </a:rPr>
              <a:t>Тыртышный</a:t>
            </a:r>
            <a:r>
              <a:rPr lang="ru-RU" sz="1300" b="0" dirty="0">
                <a:solidFill>
                  <a:srgbClr val="6B7280"/>
                </a:solidFill>
                <a:latin typeface="Arial"/>
              </a:rPr>
              <a:t> С.Д.</a:t>
            </a:r>
            <a:endParaRPr sz="1300" b="0" dirty="0">
              <a:solidFill>
                <a:srgbClr val="6B7280"/>
              </a:solidFill>
              <a:latin typeface="Arial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434840" y="3657600"/>
            <a:ext cx="329184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434840" y="3657600"/>
            <a:ext cx="3291840" cy="146304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0" y="3858768"/>
            <a:ext cx="301752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800" b="1">
                <a:solidFill>
                  <a:srgbClr val="1F2937"/>
                </a:solidFill>
                <a:latin typeface="Arial"/>
              </a:rPr>
              <a:t>Итоговый продукт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4251960"/>
            <a:ext cx="3017520" cy="777239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Arial"/>
              </a:rPr>
              <a:t>Проект квеста, приоритизация альтернатив, график реализации, защита решения.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3657600"/>
            <a:ext cx="329184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138160" y="3657600"/>
            <a:ext cx="3291840" cy="146304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75320" y="3858768"/>
            <a:ext cx="301752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800" b="1">
                <a:solidFill>
                  <a:srgbClr val="1F2937"/>
                </a:solidFill>
                <a:latin typeface="Arial"/>
              </a:rPr>
              <a:t>Срок подготовки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4251960"/>
            <a:ext cx="3017520" cy="777239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Arial"/>
              </a:rPr>
              <a:t>90 минут на разработку и запись защиты проекта.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900" b="0" dirty="0" err="1">
                <a:solidFill>
                  <a:srgbClr val="6B7280"/>
                </a:solidFill>
                <a:latin typeface="Arial"/>
              </a:rPr>
              <a:t>Контрольная</a:t>
            </a:r>
            <a:r>
              <a:rPr sz="900" b="0" dirty="0">
                <a:solidFill>
                  <a:srgbClr val="6B7280"/>
                </a:solidFill>
                <a:latin typeface="Arial"/>
              </a:rPr>
              <a:t> </a:t>
            </a:r>
            <a:r>
              <a:rPr sz="900" b="0" dirty="0" err="1">
                <a:solidFill>
                  <a:srgbClr val="6B7280"/>
                </a:solidFill>
                <a:latin typeface="Arial"/>
              </a:rPr>
              <a:t>работа</a:t>
            </a:r>
            <a:r>
              <a:rPr sz="900" b="0" dirty="0">
                <a:solidFill>
                  <a:srgbClr val="6B7280"/>
                </a:solidFill>
                <a:latin typeface="Arial"/>
              </a:rPr>
              <a:t> 1 • МПУР • </a:t>
            </a:r>
            <a:r>
              <a:rPr sz="900" b="0" dirty="0" err="1">
                <a:solidFill>
                  <a:srgbClr val="6B7280"/>
                </a:solidFill>
                <a:latin typeface="Arial"/>
              </a:rPr>
              <a:t>слайд</a:t>
            </a:r>
            <a:r>
              <a:rPr sz="900" b="0" dirty="0">
                <a:solidFill>
                  <a:srgbClr val="6B7280"/>
                </a:solidFill>
                <a:latin typeface="Arial"/>
              </a:rPr>
              <a:t>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Arial"/>
              </a:rPr>
              <a:t>Что требуется выполнить по заданию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828800" cy="54864"/>
          </a:xfrm>
          <a:prstGeom prst="rect">
            <a:avLst/>
          </a:prstGeom>
          <a:solidFill>
            <a:srgbClr val="26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69848"/>
            <a:ext cx="11064240" cy="34747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400" b="0" dirty="0" err="1">
                <a:solidFill>
                  <a:srgbClr val="6B7280"/>
                </a:solidFill>
                <a:latin typeface="Arial"/>
              </a:rPr>
              <a:t>Основные</a:t>
            </a:r>
            <a:r>
              <a:rPr sz="1400" b="0" dirty="0">
                <a:solidFill>
                  <a:srgbClr val="6B7280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6B7280"/>
                </a:solidFill>
                <a:latin typeface="Arial"/>
              </a:rPr>
              <a:t>этапы</a:t>
            </a:r>
            <a:r>
              <a:rPr sz="1400" b="0" dirty="0">
                <a:solidFill>
                  <a:srgbClr val="6B7280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6B7280"/>
                </a:solidFill>
                <a:latin typeface="Arial"/>
              </a:rPr>
              <a:t>работы</a:t>
            </a:r>
            <a:r>
              <a:rPr sz="1400" b="0" dirty="0">
                <a:solidFill>
                  <a:srgbClr val="6B7280"/>
                </a:solidFill>
                <a:latin typeface="Arial"/>
              </a:rPr>
              <a:t>, </a:t>
            </a:r>
            <a:r>
              <a:rPr sz="1400" b="0" dirty="0" err="1">
                <a:solidFill>
                  <a:srgbClr val="6B7280"/>
                </a:solidFill>
                <a:latin typeface="Arial"/>
              </a:rPr>
              <a:t>адаптированные</a:t>
            </a:r>
            <a:r>
              <a:rPr sz="1400" b="0" dirty="0">
                <a:solidFill>
                  <a:srgbClr val="6B7280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6B7280"/>
                </a:solidFill>
                <a:latin typeface="Arial"/>
              </a:rPr>
              <a:t>под</a:t>
            </a:r>
            <a:r>
              <a:rPr sz="1400" b="0" dirty="0">
                <a:solidFill>
                  <a:srgbClr val="6B7280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6B7280"/>
                </a:solidFill>
                <a:latin typeface="Arial"/>
              </a:rPr>
              <a:t>команду</a:t>
            </a:r>
            <a:r>
              <a:rPr sz="1400" b="0" dirty="0">
                <a:solidFill>
                  <a:srgbClr val="6B7280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6B7280"/>
                </a:solidFill>
                <a:latin typeface="Arial"/>
              </a:rPr>
              <a:t>из</a:t>
            </a:r>
            <a:r>
              <a:rPr sz="1400" b="0" dirty="0">
                <a:solidFill>
                  <a:srgbClr val="6B7280"/>
                </a:solidFill>
                <a:latin typeface="Arial"/>
              </a:rPr>
              <a:t> 6 </a:t>
            </a:r>
            <a:r>
              <a:rPr sz="1400" b="0" dirty="0" err="1">
                <a:solidFill>
                  <a:srgbClr val="6B7280"/>
                </a:solidFill>
                <a:latin typeface="Arial"/>
              </a:rPr>
              <a:t>человек</a:t>
            </a:r>
            <a:endParaRPr sz="1400" b="0" dirty="0">
              <a:solidFill>
                <a:srgbClr val="6B7280"/>
              </a:solidFill>
              <a:latin typeface="Arial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48640" y="1600200"/>
            <a:ext cx="35204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3520440" cy="146304"/>
          </a:xfrm>
          <a:prstGeom prst="roundRect">
            <a:avLst/>
          </a:prstGeom>
          <a:solidFill>
            <a:srgbClr val="26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801368"/>
            <a:ext cx="324612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600" b="1">
                <a:solidFill>
                  <a:srgbClr val="1F2937"/>
                </a:solidFill>
                <a:latin typeface="Arial"/>
              </a:rPr>
              <a:t>1. Команда и роли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94560"/>
            <a:ext cx="3246120" cy="6858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Arial"/>
              </a:rPr>
              <a:t>Распределить 6 участников, определить роли в принятии решения и построить RACI-матрицу.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600200"/>
            <a:ext cx="35204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434840" y="1600200"/>
            <a:ext cx="3520440" cy="146304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0" y="1801368"/>
            <a:ext cx="324612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600" b="1">
                <a:solidFill>
                  <a:srgbClr val="1F2937"/>
                </a:solidFill>
                <a:latin typeface="Arial"/>
              </a:rPr>
              <a:t>2. Цель решения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194560"/>
            <a:ext cx="3246120" cy="6858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Arial"/>
              </a:rPr>
              <a:t>Сформулировать цель адаптационного квеста через SMART и связать её с OKR.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1040" y="1600200"/>
            <a:ext cx="35204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321040" y="1600200"/>
            <a:ext cx="3520440" cy="146304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58200" y="1801368"/>
            <a:ext cx="324612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600" b="1">
                <a:solidFill>
                  <a:srgbClr val="1F2937"/>
                </a:solidFill>
                <a:latin typeface="Arial"/>
              </a:rPr>
              <a:t>3. Альтернативы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2194560"/>
            <a:ext cx="3246120" cy="6858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Arial"/>
              </a:rPr>
              <a:t>Предложить несколько вариантов решения, критерии оценки и способ приоритизации.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474720"/>
            <a:ext cx="35204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48640" y="3474720"/>
            <a:ext cx="3520440" cy="146304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5800" y="3675887"/>
            <a:ext cx="324612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600" b="1">
                <a:solidFill>
                  <a:srgbClr val="1F2937"/>
                </a:solidFill>
                <a:latin typeface="Arial"/>
              </a:rPr>
              <a:t>4. Выбор решения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069080"/>
            <a:ext cx="3246120" cy="6858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Arial"/>
              </a:rPr>
              <a:t>Рассчитать взвешенную оценку альтернатив, выбрать наиболее эффективную.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34840" y="3474720"/>
            <a:ext cx="35204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4434840" y="3474720"/>
            <a:ext cx="3520440" cy="146304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0" y="3675887"/>
            <a:ext cx="324612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600" b="1">
                <a:solidFill>
                  <a:srgbClr val="1F2937"/>
                </a:solidFill>
                <a:latin typeface="Arial"/>
              </a:rPr>
              <a:t>5. График реализации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4069080"/>
            <a:ext cx="3246120" cy="6858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Arial"/>
              </a:rPr>
              <a:t>Построить план внедрения выбранной альтернативы в формате Гантта.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21040" y="3474720"/>
            <a:ext cx="35204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8321040" y="3474720"/>
            <a:ext cx="3520440" cy="146304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458200" y="3675887"/>
            <a:ext cx="324612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600" b="1">
                <a:solidFill>
                  <a:srgbClr val="1F2937"/>
                </a:solidFill>
                <a:latin typeface="Arial"/>
              </a:rPr>
              <a:t>6. Защита проекта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58200" y="4069080"/>
            <a:ext cx="3246120" cy="6858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Arial"/>
              </a:rPr>
              <a:t>Подготовить презентацию и видеозащиту, где каждый слайд закреплён за разработчиком.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Контрольная работа 1 • МПУР • слайд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Arial"/>
              </a:rPr>
              <a:t>Бизнес-контекст и управленческая проблема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828800" cy="54864"/>
          </a:xfrm>
          <a:prstGeom prst="rect">
            <a:avLst/>
          </a:prstGeom>
          <a:solidFill>
            <a:srgbClr val="26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94360" y="1417320"/>
            <a:ext cx="342900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3429000" cy="146304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18488"/>
            <a:ext cx="315468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700" b="1">
                <a:solidFill>
                  <a:srgbClr val="1F2937"/>
                </a:solidFill>
                <a:latin typeface="Arial"/>
              </a:rPr>
              <a:t>Проблема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3154680" cy="36118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400" b="0" dirty="0" err="1">
                <a:solidFill>
                  <a:srgbClr val="6B7280"/>
                </a:solidFill>
                <a:latin typeface="Arial"/>
              </a:rPr>
              <a:t>Переход</a:t>
            </a:r>
            <a:r>
              <a:rPr sz="1400" b="0" dirty="0">
                <a:solidFill>
                  <a:srgbClr val="6B7280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6B7280"/>
                </a:solidFill>
                <a:latin typeface="Arial"/>
              </a:rPr>
              <a:t>из</a:t>
            </a:r>
            <a:r>
              <a:rPr sz="1400" b="0" dirty="0">
                <a:solidFill>
                  <a:srgbClr val="6B7280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6B7280"/>
                </a:solidFill>
                <a:latin typeface="Arial"/>
              </a:rPr>
              <a:t>школы</a:t>
            </a:r>
            <a:r>
              <a:rPr sz="1400" b="0" dirty="0">
                <a:solidFill>
                  <a:srgbClr val="6B7280"/>
                </a:solidFill>
                <a:latin typeface="Arial"/>
              </a:rPr>
              <a:t> в </a:t>
            </a:r>
            <a:r>
              <a:rPr sz="1400" b="0" dirty="0" err="1">
                <a:solidFill>
                  <a:srgbClr val="6B7280"/>
                </a:solidFill>
                <a:latin typeface="Arial"/>
              </a:rPr>
              <a:t>вуз</a:t>
            </a:r>
            <a:r>
              <a:rPr sz="1400" b="0" dirty="0">
                <a:solidFill>
                  <a:srgbClr val="6B7280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6B7280"/>
                </a:solidFill>
                <a:latin typeface="Arial"/>
              </a:rPr>
              <a:t>часто</a:t>
            </a:r>
            <a:r>
              <a:rPr sz="1400" b="0" dirty="0">
                <a:solidFill>
                  <a:srgbClr val="6B7280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6B7280"/>
                </a:solidFill>
                <a:latin typeface="Arial"/>
              </a:rPr>
              <a:t>сопровождается</a:t>
            </a:r>
            <a:r>
              <a:rPr sz="1400" b="0" dirty="0">
                <a:solidFill>
                  <a:srgbClr val="6B7280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6B7280"/>
                </a:solidFill>
                <a:latin typeface="Arial"/>
              </a:rPr>
              <a:t>снижением</a:t>
            </a:r>
            <a:r>
              <a:rPr sz="1400" b="0" dirty="0">
                <a:solidFill>
                  <a:srgbClr val="6B7280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6B7280"/>
                </a:solidFill>
                <a:latin typeface="Arial"/>
              </a:rPr>
              <a:t>контроля</a:t>
            </a:r>
            <a:r>
              <a:rPr sz="1400" b="0" dirty="0">
                <a:solidFill>
                  <a:srgbClr val="6B7280"/>
                </a:solidFill>
                <a:latin typeface="Arial"/>
              </a:rPr>
              <a:t>, </a:t>
            </a:r>
            <a:r>
              <a:rPr sz="1400" b="0" dirty="0" err="1">
                <a:solidFill>
                  <a:srgbClr val="6B7280"/>
                </a:solidFill>
                <a:latin typeface="Arial"/>
              </a:rPr>
              <a:t>ростом</a:t>
            </a:r>
            <a:r>
              <a:rPr sz="1400" b="0" dirty="0">
                <a:solidFill>
                  <a:srgbClr val="6B7280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6B7280"/>
                </a:solidFill>
                <a:latin typeface="Arial"/>
              </a:rPr>
              <a:t>самостоятельности</a:t>
            </a:r>
            <a:r>
              <a:rPr sz="1400" b="0" dirty="0">
                <a:solidFill>
                  <a:srgbClr val="6B7280"/>
                </a:solidFill>
                <a:latin typeface="Arial"/>
              </a:rPr>
              <a:t>, </a:t>
            </a:r>
            <a:r>
              <a:rPr sz="1400" b="0" dirty="0" err="1">
                <a:solidFill>
                  <a:srgbClr val="6B7280"/>
                </a:solidFill>
                <a:latin typeface="Arial"/>
              </a:rPr>
              <a:t>новой</a:t>
            </a:r>
            <a:r>
              <a:rPr sz="1400" b="0" dirty="0">
                <a:solidFill>
                  <a:srgbClr val="6B7280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6B7280"/>
                </a:solidFill>
                <a:latin typeface="Arial"/>
              </a:rPr>
              <a:t>социальной</a:t>
            </a:r>
            <a:r>
              <a:rPr sz="1400" b="0" dirty="0">
                <a:solidFill>
                  <a:srgbClr val="6B7280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6B7280"/>
                </a:solidFill>
                <a:latin typeface="Arial"/>
              </a:rPr>
              <a:t>средой</a:t>
            </a:r>
            <a:r>
              <a:rPr sz="1400" b="0" dirty="0">
                <a:solidFill>
                  <a:srgbClr val="6B7280"/>
                </a:solidFill>
                <a:latin typeface="Arial"/>
              </a:rPr>
              <a:t> и </a:t>
            </a:r>
            <a:r>
              <a:rPr sz="1400" b="0" dirty="0" err="1">
                <a:solidFill>
                  <a:srgbClr val="6B7280"/>
                </a:solidFill>
                <a:latin typeface="Arial"/>
              </a:rPr>
              <a:t>риском</a:t>
            </a:r>
            <a:r>
              <a:rPr sz="1400" b="0" dirty="0">
                <a:solidFill>
                  <a:srgbClr val="6B7280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6B7280"/>
                </a:solidFill>
                <a:latin typeface="Arial"/>
              </a:rPr>
              <a:t>потери</a:t>
            </a:r>
            <a:r>
              <a:rPr sz="1400" b="0" dirty="0">
                <a:solidFill>
                  <a:srgbClr val="6B7280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6B7280"/>
                </a:solidFill>
                <a:latin typeface="Arial"/>
              </a:rPr>
              <a:t>учебной</a:t>
            </a:r>
            <a:r>
              <a:rPr sz="1400" b="0" dirty="0">
                <a:solidFill>
                  <a:srgbClr val="6B7280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6B7280"/>
                </a:solidFill>
                <a:latin typeface="Arial"/>
              </a:rPr>
              <a:t>мотивации</a:t>
            </a:r>
            <a:r>
              <a:rPr sz="1400" b="0" dirty="0">
                <a:solidFill>
                  <a:srgbClr val="6B7280"/>
                </a:solidFill>
                <a:latin typeface="Arial"/>
              </a:rPr>
              <a:t>. </a:t>
            </a:r>
            <a:r>
              <a:rPr sz="1400" b="0" dirty="0" err="1">
                <a:solidFill>
                  <a:srgbClr val="6B7280"/>
                </a:solidFill>
                <a:latin typeface="Arial"/>
              </a:rPr>
              <a:t>Для</a:t>
            </a:r>
            <a:r>
              <a:rPr sz="1400" b="0" dirty="0">
                <a:solidFill>
                  <a:srgbClr val="6B7280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6B7280"/>
                </a:solidFill>
                <a:latin typeface="Arial"/>
              </a:rPr>
              <a:t>абитуриентов</a:t>
            </a:r>
            <a:r>
              <a:rPr sz="1400" b="0" dirty="0">
                <a:solidFill>
                  <a:srgbClr val="6B7280"/>
                </a:solidFill>
                <a:latin typeface="Arial"/>
              </a:rPr>
              <a:t> с ОВЗ и </a:t>
            </a:r>
            <a:r>
              <a:rPr sz="1400" b="0" dirty="0" err="1">
                <a:solidFill>
                  <a:srgbClr val="6B7280"/>
                </a:solidFill>
                <a:latin typeface="Arial"/>
              </a:rPr>
              <a:t>инвалидностью</a:t>
            </a:r>
            <a:r>
              <a:rPr sz="1400" b="0" dirty="0">
                <a:solidFill>
                  <a:srgbClr val="6B7280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6B7280"/>
                </a:solidFill>
                <a:latin typeface="Arial"/>
              </a:rPr>
              <a:t>барьеры</a:t>
            </a:r>
            <a:r>
              <a:rPr sz="1400" b="0" dirty="0">
                <a:solidFill>
                  <a:srgbClr val="6B7280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6B7280"/>
                </a:solidFill>
                <a:latin typeface="Arial"/>
              </a:rPr>
              <a:t>адаптации</a:t>
            </a:r>
            <a:r>
              <a:rPr sz="1400" b="0" dirty="0">
                <a:solidFill>
                  <a:srgbClr val="6B7280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6B7280"/>
                </a:solidFill>
                <a:latin typeface="Arial"/>
              </a:rPr>
              <a:t>выражены</a:t>
            </a:r>
            <a:r>
              <a:rPr sz="1400" b="0" dirty="0">
                <a:solidFill>
                  <a:srgbClr val="6B7280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6B7280"/>
                </a:solidFill>
                <a:latin typeface="Arial"/>
              </a:rPr>
              <a:t>сильнее</a:t>
            </a:r>
            <a:r>
              <a:rPr sz="1400" b="0" dirty="0">
                <a:solidFill>
                  <a:srgbClr val="6B7280"/>
                </a:solidFill>
                <a:latin typeface="Arial"/>
              </a:rPr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17320"/>
            <a:ext cx="342900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389120" y="1417320"/>
            <a:ext cx="3429000" cy="146304"/>
          </a:xfrm>
          <a:prstGeom prst="roundRect">
            <a:avLst/>
          </a:prstGeom>
          <a:solidFill>
            <a:srgbClr val="26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26280" y="1618488"/>
            <a:ext cx="315468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700" b="1">
                <a:solidFill>
                  <a:srgbClr val="1F2937"/>
                </a:solidFill>
                <a:latin typeface="Arial"/>
              </a:rPr>
              <a:t>Решение в задании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2011680"/>
            <a:ext cx="3154680" cy="36118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Arial"/>
              </a:rPr>
              <a:t>На уровне образовательной организации предлагается разработать адаптационный квест, который поможет познакомиться с образовательной средой, сервисами поддержки и правилами коммуникации.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79" y="1417320"/>
            <a:ext cx="342900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183879" y="1417320"/>
            <a:ext cx="3429000" cy="146304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21040" y="1618488"/>
            <a:ext cx="315468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700" b="1">
                <a:solidFill>
                  <a:srgbClr val="1F2937"/>
                </a:solidFill>
                <a:latin typeface="Arial"/>
              </a:rPr>
              <a:t>Ожидаемый эффект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011680"/>
            <a:ext cx="3154680" cy="36118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Arial"/>
              </a:rPr>
              <a:t>Участник заранее понимает маршрут поступления и обучения, знает точки поддержки и чувствует себя увереннее при первом контакте с университетом.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Контрольная работа 1 • МПУР • слайд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Arial"/>
              </a:rPr>
              <a:t>Команда из 6 человек: роли в работе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828800" cy="54864"/>
          </a:xfrm>
          <a:prstGeom prst="rect">
            <a:avLst/>
          </a:prstGeom>
          <a:solidFill>
            <a:srgbClr val="26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35204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1417320"/>
            <a:ext cx="3520440" cy="146304"/>
          </a:xfrm>
          <a:prstGeom prst="roundRect">
            <a:avLst/>
          </a:prstGeom>
          <a:solidFill>
            <a:srgbClr val="26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618488"/>
            <a:ext cx="3246120" cy="301621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lang="ru-RU" sz="1600" b="1" dirty="0">
                <a:solidFill>
                  <a:srgbClr val="1F2937"/>
                </a:solidFill>
                <a:latin typeface="Arial"/>
              </a:rPr>
              <a:t>Зубарев В.С.</a:t>
            </a:r>
            <a:endParaRPr sz="1600" b="1" dirty="0">
              <a:solidFill>
                <a:srgbClr val="1F2937"/>
              </a:solidFill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85800" y="2011680"/>
            <a:ext cx="3246120" cy="6858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Arial"/>
              </a:rPr>
              <a:t>Руководитель проекта
координация, тайминг, итоговый выбор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417320"/>
            <a:ext cx="35204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434840" y="1417320"/>
            <a:ext cx="3520440" cy="146304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0" y="1618488"/>
            <a:ext cx="3246120" cy="301621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lang="ru-RU" sz="1600" b="1" dirty="0" err="1">
                <a:solidFill>
                  <a:srgbClr val="1F2937"/>
                </a:solidFill>
                <a:latin typeface="Arial"/>
              </a:rPr>
              <a:t>Белослудцев</a:t>
            </a:r>
            <a:r>
              <a:rPr lang="ru-RU" sz="1600" b="1" dirty="0">
                <a:solidFill>
                  <a:srgbClr val="1F2937"/>
                </a:solidFill>
                <a:latin typeface="Arial"/>
              </a:rPr>
              <a:t> И.А.</a:t>
            </a:r>
            <a:endParaRPr sz="1600" b="1" dirty="0">
              <a:solidFill>
                <a:srgbClr val="1F2937"/>
              </a:solidFill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572000" y="2011680"/>
            <a:ext cx="3246120" cy="6858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Arial"/>
              </a:rPr>
              <a:t>Аналитик проблемы
бизнес-контекст, карта барьеров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1417320"/>
            <a:ext cx="35204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321040" y="1417320"/>
            <a:ext cx="3520440" cy="146304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58200" y="1618488"/>
            <a:ext cx="3246120" cy="301621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lang="ru-RU" sz="1600" b="1" dirty="0" err="1">
                <a:solidFill>
                  <a:srgbClr val="1F2937"/>
                </a:solidFill>
                <a:latin typeface="Arial"/>
              </a:rPr>
              <a:t>Тыртышный</a:t>
            </a:r>
            <a:r>
              <a:rPr lang="ru-RU" sz="1600" b="1" dirty="0">
                <a:solidFill>
                  <a:srgbClr val="1F2937"/>
                </a:solidFill>
                <a:latin typeface="Arial"/>
              </a:rPr>
              <a:t> С.Д.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2011680"/>
            <a:ext cx="3246120" cy="6858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Arial"/>
              </a:rPr>
              <a:t>Методолог целей
SMART/OKR, показатели результата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291839"/>
            <a:ext cx="35204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48640" y="3291839"/>
            <a:ext cx="3520440" cy="146304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5800" y="3493008"/>
            <a:ext cx="3246120" cy="301621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lang="ru-RU" sz="1600" b="1" dirty="0" err="1">
                <a:solidFill>
                  <a:srgbClr val="1F2937"/>
                </a:solidFill>
                <a:latin typeface="Arial"/>
              </a:rPr>
              <a:t>Рыженин</a:t>
            </a:r>
            <a:r>
              <a:rPr lang="ru-RU" sz="1600" b="1" dirty="0">
                <a:solidFill>
                  <a:srgbClr val="1F2937"/>
                </a:solidFill>
                <a:latin typeface="Arial"/>
              </a:rPr>
              <a:t> А.А.</a:t>
            </a:r>
            <a:endParaRPr sz="1600" b="1" dirty="0">
              <a:solidFill>
                <a:srgbClr val="1F2937"/>
              </a:solidFill>
              <a:latin typeface="Ari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85800" y="3886200"/>
            <a:ext cx="3246120" cy="6858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Arial"/>
              </a:rPr>
              <a:t>Дизайнер альтернатив
сценарии квеста, варианты решений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34840" y="3291839"/>
            <a:ext cx="35204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4434840" y="3291839"/>
            <a:ext cx="3520440" cy="146304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72000" y="3493008"/>
            <a:ext cx="3246120" cy="301621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lang="ru-RU" sz="1600" b="1" dirty="0">
                <a:solidFill>
                  <a:srgbClr val="1F2937"/>
                </a:solidFill>
                <a:latin typeface="Arial"/>
              </a:rPr>
              <a:t>Хохлов А.И.</a:t>
            </a:r>
            <a:endParaRPr sz="1600" b="1" dirty="0">
              <a:solidFill>
                <a:srgbClr val="1F2937"/>
              </a:solidFill>
              <a:latin typeface="Arial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572000" y="3886200"/>
            <a:ext cx="3246120" cy="6858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Arial"/>
              </a:rPr>
              <a:t>Финансово-ресурсный аналитик
критерии, веса, расчёты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321040" y="3291839"/>
            <a:ext cx="35204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8321040" y="3291839"/>
            <a:ext cx="3520440" cy="146304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458200" y="3493008"/>
            <a:ext cx="3246120" cy="301621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lang="ru-RU" sz="1600" b="1" dirty="0">
                <a:solidFill>
                  <a:srgbClr val="1F2937"/>
                </a:solidFill>
                <a:latin typeface="Arial"/>
              </a:rPr>
              <a:t>Савченков К.В.</a:t>
            </a:r>
            <a:endParaRPr sz="1600" b="1" dirty="0">
              <a:solidFill>
                <a:srgbClr val="1F2937"/>
              </a:solidFill>
              <a:latin typeface="Arial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458200" y="3886200"/>
            <a:ext cx="3246120" cy="6858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Arial"/>
              </a:rPr>
              <a:t>Презентатор и продюсер
визуализация, график, видеозащита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Контрольная работа 1 • МПУР • слайд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Arial"/>
              </a:rPr>
              <a:t>Матрица ответственности RACI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828800" cy="54864"/>
          </a:xfrm>
          <a:prstGeom prst="rect">
            <a:avLst/>
          </a:prstGeom>
          <a:solidFill>
            <a:srgbClr val="26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8156422"/>
              </p:ext>
            </p:extLst>
          </p:nvPr>
        </p:nvGraphicFramePr>
        <p:xfrm>
          <a:off x="411480" y="1234440"/>
          <a:ext cx="11384280" cy="4892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06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11505">
                <a:tc>
                  <a:txBody>
                    <a:bodyPr/>
                    <a:lstStyle/>
                    <a:p>
                      <a:pPr algn="ctr"/>
                      <a:r>
                        <a:rPr sz="1100" b="1" dirty="0" err="1">
                          <a:solidFill>
                            <a:srgbClr val="FFFFFF"/>
                          </a:solidFill>
                          <a:latin typeface="Arial"/>
                        </a:rPr>
                        <a:t>Задача</a:t>
                      </a:r>
                      <a:endParaRPr sz="1100" b="1" dirty="0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>
                    <a:solidFill>
                      <a:srgbClr val="26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rgbClr val="FFFFFF"/>
                          </a:solidFill>
                          <a:latin typeface="Arial"/>
                        </a:rPr>
                        <a:t>Зубарев В.С.</a:t>
                      </a:r>
                      <a:endParaRPr sz="1100" b="1" dirty="0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>
                    <a:solidFill>
                      <a:srgbClr val="26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 err="1">
                          <a:solidFill>
                            <a:srgbClr val="FFFFFF"/>
                          </a:solidFill>
                          <a:latin typeface="Arial"/>
                        </a:rPr>
                        <a:t>Белослудцев</a:t>
                      </a:r>
                      <a:r>
                        <a:rPr lang="ru-RU" sz="1100" b="1" dirty="0">
                          <a:solidFill>
                            <a:srgbClr val="FFFFFF"/>
                          </a:solidFill>
                          <a:latin typeface="Arial"/>
                        </a:rPr>
                        <a:t> И.А.</a:t>
                      </a:r>
                      <a:endParaRPr sz="1100" b="1" dirty="0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>
                    <a:solidFill>
                      <a:srgbClr val="26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 err="1">
                          <a:solidFill>
                            <a:srgbClr val="FFFFFF"/>
                          </a:solidFill>
                          <a:latin typeface="Arial"/>
                        </a:rPr>
                        <a:t>Тыртышный</a:t>
                      </a:r>
                      <a:r>
                        <a:rPr lang="ru-RU" sz="1100" b="1" dirty="0">
                          <a:solidFill>
                            <a:srgbClr val="FFFFFF"/>
                          </a:solidFill>
                          <a:latin typeface="Arial"/>
                        </a:rPr>
                        <a:t> С.Д.</a:t>
                      </a:r>
                      <a:endParaRPr sz="1100" b="1" dirty="0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>
                    <a:solidFill>
                      <a:srgbClr val="26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 err="1">
                          <a:solidFill>
                            <a:srgbClr val="FFFFFF"/>
                          </a:solidFill>
                          <a:latin typeface="Arial"/>
                        </a:rPr>
                        <a:t>Рыженин</a:t>
                      </a:r>
                      <a:r>
                        <a:rPr lang="ru-RU" sz="1100" b="1" dirty="0">
                          <a:solidFill>
                            <a:srgbClr val="FFFFFF"/>
                          </a:solidFill>
                          <a:latin typeface="Arial"/>
                        </a:rPr>
                        <a:t> А.А.</a:t>
                      </a:r>
                      <a:endParaRPr sz="1100" b="1" dirty="0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>
                    <a:solidFill>
                      <a:srgbClr val="26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rgbClr val="FFFFFF"/>
                          </a:solidFill>
                          <a:latin typeface="Arial"/>
                        </a:rPr>
                        <a:t>Хохлов А.И.</a:t>
                      </a:r>
                      <a:endParaRPr sz="1100" b="1" dirty="0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>
                    <a:solidFill>
                      <a:srgbClr val="2663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b="1" dirty="0">
                          <a:solidFill>
                            <a:srgbClr val="FFFFFF"/>
                          </a:solidFill>
                          <a:latin typeface="Arial"/>
                        </a:rPr>
                        <a:t>Савченков К.В.</a:t>
                      </a:r>
                      <a:endParaRPr sz="1100" b="1" dirty="0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>
                    <a:solidFill>
                      <a:srgbClr val="26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1505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Анализ контекста и проблемы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937"/>
                          </a:solidFill>
                          <a:latin typeface="Arial"/>
                        </a:rPr>
                        <a:t>A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937"/>
                          </a:solidFill>
                          <a:latin typeface="Arial"/>
                        </a:rPr>
                        <a:t>R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937"/>
                          </a:solidFill>
                          <a:latin typeface="Arial"/>
                        </a:rPr>
                        <a:t>C</a:t>
                      </a:r>
                    </a:p>
                  </a:txBody>
                  <a:tcPr anchor="ctr"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937"/>
                          </a:solidFill>
                          <a:latin typeface="Arial"/>
                        </a:rPr>
                        <a:t>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937"/>
                          </a:solidFill>
                          <a:latin typeface="Arial"/>
                        </a:rPr>
                        <a:t>C</a:t>
                      </a:r>
                    </a:p>
                  </a:txBody>
                  <a:tcPr anchor="ctr"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937"/>
                          </a:solidFill>
                          <a:latin typeface="Arial"/>
                        </a:rPr>
                        <a:t>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1505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Формулировка SMART/OKR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937"/>
                          </a:solidFill>
                          <a:latin typeface="Arial"/>
                        </a:rPr>
                        <a:t>A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937"/>
                          </a:solidFill>
                          <a:latin typeface="Arial"/>
                        </a:rPr>
                        <a:t>C</a:t>
                      </a:r>
                    </a:p>
                  </a:txBody>
                  <a:tcPr anchor="ctr"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937"/>
                          </a:solidFill>
                          <a:latin typeface="Arial"/>
                        </a:rPr>
                        <a:t>R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937"/>
                          </a:solidFill>
                          <a:latin typeface="Arial"/>
                        </a:rPr>
                        <a:t>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937"/>
                          </a:solidFill>
                          <a:latin typeface="Arial"/>
                        </a:rPr>
                        <a:t>C</a:t>
                      </a:r>
                    </a:p>
                  </a:txBody>
                  <a:tcPr anchor="ctr"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937"/>
                          </a:solidFill>
                          <a:latin typeface="Arial"/>
                        </a:rPr>
                        <a:t>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1505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Разработка альтернатив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937"/>
                          </a:solidFill>
                          <a:latin typeface="Arial"/>
                        </a:rPr>
                        <a:t>C</a:t>
                      </a:r>
                    </a:p>
                  </a:txBody>
                  <a:tcPr anchor="ctr"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937"/>
                          </a:solidFill>
                          <a:latin typeface="Arial"/>
                        </a:rPr>
                        <a:t>C</a:t>
                      </a:r>
                    </a:p>
                  </a:txBody>
                  <a:tcPr anchor="ctr"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937"/>
                          </a:solidFill>
                          <a:latin typeface="Arial"/>
                        </a:rPr>
                        <a:t>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937"/>
                          </a:solidFill>
                          <a:latin typeface="Arial"/>
                        </a:rPr>
                        <a:t>R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937"/>
                          </a:solidFill>
                          <a:latin typeface="Arial"/>
                        </a:rPr>
                        <a:t>C</a:t>
                      </a:r>
                    </a:p>
                  </a:txBody>
                  <a:tcPr anchor="ctr"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937"/>
                          </a:solidFill>
                          <a:latin typeface="Arial"/>
                        </a:rPr>
                        <a:t>A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1505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Критерии и веса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937"/>
                          </a:solidFill>
                          <a:latin typeface="Arial"/>
                        </a:rPr>
                        <a:t>A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937"/>
                          </a:solidFill>
                          <a:latin typeface="Arial"/>
                        </a:rPr>
                        <a:t>C</a:t>
                      </a:r>
                    </a:p>
                  </a:txBody>
                  <a:tcPr anchor="ctr"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937"/>
                          </a:solidFill>
                          <a:latin typeface="Arial"/>
                        </a:rPr>
                        <a:t>C</a:t>
                      </a:r>
                    </a:p>
                  </a:txBody>
                  <a:tcPr anchor="ctr"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937"/>
                          </a:solidFill>
                          <a:latin typeface="Arial"/>
                        </a:rPr>
                        <a:t>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937"/>
                          </a:solidFill>
                          <a:latin typeface="Arial"/>
                        </a:rPr>
                        <a:t>R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937"/>
                          </a:solidFill>
                          <a:latin typeface="Arial"/>
                        </a:rPr>
                        <a:t>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1505">
                <a:tc>
                  <a:txBody>
                    <a:bodyPr/>
                    <a:lstStyle/>
                    <a:p>
                      <a:pPr algn="l"/>
                      <a:r>
                        <a:rPr sz="1100" b="0" dirty="0" err="1">
                          <a:solidFill>
                            <a:srgbClr val="1F2937"/>
                          </a:solidFill>
                          <a:latin typeface="Arial"/>
                        </a:rPr>
                        <a:t>Расчёт</a:t>
                      </a:r>
                      <a:r>
                        <a:rPr sz="1100" b="0" dirty="0">
                          <a:solidFill>
                            <a:srgbClr val="1F2937"/>
                          </a:solidFill>
                          <a:latin typeface="Arial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F2937"/>
                          </a:solidFill>
                          <a:latin typeface="Arial"/>
                        </a:rPr>
                        <a:t>приоритетов</a:t>
                      </a:r>
                      <a:endParaRPr sz="1100" b="0" dirty="0">
                        <a:solidFill>
                          <a:srgbClr val="1F2937"/>
                        </a:solidFill>
                        <a:latin typeface="Arial"/>
                      </a:endParaRP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937"/>
                          </a:solidFill>
                          <a:latin typeface="Arial"/>
                        </a:rPr>
                        <a:t>A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937"/>
                          </a:solidFill>
                          <a:latin typeface="Arial"/>
                        </a:rPr>
                        <a:t>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937"/>
                          </a:solidFill>
                          <a:latin typeface="Arial"/>
                        </a:rPr>
                        <a:t>C</a:t>
                      </a:r>
                    </a:p>
                  </a:txBody>
                  <a:tcPr anchor="ctr"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937"/>
                          </a:solidFill>
                          <a:latin typeface="Arial"/>
                        </a:rPr>
                        <a:t>C</a:t>
                      </a:r>
                    </a:p>
                  </a:txBody>
                  <a:tcPr anchor="ctr"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937"/>
                          </a:solidFill>
                          <a:latin typeface="Arial"/>
                        </a:rPr>
                        <a:t>R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937"/>
                          </a:solidFill>
                          <a:latin typeface="Arial"/>
                        </a:rPr>
                        <a:t>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11505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График реализации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937"/>
                          </a:solidFill>
                          <a:latin typeface="Arial"/>
                        </a:rPr>
                        <a:t>A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937"/>
                          </a:solidFill>
                          <a:latin typeface="Arial"/>
                        </a:rPr>
                        <a:t>C</a:t>
                      </a:r>
                    </a:p>
                  </a:txBody>
                  <a:tcPr anchor="ctr"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937"/>
                          </a:solidFill>
                          <a:latin typeface="Arial"/>
                        </a:rPr>
                        <a:t>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937"/>
                          </a:solidFill>
                          <a:latin typeface="Arial"/>
                        </a:rPr>
                        <a:t>C</a:t>
                      </a:r>
                    </a:p>
                  </a:txBody>
                  <a:tcPr anchor="ctr"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937"/>
                          </a:solidFill>
                          <a:latin typeface="Arial"/>
                        </a:rPr>
                        <a:t>R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937"/>
                          </a:solidFill>
                          <a:latin typeface="Arial"/>
                        </a:rPr>
                        <a:t>R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11505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Сборка и защита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937"/>
                          </a:solidFill>
                          <a:latin typeface="Arial"/>
                        </a:rPr>
                        <a:t>C</a:t>
                      </a:r>
                    </a:p>
                  </a:txBody>
                  <a:tcPr anchor="ctr"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937"/>
                          </a:solidFill>
                          <a:latin typeface="Arial"/>
                        </a:rPr>
                        <a:t>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937"/>
                          </a:solidFill>
                          <a:latin typeface="Arial"/>
                        </a:rPr>
                        <a:t>C</a:t>
                      </a:r>
                    </a:p>
                  </a:txBody>
                  <a:tcPr anchor="ctr"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937"/>
                          </a:solidFill>
                          <a:latin typeface="Arial"/>
                        </a:rPr>
                        <a:t>C</a:t>
                      </a:r>
                    </a:p>
                  </a:txBody>
                  <a:tcPr anchor="ctr"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937"/>
                          </a:solidFill>
                          <a:latin typeface="Arial"/>
                        </a:rPr>
                        <a:t>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1F2937"/>
                          </a:solidFill>
                          <a:latin typeface="Arial"/>
                        </a:rPr>
                        <a:t>R/A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6263640"/>
            <a:ext cx="7315200" cy="2286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Arial"/>
              </a:rPr>
              <a:t>R — Responsible, A — Accountable, C — Consulted, I — Informed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Контрольная работа 1 • МПУР • слайд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Arial"/>
              </a:rPr>
              <a:t>Целевая аудитория и ключевые барьеры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828800" cy="54864"/>
          </a:xfrm>
          <a:prstGeom prst="rect">
            <a:avLst/>
          </a:prstGeom>
          <a:solidFill>
            <a:srgbClr val="26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94360" y="1417320"/>
            <a:ext cx="35204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3520440" cy="146304"/>
          </a:xfrm>
          <a:prstGeom prst="roundRect">
            <a:avLst/>
          </a:prstGeom>
          <a:solidFill>
            <a:srgbClr val="26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18488"/>
            <a:ext cx="324612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600" b="1">
                <a:solidFill>
                  <a:srgbClr val="1F2937"/>
                </a:solidFill>
                <a:latin typeface="Arial"/>
              </a:rPr>
              <a:t>Информационные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3246120" cy="701731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lang="ru-RU" sz="1400" b="0" dirty="0">
                <a:solidFill>
                  <a:srgbClr val="6B7280"/>
                </a:solidFill>
                <a:latin typeface="Arial"/>
              </a:rPr>
              <a:t>Сложно найти понятную информацию о правилах поступления и доступной среде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417320"/>
            <a:ext cx="35204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480560" y="1417320"/>
            <a:ext cx="3520440" cy="146304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17720" y="1618488"/>
            <a:ext cx="324612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600" b="1">
                <a:solidFill>
                  <a:srgbClr val="1F2937"/>
                </a:solidFill>
                <a:latin typeface="Arial"/>
              </a:rPr>
              <a:t>Навигационные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011680"/>
            <a:ext cx="3246120" cy="701731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lang="ru-RU" sz="1400" b="0" dirty="0">
                <a:solidFill>
                  <a:srgbClr val="6B7280"/>
                </a:solidFill>
                <a:latin typeface="Arial"/>
              </a:rPr>
              <a:t>Неясно, где находятся аудитории, службы поддержки, приёмная комиссия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66760" y="1417320"/>
            <a:ext cx="35204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366760" y="1417320"/>
            <a:ext cx="3520440" cy="146304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503920" y="1618488"/>
            <a:ext cx="324612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600" b="1">
                <a:solidFill>
                  <a:srgbClr val="1F2937"/>
                </a:solidFill>
                <a:latin typeface="Arial"/>
              </a:rPr>
              <a:t>Коммуникационные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2011680"/>
            <a:ext cx="3246120" cy="486287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lang="ru-RU" sz="1400" b="0" dirty="0">
                <a:solidFill>
                  <a:srgbClr val="6B7280"/>
                </a:solidFill>
                <a:latin typeface="Arial"/>
              </a:rPr>
              <a:t>Страх обращаться за помощью, недостаток опыта общения с вузом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3291838"/>
            <a:ext cx="3520440" cy="164875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94360" y="3291839"/>
            <a:ext cx="3520440" cy="146304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1520" y="3493008"/>
            <a:ext cx="324612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600" b="1">
                <a:solidFill>
                  <a:srgbClr val="1F2937"/>
                </a:solidFill>
                <a:latin typeface="Arial"/>
              </a:rPr>
              <a:t>Психологические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886200"/>
            <a:ext cx="3246120" cy="486287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lang="ru-RU" sz="1400" b="0" dirty="0">
                <a:solidFill>
                  <a:srgbClr val="6B7280"/>
                </a:solidFill>
                <a:latin typeface="Arial"/>
              </a:rPr>
              <a:t>Тревожность, неуверенность, опасение изоляции в новой группе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80560" y="3291838"/>
            <a:ext cx="3520440" cy="164875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4480560" y="3291839"/>
            <a:ext cx="3520440" cy="146304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617720" y="3493008"/>
            <a:ext cx="324612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600" b="1">
                <a:solidFill>
                  <a:srgbClr val="1F2937"/>
                </a:solidFill>
                <a:latin typeface="Arial"/>
              </a:rPr>
              <a:t>Организационные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17720" y="3886200"/>
            <a:ext cx="3246120" cy="486287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lang="ru-RU" sz="1400" b="0" dirty="0">
                <a:solidFill>
                  <a:srgbClr val="6B7280"/>
                </a:solidFill>
                <a:latin typeface="Arial"/>
              </a:rPr>
              <a:t>Непонятные сроки, документы, маршруты получения сопровождения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83879" y="3291839"/>
            <a:ext cx="3520440" cy="164875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8183879" y="3291840"/>
            <a:ext cx="3520440" cy="146304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321040" y="3493008"/>
            <a:ext cx="324612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600" b="1">
                <a:solidFill>
                  <a:srgbClr val="1F2937"/>
                </a:solidFill>
                <a:latin typeface="Arial"/>
              </a:rPr>
              <a:t>Вывод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3886200"/>
            <a:ext cx="3246120" cy="917174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lang="ru-RU" sz="1400" b="0" dirty="0">
                <a:solidFill>
                  <a:srgbClr val="6B7280"/>
                </a:solidFill>
                <a:latin typeface="Arial"/>
              </a:rPr>
              <a:t>Квест должен быть не развлечением ради развлечения, а управленческим инструментом снижения адаптационных рисков.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Контрольная работа 1 • МПУР • слайд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Arial"/>
              </a:rPr>
              <a:t>Цель решения по SMART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828800" cy="54864"/>
          </a:xfrm>
          <a:prstGeom prst="rect">
            <a:avLst/>
          </a:prstGeom>
          <a:solidFill>
            <a:srgbClr val="26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40080" y="1554480"/>
            <a:ext cx="2057400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2057400" cy="146304"/>
          </a:xfrm>
          <a:prstGeom prst="roundRect">
            <a:avLst/>
          </a:prstGeom>
          <a:solidFill>
            <a:srgbClr val="26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755648"/>
            <a:ext cx="1783080" cy="270843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400" b="1" dirty="0">
                <a:solidFill>
                  <a:srgbClr val="1F2937"/>
                </a:solidFill>
                <a:latin typeface="Arial"/>
              </a:rPr>
              <a:t>S — </a:t>
            </a:r>
            <a:r>
              <a:rPr sz="1400" b="1" dirty="0" err="1">
                <a:solidFill>
                  <a:srgbClr val="1F2937"/>
                </a:solidFill>
                <a:latin typeface="Arial"/>
              </a:rPr>
              <a:t>конкретность</a:t>
            </a:r>
            <a:endParaRPr sz="1400" b="1" dirty="0">
              <a:solidFill>
                <a:srgbClr val="1F2937"/>
              </a:solidFill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77240" y="2266472"/>
            <a:ext cx="1783080" cy="113261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400" b="0" dirty="0" err="1">
                <a:solidFill>
                  <a:srgbClr val="6B7280"/>
                </a:solidFill>
                <a:latin typeface="Arial"/>
              </a:rPr>
              <a:t>Разработать</a:t>
            </a:r>
            <a:r>
              <a:rPr sz="1400" b="0" dirty="0">
                <a:solidFill>
                  <a:srgbClr val="6B7280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6B7280"/>
                </a:solidFill>
                <a:latin typeface="Arial"/>
              </a:rPr>
              <a:t>адаптационный</a:t>
            </a:r>
            <a:r>
              <a:rPr sz="1400" b="0" dirty="0">
                <a:solidFill>
                  <a:srgbClr val="6B7280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6B7280"/>
                </a:solidFill>
                <a:latin typeface="Arial"/>
              </a:rPr>
              <a:t>квест</a:t>
            </a:r>
            <a:r>
              <a:rPr sz="1400" b="0" dirty="0">
                <a:solidFill>
                  <a:srgbClr val="6B7280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6B7280"/>
                </a:solidFill>
                <a:latin typeface="Arial"/>
              </a:rPr>
              <a:t>для</a:t>
            </a:r>
            <a:r>
              <a:rPr sz="1400" b="0" dirty="0">
                <a:solidFill>
                  <a:srgbClr val="6B7280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6B7280"/>
                </a:solidFill>
                <a:latin typeface="Arial"/>
              </a:rPr>
              <a:t>абитуриентов</a:t>
            </a:r>
            <a:r>
              <a:rPr sz="1400" b="0" dirty="0">
                <a:solidFill>
                  <a:srgbClr val="6B7280"/>
                </a:solidFill>
                <a:latin typeface="Arial"/>
              </a:rPr>
              <a:t> с ОВЗ и </a:t>
            </a:r>
            <a:r>
              <a:rPr sz="1400" b="0" dirty="0" err="1">
                <a:solidFill>
                  <a:srgbClr val="6B7280"/>
                </a:solidFill>
                <a:latin typeface="Arial"/>
              </a:rPr>
              <a:t>инвалидностью</a:t>
            </a:r>
            <a:r>
              <a:rPr sz="1400" b="0" dirty="0">
                <a:solidFill>
                  <a:srgbClr val="6B7280"/>
                </a:solidFill>
                <a:latin typeface="Arial"/>
              </a:rPr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0" y="1554480"/>
            <a:ext cx="2057400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2926080" y="1554480"/>
            <a:ext cx="2057400" cy="146304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063240" y="1755648"/>
            <a:ext cx="1783080" cy="270843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400" b="1" dirty="0">
                <a:solidFill>
                  <a:srgbClr val="1F2937"/>
                </a:solidFill>
                <a:latin typeface="Arial"/>
              </a:rPr>
              <a:t>M — </a:t>
            </a:r>
            <a:r>
              <a:rPr sz="1400" b="1" dirty="0" err="1">
                <a:solidFill>
                  <a:srgbClr val="1F2937"/>
                </a:solidFill>
                <a:latin typeface="Arial"/>
              </a:rPr>
              <a:t>измеримость</a:t>
            </a:r>
            <a:endParaRPr sz="1400" b="1" dirty="0">
              <a:solidFill>
                <a:srgbClr val="1F2937"/>
              </a:solidFill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063240" y="2266472"/>
            <a:ext cx="1783080" cy="1348061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400" b="0" dirty="0" err="1">
                <a:solidFill>
                  <a:srgbClr val="6B7280"/>
                </a:solidFill>
                <a:latin typeface="Arial"/>
              </a:rPr>
              <a:t>Не</a:t>
            </a:r>
            <a:r>
              <a:rPr sz="1400" b="0" dirty="0">
                <a:solidFill>
                  <a:srgbClr val="6B7280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6B7280"/>
                </a:solidFill>
                <a:latin typeface="Arial"/>
              </a:rPr>
              <a:t>менее</a:t>
            </a:r>
            <a:r>
              <a:rPr sz="1400" b="0" dirty="0">
                <a:solidFill>
                  <a:srgbClr val="6B7280"/>
                </a:solidFill>
                <a:latin typeface="Arial"/>
              </a:rPr>
              <a:t> 80% </a:t>
            </a:r>
            <a:r>
              <a:rPr sz="1400" b="0" dirty="0" err="1">
                <a:solidFill>
                  <a:srgbClr val="6B7280"/>
                </a:solidFill>
                <a:latin typeface="Arial"/>
              </a:rPr>
              <a:t>участников</a:t>
            </a:r>
            <a:r>
              <a:rPr sz="1400" b="0" dirty="0">
                <a:solidFill>
                  <a:srgbClr val="6B7280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6B7280"/>
                </a:solidFill>
                <a:latin typeface="Arial"/>
              </a:rPr>
              <a:t>должны</a:t>
            </a:r>
            <a:r>
              <a:rPr sz="1400" b="0" dirty="0">
                <a:solidFill>
                  <a:srgbClr val="6B7280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6B7280"/>
                </a:solidFill>
                <a:latin typeface="Arial"/>
              </a:rPr>
              <a:t>успешно</a:t>
            </a:r>
            <a:r>
              <a:rPr sz="1400" b="0" dirty="0">
                <a:solidFill>
                  <a:srgbClr val="6B7280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6B7280"/>
                </a:solidFill>
                <a:latin typeface="Arial"/>
              </a:rPr>
              <a:t>пройти</a:t>
            </a:r>
            <a:r>
              <a:rPr sz="1400" b="0" dirty="0">
                <a:solidFill>
                  <a:srgbClr val="6B7280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6B7280"/>
                </a:solidFill>
                <a:latin typeface="Arial"/>
              </a:rPr>
              <a:t>ключевые</a:t>
            </a:r>
            <a:r>
              <a:rPr sz="1400" b="0" dirty="0">
                <a:solidFill>
                  <a:srgbClr val="6B7280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6B7280"/>
                </a:solidFill>
                <a:latin typeface="Arial"/>
              </a:rPr>
              <a:t>станции</a:t>
            </a:r>
            <a:r>
              <a:rPr sz="1400" b="0" dirty="0">
                <a:solidFill>
                  <a:srgbClr val="6B7280"/>
                </a:solidFill>
                <a:latin typeface="Arial"/>
              </a:rPr>
              <a:t> и </a:t>
            </a:r>
            <a:r>
              <a:rPr sz="1400" b="0" dirty="0" err="1">
                <a:solidFill>
                  <a:srgbClr val="6B7280"/>
                </a:solidFill>
                <a:latin typeface="Arial"/>
              </a:rPr>
              <a:t>получить</a:t>
            </a:r>
            <a:r>
              <a:rPr sz="1400" b="0" dirty="0">
                <a:solidFill>
                  <a:srgbClr val="6B7280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6B7280"/>
                </a:solidFill>
                <a:latin typeface="Arial"/>
              </a:rPr>
              <a:t>маршрут</a:t>
            </a:r>
            <a:r>
              <a:rPr sz="1400" b="0" dirty="0">
                <a:solidFill>
                  <a:srgbClr val="6B7280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6B7280"/>
                </a:solidFill>
                <a:latin typeface="Arial"/>
              </a:rPr>
              <a:t>поддержки</a:t>
            </a:r>
            <a:r>
              <a:rPr sz="1400" b="0" dirty="0">
                <a:solidFill>
                  <a:srgbClr val="6B7280"/>
                </a:solidFill>
                <a:latin typeface="Arial"/>
              </a:rPr>
              <a:t>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12080" y="1554480"/>
            <a:ext cx="2057400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212080" y="1554480"/>
            <a:ext cx="2057400" cy="146304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349240" y="1755648"/>
            <a:ext cx="1783080" cy="270843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400" b="1">
                <a:solidFill>
                  <a:srgbClr val="1F2937"/>
                </a:solidFill>
                <a:latin typeface="Arial"/>
              </a:rPr>
              <a:t>A — достижимость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49240" y="2265409"/>
            <a:ext cx="1783080" cy="113261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400" b="0" dirty="0" err="1">
                <a:solidFill>
                  <a:srgbClr val="6B7280"/>
                </a:solidFill>
                <a:latin typeface="Arial"/>
              </a:rPr>
              <a:t>Проект</a:t>
            </a:r>
            <a:r>
              <a:rPr sz="1400" b="0" dirty="0">
                <a:solidFill>
                  <a:srgbClr val="6B7280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6B7280"/>
                </a:solidFill>
                <a:latin typeface="Arial"/>
              </a:rPr>
              <a:t>реализуется</a:t>
            </a:r>
            <a:r>
              <a:rPr sz="1400" b="0" dirty="0">
                <a:solidFill>
                  <a:srgbClr val="6B7280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6B7280"/>
                </a:solidFill>
                <a:latin typeface="Arial"/>
              </a:rPr>
              <a:t>силами</a:t>
            </a:r>
            <a:r>
              <a:rPr sz="1400" b="0" dirty="0">
                <a:solidFill>
                  <a:srgbClr val="6B7280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6B7280"/>
                </a:solidFill>
                <a:latin typeface="Arial"/>
              </a:rPr>
              <a:t>проектной</a:t>
            </a:r>
            <a:r>
              <a:rPr sz="1400" b="0" dirty="0">
                <a:solidFill>
                  <a:srgbClr val="6B7280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6B7280"/>
                </a:solidFill>
                <a:latin typeface="Arial"/>
              </a:rPr>
              <a:t>команды</a:t>
            </a:r>
            <a:r>
              <a:rPr sz="1400" b="0" dirty="0">
                <a:solidFill>
                  <a:srgbClr val="6B7280"/>
                </a:solidFill>
                <a:latin typeface="Arial"/>
              </a:rPr>
              <a:t>, </a:t>
            </a:r>
            <a:r>
              <a:rPr sz="1400" b="0" dirty="0" err="1">
                <a:solidFill>
                  <a:srgbClr val="6B7280"/>
                </a:solidFill>
                <a:latin typeface="Arial"/>
              </a:rPr>
              <a:t>волонтёров</a:t>
            </a:r>
            <a:r>
              <a:rPr sz="1400" b="0" dirty="0">
                <a:solidFill>
                  <a:srgbClr val="6B7280"/>
                </a:solidFill>
                <a:latin typeface="Arial"/>
              </a:rPr>
              <a:t> и </a:t>
            </a:r>
            <a:r>
              <a:rPr sz="1400" b="0" dirty="0" err="1">
                <a:solidFill>
                  <a:srgbClr val="6B7280"/>
                </a:solidFill>
                <a:latin typeface="Arial"/>
              </a:rPr>
              <a:t>служб</a:t>
            </a:r>
            <a:r>
              <a:rPr sz="1400" b="0" dirty="0">
                <a:solidFill>
                  <a:srgbClr val="6B7280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6B7280"/>
                </a:solidFill>
                <a:latin typeface="Arial"/>
              </a:rPr>
              <a:t>университета</a:t>
            </a:r>
            <a:r>
              <a:rPr sz="1400" b="0" dirty="0">
                <a:solidFill>
                  <a:srgbClr val="6B7280"/>
                </a:solidFill>
                <a:latin typeface="Arial"/>
              </a:rPr>
              <a:t>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1554480"/>
            <a:ext cx="2057400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7498079" y="1554480"/>
            <a:ext cx="2057400" cy="146304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635240" y="1755648"/>
            <a:ext cx="1783080" cy="486287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400" b="1">
                <a:solidFill>
                  <a:srgbClr val="1F2937"/>
                </a:solidFill>
                <a:latin typeface="Arial"/>
              </a:rPr>
              <a:t>R — релевантность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36658" y="2265409"/>
            <a:ext cx="1783080" cy="1348061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400" b="0" dirty="0" err="1">
                <a:solidFill>
                  <a:srgbClr val="6B7280"/>
                </a:solidFill>
                <a:latin typeface="Arial"/>
              </a:rPr>
              <a:t>Квест</a:t>
            </a:r>
            <a:r>
              <a:rPr sz="1400" b="0" dirty="0">
                <a:solidFill>
                  <a:srgbClr val="6B7280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6B7280"/>
                </a:solidFill>
                <a:latin typeface="Arial"/>
              </a:rPr>
              <a:t>снижает</a:t>
            </a:r>
            <a:r>
              <a:rPr sz="1400" b="0" dirty="0">
                <a:solidFill>
                  <a:srgbClr val="6B7280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6B7280"/>
                </a:solidFill>
                <a:latin typeface="Arial"/>
              </a:rPr>
              <a:t>риски</a:t>
            </a:r>
            <a:r>
              <a:rPr sz="1400" b="0" dirty="0">
                <a:solidFill>
                  <a:srgbClr val="6B7280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6B7280"/>
                </a:solidFill>
                <a:latin typeface="Arial"/>
              </a:rPr>
              <a:t>дезадаптации</a:t>
            </a:r>
            <a:r>
              <a:rPr sz="1400" b="0" dirty="0">
                <a:solidFill>
                  <a:srgbClr val="6B7280"/>
                </a:solidFill>
                <a:latin typeface="Arial"/>
              </a:rPr>
              <a:t> и </a:t>
            </a:r>
            <a:r>
              <a:rPr sz="1400" b="0" dirty="0" err="1">
                <a:solidFill>
                  <a:srgbClr val="6B7280"/>
                </a:solidFill>
                <a:latin typeface="Arial"/>
              </a:rPr>
              <a:t>повышает</a:t>
            </a:r>
            <a:r>
              <a:rPr sz="1400" b="0" dirty="0">
                <a:solidFill>
                  <a:srgbClr val="6B7280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6B7280"/>
                </a:solidFill>
                <a:latin typeface="Arial"/>
              </a:rPr>
              <a:t>доступность</a:t>
            </a:r>
            <a:r>
              <a:rPr sz="1400" b="0" dirty="0">
                <a:solidFill>
                  <a:srgbClr val="6B7280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6B7280"/>
                </a:solidFill>
                <a:latin typeface="Arial"/>
              </a:rPr>
              <a:t>образовательной</a:t>
            </a:r>
            <a:r>
              <a:rPr sz="1400" b="0" dirty="0">
                <a:solidFill>
                  <a:srgbClr val="6B7280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6B7280"/>
                </a:solidFill>
                <a:latin typeface="Arial"/>
              </a:rPr>
              <a:t>среды</a:t>
            </a:r>
            <a:r>
              <a:rPr sz="1400" b="0" dirty="0">
                <a:solidFill>
                  <a:srgbClr val="6B7280"/>
                </a:solidFill>
                <a:latin typeface="Arial"/>
              </a:rPr>
              <a:t>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784080" y="1554480"/>
            <a:ext cx="2057400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9784080" y="1554480"/>
            <a:ext cx="2057400" cy="146304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921240" y="1755648"/>
            <a:ext cx="1783080" cy="270843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400" b="1">
                <a:solidFill>
                  <a:srgbClr val="1F2937"/>
                </a:solidFill>
                <a:latin typeface="Arial"/>
              </a:rPr>
              <a:t>T — сроки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21240" y="2265409"/>
            <a:ext cx="1783080" cy="1348061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400" b="0" dirty="0" err="1">
                <a:solidFill>
                  <a:srgbClr val="6B7280"/>
                </a:solidFill>
                <a:latin typeface="Arial"/>
              </a:rPr>
              <a:t>Пилотная</a:t>
            </a:r>
            <a:r>
              <a:rPr sz="1400" b="0" dirty="0">
                <a:solidFill>
                  <a:srgbClr val="6B7280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6B7280"/>
                </a:solidFill>
                <a:latin typeface="Arial"/>
              </a:rPr>
              <a:t>версия</a:t>
            </a:r>
            <a:r>
              <a:rPr sz="1400" b="0" dirty="0">
                <a:solidFill>
                  <a:srgbClr val="6B7280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6B7280"/>
                </a:solidFill>
                <a:latin typeface="Arial"/>
              </a:rPr>
              <a:t>подготавливается</a:t>
            </a:r>
            <a:r>
              <a:rPr sz="1400" b="0" dirty="0">
                <a:solidFill>
                  <a:srgbClr val="6B7280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6B7280"/>
                </a:solidFill>
                <a:latin typeface="Arial"/>
              </a:rPr>
              <a:t>за</a:t>
            </a:r>
            <a:r>
              <a:rPr sz="1400" b="0" dirty="0">
                <a:solidFill>
                  <a:srgbClr val="6B7280"/>
                </a:solidFill>
                <a:latin typeface="Arial"/>
              </a:rPr>
              <a:t> 6 </a:t>
            </a:r>
            <a:r>
              <a:rPr sz="1400" b="0" dirty="0" err="1">
                <a:solidFill>
                  <a:srgbClr val="6B7280"/>
                </a:solidFill>
                <a:latin typeface="Arial"/>
              </a:rPr>
              <a:t>недель</a:t>
            </a:r>
            <a:r>
              <a:rPr sz="1400" b="0" dirty="0">
                <a:solidFill>
                  <a:srgbClr val="6B7280"/>
                </a:solidFill>
                <a:latin typeface="Arial"/>
              </a:rPr>
              <a:t> и </a:t>
            </a:r>
            <a:r>
              <a:rPr sz="1400" b="0" dirty="0" err="1">
                <a:solidFill>
                  <a:srgbClr val="6B7280"/>
                </a:solidFill>
                <a:latin typeface="Arial"/>
              </a:rPr>
              <a:t>тестируется</a:t>
            </a:r>
            <a:r>
              <a:rPr sz="1400" b="0" dirty="0">
                <a:solidFill>
                  <a:srgbClr val="6B7280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6B7280"/>
                </a:solidFill>
                <a:latin typeface="Arial"/>
              </a:rPr>
              <a:t>до</a:t>
            </a:r>
            <a:r>
              <a:rPr sz="1400" b="0" dirty="0">
                <a:solidFill>
                  <a:srgbClr val="6B7280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6B7280"/>
                </a:solidFill>
                <a:latin typeface="Arial"/>
              </a:rPr>
              <a:t>начала</a:t>
            </a:r>
            <a:r>
              <a:rPr sz="1400" b="0" dirty="0">
                <a:solidFill>
                  <a:srgbClr val="6B7280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6B7280"/>
                </a:solidFill>
                <a:latin typeface="Arial"/>
              </a:rPr>
              <a:t>приёмной</a:t>
            </a:r>
            <a:r>
              <a:rPr sz="1400" b="0" dirty="0">
                <a:solidFill>
                  <a:srgbClr val="6B7280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6B7280"/>
                </a:solidFill>
                <a:latin typeface="Arial"/>
              </a:rPr>
              <a:t>кампании</a:t>
            </a:r>
            <a:r>
              <a:rPr sz="1400" b="0" dirty="0">
                <a:solidFill>
                  <a:srgbClr val="6B7280"/>
                </a:solidFill>
                <a:latin typeface="Arial"/>
              </a:rPr>
              <a:t>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257800"/>
            <a:ext cx="10698480" cy="7315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600" b="1">
                <a:solidFill>
                  <a:srgbClr val="1F2937"/>
                </a:solidFill>
                <a:latin typeface="Arial"/>
              </a:rPr>
              <a:t>SMART-формулировка: за 6 недель подготовить и протестировать адаптационный квест, который помогает абитуриентам с ОВЗ и инвалидностью пройти основные маршруты знакомства с вузом и получить понятную информацию о поддержке.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Контрольная работа 1 • МПУР • слайд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Arial"/>
              </a:rPr>
              <a:t>OKR: цель и ключевые результаты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828800" cy="54864"/>
          </a:xfrm>
          <a:prstGeom prst="rect">
            <a:avLst/>
          </a:prstGeom>
          <a:solidFill>
            <a:srgbClr val="26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85800" y="1371600"/>
            <a:ext cx="365760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5800" y="1371600"/>
            <a:ext cx="3657600" cy="146304"/>
          </a:xfrm>
          <a:prstGeom prst="roundRect">
            <a:avLst/>
          </a:prstGeom>
          <a:solidFill>
            <a:srgbClr val="26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572768"/>
            <a:ext cx="338328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lang="en-US" sz="1800" b="1" dirty="0">
                <a:solidFill>
                  <a:srgbClr val="1F2937"/>
                </a:solidFill>
                <a:latin typeface="Arial"/>
              </a:rPr>
              <a:t>Objective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3383280" cy="35661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500" b="0" dirty="0" err="1">
                <a:solidFill>
                  <a:srgbClr val="6B7280"/>
                </a:solidFill>
                <a:latin typeface="Arial"/>
              </a:rPr>
              <a:t>Создать</a:t>
            </a:r>
            <a:r>
              <a:rPr sz="1500" b="0" dirty="0">
                <a:solidFill>
                  <a:srgbClr val="6B7280"/>
                </a:solidFill>
                <a:latin typeface="Arial"/>
              </a:rPr>
              <a:t> </a:t>
            </a:r>
            <a:r>
              <a:rPr sz="1500" b="0" dirty="0" err="1">
                <a:solidFill>
                  <a:srgbClr val="6B7280"/>
                </a:solidFill>
                <a:latin typeface="Arial"/>
              </a:rPr>
              <a:t>доступный</a:t>
            </a:r>
            <a:r>
              <a:rPr sz="1500" b="0" dirty="0">
                <a:solidFill>
                  <a:srgbClr val="6B7280"/>
                </a:solidFill>
                <a:latin typeface="Arial"/>
              </a:rPr>
              <a:t> </a:t>
            </a:r>
            <a:r>
              <a:rPr sz="1500" b="0" dirty="0" err="1">
                <a:solidFill>
                  <a:srgbClr val="6B7280"/>
                </a:solidFill>
                <a:latin typeface="Arial"/>
              </a:rPr>
              <a:t>адаптационный</a:t>
            </a:r>
            <a:r>
              <a:rPr sz="1500" b="0" dirty="0">
                <a:solidFill>
                  <a:srgbClr val="6B7280"/>
                </a:solidFill>
                <a:latin typeface="Arial"/>
              </a:rPr>
              <a:t> </a:t>
            </a:r>
            <a:r>
              <a:rPr sz="1500" b="0" dirty="0" err="1">
                <a:solidFill>
                  <a:srgbClr val="6B7280"/>
                </a:solidFill>
                <a:latin typeface="Arial"/>
              </a:rPr>
              <a:t>квест</a:t>
            </a:r>
            <a:r>
              <a:rPr sz="1500" b="0" dirty="0">
                <a:solidFill>
                  <a:srgbClr val="6B7280"/>
                </a:solidFill>
                <a:latin typeface="Arial"/>
              </a:rPr>
              <a:t>, </a:t>
            </a:r>
            <a:r>
              <a:rPr sz="1500" b="0" dirty="0" err="1">
                <a:solidFill>
                  <a:srgbClr val="6B7280"/>
                </a:solidFill>
                <a:latin typeface="Arial"/>
              </a:rPr>
              <a:t>который</a:t>
            </a:r>
            <a:r>
              <a:rPr sz="1500" b="0" dirty="0">
                <a:solidFill>
                  <a:srgbClr val="6B7280"/>
                </a:solidFill>
                <a:latin typeface="Arial"/>
              </a:rPr>
              <a:t> </a:t>
            </a:r>
            <a:r>
              <a:rPr sz="1500" b="0" dirty="0" err="1">
                <a:solidFill>
                  <a:srgbClr val="6B7280"/>
                </a:solidFill>
                <a:latin typeface="Arial"/>
              </a:rPr>
              <a:t>делает</a:t>
            </a:r>
            <a:r>
              <a:rPr sz="1500" b="0" dirty="0">
                <a:solidFill>
                  <a:srgbClr val="6B7280"/>
                </a:solidFill>
                <a:latin typeface="Arial"/>
              </a:rPr>
              <a:t> </a:t>
            </a:r>
            <a:r>
              <a:rPr sz="1500" b="0" dirty="0" err="1">
                <a:solidFill>
                  <a:srgbClr val="6B7280"/>
                </a:solidFill>
                <a:latin typeface="Arial"/>
              </a:rPr>
              <a:t>вход</a:t>
            </a:r>
            <a:r>
              <a:rPr sz="1500" b="0" dirty="0">
                <a:solidFill>
                  <a:srgbClr val="6B7280"/>
                </a:solidFill>
                <a:latin typeface="Arial"/>
              </a:rPr>
              <a:t> в </a:t>
            </a:r>
            <a:r>
              <a:rPr sz="1500" b="0" dirty="0" err="1">
                <a:solidFill>
                  <a:srgbClr val="6B7280"/>
                </a:solidFill>
                <a:latin typeface="Arial"/>
              </a:rPr>
              <a:t>университетскую</a:t>
            </a:r>
            <a:r>
              <a:rPr sz="1500" b="0" dirty="0">
                <a:solidFill>
                  <a:srgbClr val="6B7280"/>
                </a:solidFill>
                <a:latin typeface="Arial"/>
              </a:rPr>
              <a:t> </a:t>
            </a:r>
            <a:r>
              <a:rPr sz="1500" b="0" dirty="0" err="1">
                <a:solidFill>
                  <a:srgbClr val="6B7280"/>
                </a:solidFill>
                <a:latin typeface="Arial"/>
              </a:rPr>
              <a:t>среду</a:t>
            </a:r>
            <a:r>
              <a:rPr sz="1500" b="0" dirty="0">
                <a:solidFill>
                  <a:srgbClr val="6B7280"/>
                </a:solidFill>
                <a:latin typeface="Arial"/>
              </a:rPr>
              <a:t> </a:t>
            </a:r>
            <a:r>
              <a:rPr sz="1500" b="0" dirty="0" err="1">
                <a:solidFill>
                  <a:srgbClr val="6B7280"/>
                </a:solidFill>
                <a:latin typeface="Arial"/>
              </a:rPr>
              <a:t>понятным</a:t>
            </a:r>
            <a:r>
              <a:rPr sz="1500" b="0" dirty="0">
                <a:solidFill>
                  <a:srgbClr val="6B7280"/>
                </a:solidFill>
                <a:latin typeface="Arial"/>
              </a:rPr>
              <a:t>, </a:t>
            </a:r>
            <a:r>
              <a:rPr sz="1500" b="0" dirty="0" err="1">
                <a:solidFill>
                  <a:srgbClr val="6B7280"/>
                </a:solidFill>
                <a:latin typeface="Arial"/>
              </a:rPr>
              <a:t>безопасным</a:t>
            </a:r>
            <a:r>
              <a:rPr sz="1500" b="0" dirty="0">
                <a:solidFill>
                  <a:srgbClr val="6B7280"/>
                </a:solidFill>
                <a:latin typeface="Arial"/>
              </a:rPr>
              <a:t> и </a:t>
            </a:r>
            <a:r>
              <a:rPr sz="1500" b="0" dirty="0" err="1">
                <a:solidFill>
                  <a:srgbClr val="6B7280"/>
                </a:solidFill>
                <a:latin typeface="Arial"/>
              </a:rPr>
              <a:t>мотивирующим</a:t>
            </a:r>
            <a:r>
              <a:rPr sz="1500" b="0" dirty="0">
                <a:solidFill>
                  <a:srgbClr val="6B7280"/>
                </a:solidFill>
                <a:latin typeface="Arial"/>
              </a:rPr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09160" y="1234440"/>
            <a:ext cx="67665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709160" y="1234440"/>
            <a:ext cx="6766560" cy="146304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846320" y="1435608"/>
            <a:ext cx="649224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600" b="1">
                <a:solidFill>
                  <a:srgbClr val="1F2937"/>
                </a:solidFill>
                <a:latin typeface="Arial"/>
              </a:rPr>
              <a:t>KR1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1693022"/>
            <a:ext cx="6492240" cy="42473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200" b="0" dirty="0" err="1">
                <a:solidFill>
                  <a:srgbClr val="6B7280"/>
                </a:solidFill>
                <a:latin typeface="Arial"/>
              </a:rPr>
              <a:t>Сформировать</a:t>
            </a:r>
            <a:r>
              <a:rPr sz="1200" b="0" dirty="0">
                <a:solidFill>
                  <a:srgbClr val="6B7280"/>
                </a:solidFill>
                <a:latin typeface="Arial"/>
              </a:rPr>
              <a:t> 5–7 </a:t>
            </a:r>
            <a:r>
              <a:rPr sz="1200" b="0" dirty="0" err="1">
                <a:solidFill>
                  <a:srgbClr val="6B7280"/>
                </a:solidFill>
                <a:latin typeface="Arial"/>
              </a:rPr>
              <a:t>станций</a:t>
            </a:r>
            <a:r>
              <a:rPr sz="1200" b="0" dirty="0">
                <a:solidFill>
                  <a:srgbClr val="6B7280"/>
                </a:solidFill>
                <a:latin typeface="Arial"/>
              </a:rPr>
              <a:t> </a:t>
            </a:r>
            <a:r>
              <a:rPr sz="1200" b="0" dirty="0" err="1">
                <a:solidFill>
                  <a:srgbClr val="6B7280"/>
                </a:solidFill>
                <a:latin typeface="Arial"/>
              </a:rPr>
              <a:t>квеста</a:t>
            </a:r>
            <a:r>
              <a:rPr sz="1200" b="0" dirty="0">
                <a:solidFill>
                  <a:srgbClr val="6B7280"/>
                </a:solidFill>
                <a:latin typeface="Arial"/>
              </a:rPr>
              <a:t>: </a:t>
            </a:r>
            <a:r>
              <a:rPr sz="1200" b="0" dirty="0" err="1">
                <a:solidFill>
                  <a:srgbClr val="6B7280"/>
                </a:solidFill>
                <a:latin typeface="Arial"/>
              </a:rPr>
              <a:t>приёмная</a:t>
            </a:r>
            <a:r>
              <a:rPr sz="1200" b="0" dirty="0">
                <a:solidFill>
                  <a:srgbClr val="6B7280"/>
                </a:solidFill>
                <a:latin typeface="Arial"/>
              </a:rPr>
              <a:t> </a:t>
            </a:r>
            <a:r>
              <a:rPr sz="1200" b="0" dirty="0" err="1">
                <a:solidFill>
                  <a:srgbClr val="6B7280"/>
                </a:solidFill>
                <a:latin typeface="Arial"/>
              </a:rPr>
              <a:t>комиссия</a:t>
            </a:r>
            <a:r>
              <a:rPr sz="1200" b="0" dirty="0">
                <a:solidFill>
                  <a:srgbClr val="6B7280"/>
                </a:solidFill>
                <a:latin typeface="Arial"/>
              </a:rPr>
              <a:t>, </a:t>
            </a:r>
            <a:r>
              <a:rPr sz="1200" b="0" dirty="0" err="1">
                <a:solidFill>
                  <a:srgbClr val="6B7280"/>
                </a:solidFill>
                <a:latin typeface="Arial"/>
              </a:rPr>
              <a:t>тьюторская</a:t>
            </a:r>
            <a:r>
              <a:rPr sz="1200" b="0" dirty="0">
                <a:solidFill>
                  <a:srgbClr val="6B7280"/>
                </a:solidFill>
                <a:latin typeface="Arial"/>
              </a:rPr>
              <a:t> </a:t>
            </a:r>
            <a:r>
              <a:rPr sz="1200" b="0" dirty="0" err="1">
                <a:solidFill>
                  <a:srgbClr val="6B7280"/>
                </a:solidFill>
                <a:latin typeface="Arial"/>
              </a:rPr>
              <a:t>поддержка</a:t>
            </a:r>
            <a:r>
              <a:rPr sz="1200" b="0" dirty="0">
                <a:solidFill>
                  <a:srgbClr val="6B7280"/>
                </a:solidFill>
                <a:latin typeface="Arial"/>
              </a:rPr>
              <a:t>, </a:t>
            </a:r>
            <a:r>
              <a:rPr sz="1200" b="0" dirty="0" err="1">
                <a:solidFill>
                  <a:srgbClr val="6B7280"/>
                </a:solidFill>
                <a:latin typeface="Arial"/>
              </a:rPr>
              <a:t>библиотека</a:t>
            </a:r>
            <a:r>
              <a:rPr sz="1200" b="0" dirty="0">
                <a:solidFill>
                  <a:srgbClr val="6B7280"/>
                </a:solidFill>
                <a:latin typeface="Arial"/>
              </a:rPr>
              <a:t>, </a:t>
            </a:r>
            <a:r>
              <a:rPr sz="1200" b="0" dirty="0" err="1">
                <a:solidFill>
                  <a:srgbClr val="6B7280"/>
                </a:solidFill>
                <a:latin typeface="Arial"/>
              </a:rPr>
              <a:t>цифровая</a:t>
            </a:r>
            <a:r>
              <a:rPr sz="1200" b="0" dirty="0">
                <a:solidFill>
                  <a:srgbClr val="6B7280"/>
                </a:solidFill>
                <a:latin typeface="Arial"/>
              </a:rPr>
              <a:t> </a:t>
            </a:r>
            <a:r>
              <a:rPr sz="1200" b="0" dirty="0" err="1">
                <a:solidFill>
                  <a:srgbClr val="6B7280"/>
                </a:solidFill>
                <a:latin typeface="Arial"/>
              </a:rPr>
              <a:t>среда</a:t>
            </a:r>
            <a:r>
              <a:rPr sz="1200" b="0" dirty="0">
                <a:solidFill>
                  <a:srgbClr val="6B7280"/>
                </a:solidFill>
                <a:latin typeface="Arial"/>
              </a:rPr>
              <a:t>, </a:t>
            </a:r>
            <a:r>
              <a:rPr sz="1200" b="0" dirty="0" err="1">
                <a:solidFill>
                  <a:srgbClr val="6B7280"/>
                </a:solidFill>
                <a:latin typeface="Arial"/>
              </a:rPr>
              <a:t>психологическая</a:t>
            </a:r>
            <a:r>
              <a:rPr sz="1200" b="0" dirty="0">
                <a:solidFill>
                  <a:srgbClr val="6B7280"/>
                </a:solidFill>
                <a:latin typeface="Arial"/>
              </a:rPr>
              <a:t> </a:t>
            </a:r>
            <a:r>
              <a:rPr sz="1200" b="0" dirty="0" err="1">
                <a:solidFill>
                  <a:srgbClr val="6B7280"/>
                </a:solidFill>
                <a:latin typeface="Arial"/>
              </a:rPr>
              <a:t>служба</a:t>
            </a:r>
            <a:r>
              <a:rPr sz="1200" b="0" dirty="0">
                <a:solidFill>
                  <a:srgbClr val="6B7280"/>
                </a:solidFill>
                <a:latin typeface="Arial"/>
              </a:rPr>
              <a:t>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09160" y="2377440"/>
            <a:ext cx="67665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709160" y="2377440"/>
            <a:ext cx="6766560" cy="146304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846320" y="2578608"/>
            <a:ext cx="649224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600" b="1">
                <a:solidFill>
                  <a:srgbClr val="1F2937"/>
                </a:solidFill>
                <a:latin typeface="Arial"/>
              </a:rPr>
              <a:t>KR2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2836022"/>
            <a:ext cx="6492240" cy="42473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200" b="0" dirty="0" err="1">
                <a:solidFill>
                  <a:srgbClr val="6B7280"/>
                </a:solidFill>
                <a:latin typeface="Arial"/>
              </a:rPr>
              <a:t>Подготовить</a:t>
            </a:r>
            <a:r>
              <a:rPr sz="1200" b="0" dirty="0">
                <a:solidFill>
                  <a:srgbClr val="6B7280"/>
                </a:solidFill>
                <a:latin typeface="Arial"/>
              </a:rPr>
              <a:t> </a:t>
            </a:r>
            <a:r>
              <a:rPr sz="1200" b="0" dirty="0" err="1">
                <a:solidFill>
                  <a:srgbClr val="6B7280"/>
                </a:solidFill>
                <a:latin typeface="Arial"/>
              </a:rPr>
              <a:t>доступные</a:t>
            </a:r>
            <a:r>
              <a:rPr sz="1200" b="0" dirty="0">
                <a:solidFill>
                  <a:srgbClr val="6B7280"/>
                </a:solidFill>
                <a:latin typeface="Arial"/>
              </a:rPr>
              <a:t> </a:t>
            </a:r>
            <a:r>
              <a:rPr sz="1200" b="0" dirty="0" err="1">
                <a:solidFill>
                  <a:srgbClr val="6B7280"/>
                </a:solidFill>
                <a:latin typeface="Arial"/>
              </a:rPr>
              <a:t>материалы</a:t>
            </a:r>
            <a:r>
              <a:rPr sz="1200" b="0" dirty="0">
                <a:solidFill>
                  <a:srgbClr val="6B7280"/>
                </a:solidFill>
                <a:latin typeface="Arial"/>
              </a:rPr>
              <a:t>: </a:t>
            </a:r>
            <a:r>
              <a:rPr sz="1200" b="0" dirty="0" err="1">
                <a:solidFill>
                  <a:srgbClr val="6B7280"/>
                </a:solidFill>
                <a:latin typeface="Arial"/>
              </a:rPr>
              <a:t>текст</a:t>
            </a:r>
            <a:r>
              <a:rPr sz="1200" b="0" dirty="0">
                <a:solidFill>
                  <a:srgbClr val="6B7280"/>
                </a:solidFill>
                <a:latin typeface="Arial"/>
              </a:rPr>
              <a:t>, QR-</a:t>
            </a:r>
            <a:r>
              <a:rPr sz="1200" b="0" dirty="0" err="1">
                <a:solidFill>
                  <a:srgbClr val="6B7280"/>
                </a:solidFill>
                <a:latin typeface="Arial"/>
              </a:rPr>
              <a:t>коды</a:t>
            </a:r>
            <a:r>
              <a:rPr sz="1200" b="0" dirty="0">
                <a:solidFill>
                  <a:srgbClr val="6B7280"/>
                </a:solidFill>
                <a:latin typeface="Arial"/>
              </a:rPr>
              <a:t>, </a:t>
            </a:r>
            <a:r>
              <a:rPr sz="1200" b="0" dirty="0" err="1">
                <a:solidFill>
                  <a:srgbClr val="6B7280"/>
                </a:solidFill>
                <a:latin typeface="Arial"/>
              </a:rPr>
              <a:t>крупный</a:t>
            </a:r>
            <a:r>
              <a:rPr sz="1200" b="0" dirty="0">
                <a:solidFill>
                  <a:srgbClr val="6B7280"/>
                </a:solidFill>
                <a:latin typeface="Arial"/>
              </a:rPr>
              <a:t> </a:t>
            </a:r>
            <a:r>
              <a:rPr sz="1200" b="0" dirty="0" err="1">
                <a:solidFill>
                  <a:srgbClr val="6B7280"/>
                </a:solidFill>
                <a:latin typeface="Arial"/>
              </a:rPr>
              <a:t>шрифт</a:t>
            </a:r>
            <a:r>
              <a:rPr sz="1200" b="0" dirty="0">
                <a:solidFill>
                  <a:srgbClr val="6B7280"/>
                </a:solidFill>
                <a:latin typeface="Arial"/>
              </a:rPr>
              <a:t>, </a:t>
            </a:r>
            <a:r>
              <a:rPr sz="1200" b="0" dirty="0" err="1">
                <a:solidFill>
                  <a:srgbClr val="6B7280"/>
                </a:solidFill>
                <a:latin typeface="Arial"/>
              </a:rPr>
              <a:t>аудио</a:t>
            </a:r>
            <a:r>
              <a:rPr sz="1200" b="0" dirty="0">
                <a:solidFill>
                  <a:srgbClr val="6B7280"/>
                </a:solidFill>
                <a:latin typeface="Arial"/>
              </a:rPr>
              <a:t>/</a:t>
            </a:r>
            <a:r>
              <a:rPr sz="1200" b="0" dirty="0" err="1">
                <a:solidFill>
                  <a:srgbClr val="6B7280"/>
                </a:solidFill>
                <a:latin typeface="Arial"/>
              </a:rPr>
              <a:t>видео</a:t>
            </a:r>
            <a:r>
              <a:rPr sz="1200" b="0" dirty="0">
                <a:solidFill>
                  <a:srgbClr val="6B7280"/>
                </a:solidFill>
                <a:latin typeface="Arial"/>
              </a:rPr>
              <a:t> </a:t>
            </a:r>
            <a:r>
              <a:rPr sz="1200" b="0" dirty="0" err="1">
                <a:solidFill>
                  <a:srgbClr val="6B7280"/>
                </a:solidFill>
                <a:latin typeface="Arial"/>
              </a:rPr>
              <a:t>инструкции</a:t>
            </a:r>
            <a:r>
              <a:rPr sz="1200" b="0" dirty="0">
                <a:solidFill>
                  <a:srgbClr val="6B7280"/>
                </a:solidFill>
                <a:latin typeface="Arial"/>
              </a:rPr>
              <a:t>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09160" y="3520440"/>
            <a:ext cx="67665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4709160" y="3520440"/>
            <a:ext cx="6766560" cy="146304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846320" y="3721608"/>
            <a:ext cx="649224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600" b="1">
                <a:solidFill>
                  <a:srgbClr val="1F2937"/>
                </a:solidFill>
                <a:latin typeface="Arial"/>
              </a:rPr>
              <a:t>KR3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0" y="3979022"/>
            <a:ext cx="6492240" cy="42473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Arial"/>
              </a:rPr>
              <a:t>Провести пилот минимум на 20 участниках и получить среднюю оценку удовлетворённости не ниже 4 из 5.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09160" y="4663440"/>
            <a:ext cx="67665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4709160" y="4663440"/>
            <a:ext cx="6766560" cy="146304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846320" y="4864607"/>
            <a:ext cx="649224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600" b="1">
                <a:solidFill>
                  <a:srgbClr val="1F2937"/>
                </a:solidFill>
                <a:latin typeface="Arial"/>
              </a:rPr>
              <a:t>KR4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46320" y="5122022"/>
            <a:ext cx="6492240" cy="42473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Arial"/>
              </a:rPr>
              <a:t>Сократить долю участников, не знающих, куда обратиться за поддержкой, до уровня не выше 10%.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Контрольная работа 1 • МПУР • слайд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Arial"/>
              </a:rPr>
              <a:t>Альтернативы проектного решения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828800" cy="54864"/>
          </a:xfrm>
          <a:prstGeom prst="rect">
            <a:avLst/>
          </a:prstGeom>
          <a:solidFill>
            <a:srgbClr val="26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512064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120640" cy="146304"/>
          </a:xfrm>
          <a:prstGeom prst="roundRect">
            <a:avLst/>
          </a:prstGeom>
          <a:solidFill>
            <a:srgbClr val="26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618488"/>
            <a:ext cx="484632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800" b="1">
                <a:solidFill>
                  <a:srgbClr val="1F2937"/>
                </a:solidFill>
                <a:latin typeface="Arial"/>
              </a:rPr>
              <a:t>А1. Очный кампус-квест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11680"/>
            <a:ext cx="4846320" cy="486287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400" b="0" dirty="0" err="1">
                <a:solidFill>
                  <a:srgbClr val="6B7280"/>
                </a:solidFill>
                <a:latin typeface="Arial"/>
              </a:rPr>
              <a:t>Командное</a:t>
            </a:r>
            <a:r>
              <a:rPr sz="1400" b="0" dirty="0">
                <a:solidFill>
                  <a:srgbClr val="6B7280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6B7280"/>
                </a:solidFill>
                <a:latin typeface="Arial"/>
              </a:rPr>
              <a:t>прохождение</a:t>
            </a:r>
            <a:r>
              <a:rPr sz="1400" b="0" dirty="0">
                <a:solidFill>
                  <a:srgbClr val="6B7280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6B7280"/>
                </a:solidFill>
                <a:latin typeface="Arial"/>
              </a:rPr>
              <a:t>станций</a:t>
            </a:r>
            <a:r>
              <a:rPr sz="1400" b="0" dirty="0">
                <a:solidFill>
                  <a:srgbClr val="6B7280"/>
                </a:solidFill>
                <a:latin typeface="Arial"/>
              </a:rPr>
              <a:t> в </a:t>
            </a:r>
            <a:r>
              <a:rPr sz="1400" b="0" dirty="0" err="1">
                <a:solidFill>
                  <a:srgbClr val="6B7280"/>
                </a:solidFill>
                <a:latin typeface="Arial"/>
              </a:rPr>
              <a:t>вузе</a:t>
            </a:r>
            <a:r>
              <a:rPr sz="1400" b="0" dirty="0">
                <a:solidFill>
                  <a:srgbClr val="6B7280"/>
                </a:solidFill>
                <a:latin typeface="Arial"/>
              </a:rPr>
              <a:t> с </a:t>
            </a:r>
            <a:r>
              <a:rPr sz="1400" b="0" dirty="0" err="1">
                <a:solidFill>
                  <a:srgbClr val="6B7280"/>
                </a:solidFill>
                <a:latin typeface="Arial"/>
              </a:rPr>
              <a:t>волонтёрами</a:t>
            </a:r>
            <a:r>
              <a:rPr sz="1400" b="0" dirty="0">
                <a:solidFill>
                  <a:srgbClr val="6B7280"/>
                </a:solidFill>
                <a:latin typeface="Arial"/>
              </a:rPr>
              <a:t> и </a:t>
            </a:r>
            <a:r>
              <a:rPr sz="1400" b="0" dirty="0" err="1">
                <a:solidFill>
                  <a:srgbClr val="6B7280"/>
                </a:solidFill>
                <a:latin typeface="Arial"/>
              </a:rPr>
              <a:t>наставниками</a:t>
            </a:r>
            <a:r>
              <a:rPr sz="1400" b="0" dirty="0">
                <a:solidFill>
                  <a:srgbClr val="6B7280"/>
                </a:solidFill>
                <a:latin typeface="Arial"/>
              </a:rPr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12064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217920" y="1417320"/>
            <a:ext cx="5120640" cy="146304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55080" y="1618488"/>
            <a:ext cx="484632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800" b="1">
                <a:solidFill>
                  <a:srgbClr val="1F2937"/>
                </a:solidFill>
                <a:latin typeface="Arial"/>
              </a:rPr>
              <a:t>А2. Цифровой квест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011680"/>
            <a:ext cx="4846320" cy="486287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Arial"/>
              </a:rPr>
              <a:t>Онлайн-маршрут с интерактивными заданиями, картой кампуса и проверкой знаний.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474720"/>
            <a:ext cx="512064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40080" y="3474720"/>
            <a:ext cx="5120640" cy="146304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3675887"/>
            <a:ext cx="484632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800" b="1">
                <a:solidFill>
                  <a:srgbClr val="1F2937"/>
                </a:solidFill>
                <a:latin typeface="Arial"/>
              </a:rPr>
              <a:t>А3. Гибридный квест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069080"/>
            <a:ext cx="4846320" cy="486287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Arial"/>
              </a:rPr>
              <a:t>Очные станции + цифровая карта, QR-задания и материалы для повторного прохождения.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474720"/>
            <a:ext cx="512064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217920" y="3474720"/>
            <a:ext cx="5120640" cy="146304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55080" y="3675887"/>
            <a:ext cx="484632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800" b="1">
                <a:solidFill>
                  <a:srgbClr val="1F2937"/>
                </a:solidFill>
                <a:latin typeface="Arial"/>
              </a:rPr>
              <a:t>А4. Наставническая программа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4069080"/>
            <a:ext cx="4846320" cy="486287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Arial"/>
              </a:rPr>
              <a:t>Закрепление за абитуриентом студента-наставника и серия адаптационных встреч.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Контрольная работа 1 • МПУР • слайд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Arial"/>
              </a:rPr>
              <a:t>Критерии оценки альтернатив и веса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828800" cy="54864"/>
          </a:xfrm>
          <a:prstGeom prst="rect">
            <a:avLst/>
          </a:prstGeom>
          <a:solidFill>
            <a:srgbClr val="26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1739920"/>
              </p:ext>
            </p:extLst>
          </p:nvPr>
        </p:nvGraphicFramePr>
        <p:xfrm>
          <a:off x="594360" y="1417320"/>
          <a:ext cx="5120640" cy="41539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6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6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06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4765">
                <a:tc>
                  <a:txBody>
                    <a:bodyPr/>
                    <a:lstStyle/>
                    <a:p>
                      <a:pPr algn="ctr"/>
                      <a:r>
                        <a:rPr sz="1200" b="1" dirty="0" err="1">
                          <a:solidFill>
                            <a:srgbClr val="FFFFFF"/>
                          </a:solidFill>
                          <a:latin typeface="Arial"/>
                        </a:rPr>
                        <a:t>Критерий</a:t>
                      </a:r>
                      <a:endParaRPr sz="1200" b="1" dirty="0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>
                    <a:solidFill>
                      <a:srgbClr val="26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Вес</a:t>
                      </a:r>
                    </a:p>
                  </a:txBody>
                  <a:tcPr anchor="ctr">
                    <a:solidFill>
                      <a:srgbClr val="26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Логика веса</a:t>
                      </a:r>
                    </a:p>
                  </a:txBody>
                  <a:tcPr anchor="ctr">
                    <a:solidFill>
                      <a:srgbClr val="26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4765">
                <a:tc>
                  <a:txBody>
                    <a:bodyPr/>
                    <a:lstStyle/>
                    <a:p>
                      <a:pPr algn="l"/>
                      <a:r>
                        <a:rPr sz="1200" b="0" dirty="0" err="1">
                          <a:solidFill>
                            <a:srgbClr val="1F2937"/>
                          </a:solidFill>
                          <a:latin typeface="Arial"/>
                        </a:rPr>
                        <a:t>Доступность</a:t>
                      </a:r>
                      <a:endParaRPr sz="1200" b="0" dirty="0">
                        <a:solidFill>
                          <a:srgbClr val="1F2937"/>
                        </a:solidFill>
                        <a:latin typeface="Arial"/>
                      </a:endParaRP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2937"/>
                          </a:solidFill>
                          <a:latin typeface="Arial"/>
                        </a:rPr>
                        <a:t>0.25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b="0" dirty="0">
                          <a:solidFill>
                            <a:srgbClr val="1F2937"/>
                          </a:solidFill>
                          <a:latin typeface="Arial"/>
                        </a:rPr>
                        <a:t>Ключевой критерий для аудитории проекта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4765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Эффект адаптации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2937"/>
                          </a:solidFill>
                          <a:latin typeface="Arial"/>
                        </a:rPr>
                        <a:t>0.25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b="0" dirty="0">
                          <a:solidFill>
                            <a:srgbClr val="1F2937"/>
                          </a:solidFill>
                          <a:latin typeface="Arial"/>
                        </a:rPr>
                        <a:t>Влияет на снижение рисков дезадаптации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4765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Стоимость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2937"/>
                          </a:solidFill>
                          <a:latin typeface="Arial"/>
                        </a:rPr>
                        <a:t>0.15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b="0" dirty="0">
                          <a:solidFill>
                            <a:srgbClr val="1F2937"/>
                          </a:solidFill>
                          <a:latin typeface="Arial"/>
                        </a:rPr>
                        <a:t>Ограничения ресурсов команды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4765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Срок внедрения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2937"/>
                          </a:solidFill>
                          <a:latin typeface="Arial"/>
                        </a:rPr>
                        <a:t>0.15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b="0" dirty="0">
                          <a:solidFill>
                            <a:srgbClr val="1F2937"/>
                          </a:solidFill>
                          <a:latin typeface="Arial"/>
                        </a:rPr>
                        <a:t>Важно уложиться до приёмной кампании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4765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Масштабируемость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2937"/>
                          </a:solidFill>
                          <a:latin typeface="Arial"/>
                        </a:rPr>
                        <a:t>0.10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b="0" dirty="0">
                          <a:solidFill>
                            <a:srgbClr val="1F2937"/>
                          </a:solidFill>
                          <a:latin typeface="Arial"/>
                        </a:rPr>
                        <a:t>Возможность повторять каждый год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477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Социальная значимость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2937"/>
                          </a:solidFill>
                          <a:latin typeface="Arial"/>
                        </a:rPr>
                        <a:t>0.10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b="0" dirty="0">
                          <a:solidFill>
                            <a:srgbClr val="1F2937"/>
                          </a:solidFill>
                          <a:latin typeface="Arial"/>
                        </a:rPr>
                        <a:t>Соответствует миссии университета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1873448"/>
              </p:ext>
            </p:extLst>
          </p:nvPr>
        </p:nvGraphicFramePr>
        <p:xfrm>
          <a:off x="5925878" y="1417320"/>
          <a:ext cx="5641281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Контрольная работа 1 • МПУР • слайд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Arial"/>
              </a:rPr>
              <a:t>Матрица приоритизации альтернатив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828800" cy="54864"/>
          </a:xfrm>
          <a:prstGeom prst="rect">
            <a:avLst/>
          </a:prstGeom>
          <a:solidFill>
            <a:srgbClr val="26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3693247"/>
              </p:ext>
            </p:extLst>
          </p:nvPr>
        </p:nvGraphicFramePr>
        <p:xfrm>
          <a:off x="548640" y="1325881"/>
          <a:ext cx="10789920" cy="21092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65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42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03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789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261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2230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2039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8090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100" b="1" dirty="0" err="1">
                          <a:solidFill>
                            <a:srgbClr val="FFFFFF"/>
                          </a:solidFill>
                          <a:latin typeface="Arial"/>
                        </a:rPr>
                        <a:t>Альтернатива</a:t>
                      </a:r>
                      <a:endParaRPr sz="1100" b="1" dirty="0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>
                    <a:solidFill>
                      <a:srgbClr val="26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Доступность</a:t>
                      </a:r>
                    </a:p>
                  </a:txBody>
                  <a:tcPr anchor="ctr">
                    <a:solidFill>
                      <a:srgbClr val="26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Эффект адаптации</a:t>
                      </a:r>
                    </a:p>
                  </a:txBody>
                  <a:tcPr anchor="ctr">
                    <a:solidFill>
                      <a:srgbClr val="26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Стоимость</a:t>
                      </a:r>
                    </a:p>
                  </a:txBody>
                  <a:tcPr anchor="ctr">
                    <a:solidFill>
                      <a:srgbClr val="26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Срок внедрения</a:t>
                      </a:r>
                    </a:p>
                  </a:txBody>
                  <a:tcPr anchor="ctr">
                    <a:solidFill>
                      <a:srgbClr val="26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Масштабируемость</a:t>
                      </a:r>
                    </a:p>
                  </a:txBody>
                  <a:tcPr anchor="ctr">
                    <a:solidFill>
                      <a:srgbClr val="26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Социальная значимость</a:t>
                      </a:r>
                    </a:p>
                  </a:txBody>
                  <a:tcPr anchor="ctr">
                    <a:solidFill>
                      <a:srgbClr val="26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Итог</a:t>
                      </a:r>
                    </a:p>
                  </a:txBody>
                  <a:tcPr anchor="ctr">
                    <a:solidFill>
                      <a:srgbClr val="26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F2937"/>
                          </a:solidFill>
                          <a:latin typeface="Arial"/>
                        </a:rPr>
                        <a:t>А1 Очный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937"/>
                          </a:solidFill>
                          <a:latin typeface="Arial"/>
                        </a:rPr>
                        <a:t>3.70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100" b="1" dirty="0">
                          <a:solidFill>
                            <a:srgbClr val="1F2937"/>
                          </a:solidFill>
                          <a:latin typeface="Arial"/>
                        </a:rPr>
                        <a:t>А2 </a:t>
                      </a:r>
                      <a:r>
                        <a:rPr sz="1100" b="1" dirty="0" err="1">
                          <a:solidFill>
                            <a:srgbClr val="1F2937"/>
                          </a:solidFill>
                          <a:latin typeface="Arial"/>
                        </a:rPr>
                        <a:t>Цифровой</a:t>
                      </a:r>
                      <a:endParaRPr sz="1100" b="1" dirty="0">
                        <a:solidFill>
                          <a:srgbClr val="1F2937"/>
                        </a:solidFill>
                        <a:latin typeface="Arial"/>
                      </a:endParaRP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1F2937"/>
                          </a:solidFill>
                          <a:latin typeface="Arial"/>
                        </a:rPr>
                        <a:t>3.60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F2937"/>
                          </a:solidFill>
                          <a:latin typeface="Arial"/>
                        </a:rPr>
                        <a:t>А3 Гибридный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1F2937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937"/>
                          </a:solidFill>
                          <a:latin typeface="Arial"/>
                        </a:rPr>
                        <a:t>4.55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F2937"/>
                          </a:solidFill>
                          <a:latin typeface="Arial"/>
                        </a:rPr>
                        <a:t>А4 Наставничество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1F2937"/>
                          </a:solidFill>
                          <a:latin typeface="Arial"/>
                        </a:rPr>
                        <a:t>3.85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6934357"/>
              </p:ext>
            </p:extLst>
          </p:nvPr>
        </p:nvGraphicFramePr>
        <p:xfrm>
          <a:off x="548640" y="3586717"/>
          <a:ext cx="10789920" cy="21740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783580"/>
            <a:ext cx="11064240" cy="54784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600" b="1" dirty="0" err="1">
                <a:solidFill>
                  <a:srgbClr val="16A34A"/>
                </a:solidFill>
                <a:latin typeface="Arial"/>
              </a:rPr>
              <a:t>Выбор</a:t>
            </a:r>
            <a:r>
              <a:rPr sz="1600" b="1" dirty="0">
                <a:solidFill>
                  <a:srgbClr val="16A34A"/>
                </a:solidFill>
                <a:latin typeface="Arial"/>
              </a:rPr>
              <a:t>: А3 «</a:t>
            </a:r>
            <a:r>
              <a:rPr sz="1600" b="1" dirty="0" err="1">
                <a:solidFill>
                  <a:srgbClr val="16A34A"/>
                </a:solidFill>
                <a:latin typeface="Arial"/>
              </a:rPr>
              <a:t>Гибридный</a:t>
            </a:r>
            <a:r>
              <a:rPr sz="1600" b="1" dirty="0">
                <a:solidFill>
                  <a:srgbClr val="16A34A"/>
                </a:solidFill>
                <a:latin typeface="Arial"/>
              </a:rPr>
              <a:t> </a:t>
            </a:r>
            <a:r>
              <a:rPr sz="1600" b="1" dirty="0" err="1">
                <a:solidFill>
                  <a:srgbClr val="16A34A"/>
                </a:solidFill>
                <a:latin typeface="Arial"/>
              </a:rPr>
              <a:t>квест</a:t>
            </a:r>
            <a:r>
              <a:rPr sz="1600" b="1" dirty="0">
                <a:solidFill>
                  <a:srgbClr val="16A34A"/>
                </a:solidFill>
                <a:latin typeface="Arial"/>
              </a:rPr>
              <a:t>» — </a:t>
            </a:r>
            <a:r>
              <a:rPr sz="1600" b="1" dirty="0" err="1">
                <a:solidFill>
                  <a:srgbClr val="16A34A"/>
                </a:solidFill>
                <a:latin typeface="Arial"/>
              </a:rPr>
              <a:t>максимальная</a:t>
            </a:r>
            <a:r>
              <a:rPr sz="1600" b="1" dirty="0">
                <a:solidFill>
                  <a:srgbClr val="16A34A"/>
                </a:solidFill>
                <a:latin typeface="Arial"/>
              </a:rPr>
              <a:t> </a:t>
            </a:r>
            <a:r>
              <a:rPr sz="1600" b="1" dirty="0" err="1">
                <a:solidFill>
                  <a:srgbClr val="16A34A"/>
                </a:solidFill>
                <a:latin typeface="Arial"/>
              </a:rPr>
              <a:t>итоговая</a:t>
            </a:r>
            <a:r>
              <a:rPr sz="1600" b="1" dirty="0">
                <a:solidFill>
                  <a:srgbClr val="16A34A"/>
                </a:solidFill>
                <a:latin typeface="Arial"/>
              </a:rPr>
              <a:t> </a:t>
            </a:r>
            <a:r>
              <a:rPr sz="1600" b="1" dirty="0" err="1">
                <a:solidFill>
                  <a:srgbClr val="16A34A"/>
                </a:solidFill>
                <a:latin typeface="Arial"/>
              </a:rPr>
              <a:t>оценка</a:t>
            </a:r>
            <a:r>
              <a:rPr sz="1600" b="1" dirty="0">
                <a:solidFill>
                  <a:srgbClr val="16A34A"/>
                </a:solidFill>
                <a:latin typeface="Arial"/>
              </a:rPr>
              <a:t> </a:t>
            </a:r>
            <a:r>
              <a:rPr sz="1600" b="1" dirty="0" err="1">
                <a:solidFill>
                  <a:srgbClr val="16A34A"/>
                </a:solidFill>
                <a:latin typeface="Arial"/>
              </a:rPr>
              <a:t>за</a:t>
            </a:r>
            <a:r>
              <a:rPr sz="1600" b="1" dirty="0">
                <a:solidFill>
                  <a:srgbClr val="16A34A"/>
                </a:solidFill>
                <a:latin typeface="Arial"/>
              </a:rPr>
              <a:t> </a:t>
            </a:r>
            <a:r>
              <a:rPr sz="1600" b="1" dirty="0" err="1">
                <a:solidFill>
                  <a:srgbClr val="16A34A"/>
                </a:solidFill>
                <a:latin typeface="Arial"/>
              </a:rPr>
              <a:t>счёт</a:t>
            </a:r>
            <a:r>
              <a:rPr sz="1600" b="1" dirty="0">
                <a:solidFill>
                  <a:srgbClr val="16A34A"/>
                </a:solidFill>
                <a:latin typeface="Arial"/>
              </a:rPr>
              <a:t> </a:t>
            </a:r>
            <a:r>
              <a:rPr sz="1600" b="1" dirty="0" err="1">
                <a:solidFill>
                  <a:srgbClr val="16A34A"/>
                </a:solidFill>
                <a:latin typeface="Arial"/>
              </a:rPr>
              <a:t>доступности</a:t>
            </a:r>
            <a:r>
              <a:rPr sz="1600" b="1" dirty="0">
                <a:solidFill>
                  <a:srgbClr val="16A34A"/>
                </a:solidFill>
                <a:latin typeface="Arial"/>
              </a:rPr>
              <a:t>, </a:t>
            </a:r>
            <a:r>
              <a:rPr sz="1600" b="1" dirty="0" err="1">
                <a:solidFill>
                  <a:srgbClr val="16A34A"/>
                </a:solidFill>
                <a:latin typeface="Arial"/>
              </a:rPr>
              <a:t>эффекта</a:t>
            </a:r>
            <a:r>
              <a:rPr sz="1600" b="1" dirty="0">
                <a:solidFill>
                  <a:srgbClr val="16A34A"/>
                </a:solidFill>
                <a:latin typeface="Arial"/>
              </a:rPr>
              <a:t> </a:t>
            </a:r>
            <a:r>
              <a:rPr sz="1600" b="1" dirty="0" err="1">
                <a:solidFill>
                  <a:srgbClr val="16A34A"/>
                </a:solidFill>
                <a:latin typeface="Arial"/>
              </a:rPr>
              <a:t>адаптации</a:t>
            </a:r>
            <a:r>
              <a:rPr sz="1600" b="1" dirty="0">
                <a:solidFill>
                  <a:srgbClr val="16A34A"/>
                </a:solidFill>
                <a:latin typeface="Arial"/>
              </a:rPr>
              <a:t> и </a:t>
            </a:r>
            <a:r>
              <a:rPr sz="1600" b="1" dirty="0" err="1">
                <a:solidFill>
                  <a:srgbClr val="16A34A"/>
                </a:solidFill>
                <a:latin typeface="Arial"/>
              </a:rPr>
              <a:t>масштабируемости</a:t>
            </a:r>
            <a:r>
              <a:rPr sz="1600" b="1" dirty="0">
                <a:solidFill>
                  <a:srgbClr val="16A34A"/>
                </a:solidFill>
                <a:latin typeface="Arial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900" b="0" dirty="0" err="1">
                <a:solidFill>
                  <a:srgbClr val="6B7280"/>
                </a:solidFill>
                <a:latin typeface="Arial"/>
              </a:rPr>
              <a:t>Контрольная</a:t>
            </a:r>
            <a:r>
              <a:rPr sz="900" b="0" dirty="0">
                <a:solidFill>
                  <a:srgbClr val="6B7280"/>
                </a:solidFill>
                <a:latin typeface="Arial"/>
              </a:rPr>
              <a:t> </a:t>
            </a:r>
            <a:r>
              <a:rPr sz="900" b="0" dirty="0" err="1">
                <a:solidFill>
                  <a:srgbClr val="6B7280"/>
                </a:solidFill>
                <a:latin typeface="Arial"/>
              </a:rPr>
              <a:t>работа</a:t>
            </a:r>
            <a:r>
              <a:rPr sz="900" b="0" dirty="0">
                <a:solidFill>
                  <a:srgbClr val="6B7280"/>
                </a:solidFill>
                <a:latin typeface="Arial"/>
              </a:rPr>
              <a:t> 1 • МПУР • </a:t>
            </a:r>
            <a:r>
              <a:rPr sz="900" b="0" dirty="0" err="1">
                <a:solidFill>
                  <a:srgbClr val="6B7280"/>
                </a:solidFill>
                <a:latin typeface="Arial"/>
              </a:rPr>
              <a:t>слайд</a:t>
            </a:r>
            <a:r>
              <a:rPr sz="900" b="0" dirty="0">
                <a:solidFill>
                  <a:srgbClr val="6B7280"/>
                </a:solidFill>
                <a:latin typeface="Arial"/>
              </a:rPr>
              <a:t>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978729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3000" b="1" dirty="0" err="1">
                <a:solidFill>
                  <a:srgbClr val="1F2937"/>
                </a:solidFill>
                <a:latin typeface="Arial"/>
              </a:rPr>
              <a:t>Выбранная</a:t>
            </a:r>
            <a:r>
              <a:rPr sz="3000" b="1" dirty="0">
                <a:solidFill>
                  <a:srgbClr val="1F2937"/>
                </a:solidFill>
                <a:latin typeface="Arial"/>
              </a:rPr>
              <a:t> </a:t>
            </a:r>
            <a:r>
              <a:rPr sz="3000" b="1" dirty="0" err="1">
                <a:solidFill>
                  <a:srgbClr val="1F2937"/>
                </a:solidFill>
                <a:latin typeface="Arial"/>
              </a:rPr>
              <a:t>альтернатива</a:t>
            </a:r>
            <a:r>
              <a:rPr sz="3000" b="1" dirty="0">
                <a:solidFill>
                  <a:srgbClr val="1F2937"/>
                </a:solidFill>
                <a:latin typeface="Arial"/>
              </a:rPr>
              <a:t>: </a:t>
            </a:r>
            <a:r>
              <a:rPr sz="3000" b="1" dirty="0" err="1">
                <a:solidFill>
                  <a:srgbClr val="1F2937"/>
                </a:solidFill>
                <a:latin typeface="Arial"/>
              </a:rPr>
              <a:t>гибридный</a:t>
            </a:r>
            <a:r>
              <a:rPr sz="3000" b="1" dirty="0">
                <a:solidFill>
                  <a:srgbClr val="1F2937"/>
                </a:solidFill>
                <a:latin typeface="Arial"/>
              </a:rPr>
              <a:t> </a:t>
            </a:r>
            <a:r>
              <a:rPr sz="3000" b="1" dirty="0" err="1">
                <a:solidFill>
                  <a:srgbClr val="1F2937"/>
                </a:solidFill>
                <a:latin typeface="Arial"/>
              </a:rPr>
              <a:t>адаптационный</a:t>
            </a:r>
            <a:r>
              <a:rPr sz="3000" b="1" dirty="0">
                <a:solidFill>
                  <a:srgbClr val="1F2937"/>
                </a:solidFill>
                <a:latin typeface="Arial"/>
              </a:rPr>
              <a:t> </a:t>
            </a:r>
            <a:r>
              <a:rPr sz="3000" b="1" dirty="0" err="1">
                <a:solidFill>
                  <a:srgbClr val="1F2937"/>
                </a:solidFill>
                <a:latin typeface="Arial"/>
              </a:rPr>
              <a:t>квест</a:t>
            </a:r>
            <a:endParaRPr sz="3000" b="1" dirty="0">
              <a:solidFill>
                <a:srgbClr val="1F2937"/>
              </a:solidFill>
              <a:latin typeface="Arial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48640" y="1284732"/>
            <a:ext cx="1828800" cy="54864"/>
          </a:xfrm>
          <a:prstGeom prst="rect">
            <a:avLst/>
          </a:prstGeom>
          <a:solidFill>
            <a:srgbClr val="26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33832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3383280" cy="146304"/>
          </a:xfrm>
          <a:prstGeom prst="roundRect">
            <a:avLst/>
          </a:prstGeom>
          <a:solidFill>
            <a:srgbClr val="26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618488"/>
            <a:ext cx="310896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600" b="1" dirty="0">
                <a:solidFill>
                  <a:srgbClr val="1F2937"/>
                </a:solidFill>
                <a:latin typeface="Arial"/>
              </a:rPr>
              <a:t>1. </a:t>
            </a:r>
            <a:r>
              <a:rPr sz="1600" b="1" dirty="0" err="1">
                <a:solidFill>
                  <a:srgbClr val="1F2937"/>
                </a:solidFill>
                <a:latin typeface="Arial"/>
              </a:rPr>
              <a:t>Стартовая</a:t>
            </a:r>
            <a:r>
              <a:rPr sz="1600" b="1" dirty="0">
                <a:solidFill>
                  <a:srgbClr val="1F2937"/>
                </a:solidFill>
                <a:latin typeface="Arial"/>
              </a:rPr>
              <a:t> </a:t>
            </a:r>
            <a:r>
              <a:rPr sz="1600" b="1" dirty="0" err="1">
                <a:solidFill>
                  <a:srgbClr val="1F2937"/>
                </a:solidFill>
                <a:latin typeface="Arial"/>
              </a:rPr>
              <a:t>диагностика</a:t>
            </a:r>
            <a:endParaRPr sz="1600" b="1" dirty="0">
              <a:solidFill>
                <a:srgbClr val="1F2937"/>
              </a:solidFill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3108960" cy="486287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lang="ru-RU" sz="1400" b="0" dirty="0">
                <a:solidFill>
                  <a:srgbClr val="6B7280"/>
                </a:solidFill>
                <a:latin typeface="Arial"/>
              </a:rPr>
              <a:t>Короткий опрос о потребностях и ограничениях участника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417320"/>
            <a:ext cx="33832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480560" y="1417320"/>
            <a:ext cx="3383280" cy="146304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17720" y="1618488"/>
            <a:ext cx="310896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600" b="1">
                <a:solidFill>
                  <a:srgbClr val="1F2937"/>
                </a:solidFill>
                <a:latin typeface="Arial"/>
              </a:rPr>
              <a:t>2. Маршрут по вузу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011680"/>
            <a:ext cx="3108960" cy="486287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lang="ru-RU" sz="1400" b="0" dirty="0">
                <a:solidFill>
                  <a:srgbClr val="6B7280"/>
                </a:solidFill>
                <a:latin typeface="Arial"/>
              </a:rPr>
              <a:t>Карта доступных входов, аудиторий и сервисов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1417320"/>
            <a:ext cx="33832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275320" y="1417320"/>
            <a:ext cx="3383280" cy="146304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12480" y="1618488"/>
            <a:ext cx="310896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600" b="1">
                <a:solidFill>
                  <a:srgbClr val="1F2937"/>
                </a:solidFill>
                <a:latin typeface="Arial"/>
              </a:rPr>
              <a:t>3. QR-задания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011680"/>
            <a:ext cx="3108960" cy="486287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lang="ru-RU" sz="1400" b="0" dirty="0">
                <a:solidFill>
                  <a:srgbClr val="6B7280"/>
                </a:solidFill>
                <a:latin typeface="Arial"/>
              </a:rPr>
              <a:t>Цифровые подсказки, мини-тесты и инструкции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246120"/>
            <a:ext cx="33832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85800" y="3246120"/>
            <a:ext cx="3383280" cy="146304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60" y="3447288"/>
            <a:ext cx="310896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600" b="1">
                <a:solidFill>
                  <a:srgbClr val="1F2937"/>
                </a:solidFill>
                <a:latin typeface="Arial"/>
              </a:rPr>
              <a:t>4. Станции поддержки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840480"/>
            <a:ext cx="3108960" cy="486287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lang="ru-RU" sz="1400" b="0" dirty="0">
                <a:solidFill>
                  <a:srgbClr val="6B7280"/>
                </a:solidFill>
                <a:latin typeface="Arial"/>
              </a:rPr>
              <a:t>Тьютор, психолог, деканат, библиотека, цифровая среда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80560" y="3246120"/>
            <a:ext cx="33832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4480560" y="3246120"/>
            <a:ext cx="3383280" cy="146304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617720" y="3447288"/>
            <a:ext cx="310896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600" b="1">
                <a:solidFill>
                  <a:srgbClr val="1F2937"/>
                </a:solidFill>
                <a:latin typeface="Arial"/>
              </a:rPr>
              <a:t>5. Обратная связь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17720" y="3840480"/>
            <a:ext cx="3108960" cy="486287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lang="ru-RU" sz="1400" b="0" dirty="0">
                <a:solidFill>
                  <a:srgbClr val="6B7280"/>
                </a:solidFill>
                <a:latin typeface="Arial"/>
              </a:rPr>
              <a:t>Анкета удовлетворённости и сбор предложений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5303520"/>
            <a:ext cx="10789920" cy="502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600" b="1" dirty="0" err="1">
                <a:solidFill>
                  <a:srgbClr val="1F2937"/>
                </a:solidFill>
                <a:latin typeface="Arial"/>
              </a:rPr>
              <a:t>Логика</a:t>
            </a:r>
            <a:r>
              <a:rPr sz="1600" b="1" dirty="0">
                <a:solidFill>
                  <a:srgbClr val="1F2937"/>
                </a:solidFill>
                <a:latin typeface="Arial"/>
              </a:rPr>
              <a:t> </a:t>
            </a:r>
            <a:r>
              <a:rPr sz="1600" b="1" dirty="0" err="1">
                <a:solidFill>
                  <a:srgbClr val="1F2937"/>
                </a:solidFill>
                <a:latin typeface="Arial"/>
              </a:rPr>
              <a:t>решения</a:t>
            </a:r>
            <a:r>
              <a:rPr sz="1600" b="1" dirty="0">
                <a:solidFill>
                  <a:srgbClr val="1F2937"/>
                </a:solidFill>
                <a:latin typeface="Arial"/>
              </a:rPr>
              <a:t>: </a:t>
            </a:r>
            <a:r>
              <a:rPr sz="1600" b="1" dirty="0" err="1">
                <a:solidFill>
                  <a:srgbClr val="1F2937"/>
                </a:solidFill>
                <a:latin typeface="Arial"/>
              </a:rPr>
              <a:t>участник</a:t>
            </a:r>
            <a:r>
              <a:rPr sz="1600" b="1" dirty="0">
                <a:solidFill>
                  <a:srgbClr val="1F2937"/>
                </a:solidFill>
                <a:latin typeface="Arial"/>
              </a:rPr>
              <a:t> </a:t>
            </a:r>
            <a:r>
              <a:rPr sz="1600" b="1" dirty="0" err="1">
                <a:solidFill>
                  <a:srgbClr val="1F2937"/>
                </a:solidFill>
                <a:latin typeface="Arial"/>
              </a:rPr>
              <a:t>проходит</a:t>
            </a:r>
            <a:r>
              <a:rPr sz="1600" b="1" dirty="0">
                <a:solidFill>
                  <a:srgbClr val="1F2937"/>
                </a:solidFill>
                <a:latin typeface="Arial"/>
              </a:rPr>
              <a:t> </a:t>
            </a:r>
            <a:r>
              <a:rPr sz="1600" b="1" dirty="0" err="1">
                <a:solidFill>
                  <a:srgbClr val="1F2937"/>
                </a:solidFill>
                <a:latin typeface="Arial"/>
              </a:rPr>
              <a:t>очный</a:t>
            </a:r>
            <a:r>
              <a:rPr sz="1600" b="1" dirty="0">
                <a:solidFill>
                  <a:srgbClr val="1F2937"/>
                </a:solidFill>
                <a:latin typeface="Arial"/>
              </a:rPr>
              <a:t> </a:t>
            </a:r>
            <a:r>
              <a:rPr sz="1600" b="1" dirty="0" err="1">
                <a:solidFill>
                  <a:srgbClr val="1F2937"/>
                </a:solidFill>
                <a:latin typeface="Arial"/>
              </a:rPr>
              <a:t>маршрут</a:t>
            </a:r>
            <a:r>
              <a:rPr sz="1600" b="1" dirty="0">
                <a:solidFill>
                  <a:srgbClr val="1F2937"/>
                </a:solidFill>
                <a:latin typeface="Arial"/>
              </a:rPr>
              <a:t>, </a:t>
            </a:r>
            <a:r>
              <a:rPr sz="1600" b="1" dirty="0" err="1">
                <a:solidFill>
                  <a:srgbClr val="1F2937"/>
                </a:solidFill>
                <a:latin typeface="Arial"/>
              </a:rPr>
              <a:t>но</a:t>
            </a:r>
            <a:r>
              <a:rPr sz="1600" b="1" dirty="0">
                <a:solidFill>
                  <a:srgbClr val="1F2937"/>
                </a:solidFill>
                <a:latin typeface="Arial"/>
              </a:rPr>
              <a:t> </a:t>
            </a:r>
            <a:r>
              <a:rPr sz="1600" b="1" dirty="0" err="1">
                <a:solidFill>
                  <a:srgbClr val="1F2937"/>
                </a:solidFill>
                <a:latin typeface="Arial"/>
              </a:rPr>
              <a:t>все</a:t>
            </a:r>
            <a:r>
              <a:rPr sz="1600" b="1" dirty="0">
                <a:solidFill>
                  <a:srgbClr val="1F2937"/>
                </a:solidFill>
                <a:latin typeface="Arial"/>
              </a:rPr>
              <a:t> </a:t>
            </a:r>
            <a:r>
              <a:rPr sz="1600" b="1" dirty="0" err="1">
                <a:solidFill>
                  <a:srgbClr val="1F2937"/>
                </a:solidFill>
                <a:latin typeface="Arial"/>
              </a:rPr>
              <a:t>материалы</a:t>
            </a:r>
            <a:r>
              <a:rPr sz="1600" b="1" dirty="0">
                <a:solidFill>
                  <a:srgbClr val="1F2937"/>
                </a:solidFill>
                <a:latin typeface="Arial"/>
              </a:rPr>
              <a:t> </a:t>
            </a:r>
            <a:r>
              <a:rPr sz="1600" b="1" dirty="0" err="1">
                <a:solidFill>
                  <a:srgbClr val="1F2937"/>
                </a:solidFill>
                <a:latin typeface="Arial"/>
              </a:rPr>
              <a:t>остаются</a:t>
            </a:r>
            <a:r>
              <a:rPr sz="1600" b="1" dirty="0">
                <a:solidFill>
                  <a:srgbClr val="1F2937"/>
                </a:solidFill>
                <a:latin typeface="Arial"/>
              </a:rPr>
              <a:t> </a:t>
            </a:r>
            <a:r>
              <a:rPr sz="1600" b="1" dirty="0" err="1">
                <a:solidFill>
                  <a:srgbClr val="1F2937"/>
                </a:solidFill>
                <a:latin typeface="Arial"/>
              </a:rPr>
              <a:t>доступны</a:t>
            </a:r>
            <a:r>
              <a:rPr sz="1600" b="1" dirty="0">
                <a:solidFill>
                  <a:srgbClr val="1F2937"/>
                </a:solidFill>
                <a:latin typeface="Arial"/>
              </a:rPr>
              <a:t> </a:t>
            </a:r>
            <a:r>
              <a:rPr sz="1600" b="1" dirty="0" err="1">
                <a:solidFill>
                  <a:srgbClr val="1F2937"/>
                </a:solidFill>
                <a:latin typeface="Arial"/>
              </a:rPr>
              <a:t>онлайн</a:t>
            </a:r>
            <a:r>
              <a:rPr sz="1600" b="1" dirty="0">
                <a:solidFill>
                  <a:srgbClr val="1F2937"/>
                </a:solidFill>
                <a:latin typeface="Arial"/>
              </a:rPr>
              <a:t> — </a:t>
            </a:r>
            <a:r>
              <a:rPr sz="1600" b="1" dirty="0" err="1">
                <a:solidFill>
                  <a:srgbClr val="1F2937"/>
                </a:solidFill>
                <a:latin typeface="Arial"/>
              </a:rPr>
              <a:t>это</a:t>
            </a:r>
            <a:r>
              <a:rPr sz="1600" b="1" dirty="0">
                <a:solidFill>
                  <a:srgbClr val="1F2937"/>
                </a:solidFill>
                <a:latin typeface="Arial"/>
              </a:rPr>
              <a:t> </a:t>
            </a:r>
            <a:r>
              <a:rPr sz="1600" b="1" dirty="0" err="1">
                <a:solidFill>
                  <a:srgbClr val="1F2937"/>
                </a:solidFill>
                <a:latin typeface="Arial"/>
              </a:rPr>
              <a:t>снижает</a:t>
            </a:r>
            <a:r>
              <a:rPr sz="1600" b="1" dirty="0">
                <a:solidFill>
                  <a:srgbClr val="1F2937"/>
                </a:solidFill>
                <a:latin typeface="Arial"/>
              </a:rPr>
              <a:t> </a:t>
            </a:r>
            <a:r>
              <a:rPr sz="1600" b="1" dirty="0" err="1">
                <a:solidFill>
                  <a:srgbClr val="1F2937"/>
                </a:solidFill>
                <a:latin typeface="Arial"/>
              </a:rPr>
              <a:t>стресс</a:t>
            </a:r>
            <a:r>
              <a:rPr sz="1600" b="1" dirty="0">
                <a:solidFill>
                  <a:srgbClr val="1F2937"/>
                </a:solidFill>
                <a:latin typeface="Arial"/>
              </a:rPr>
              <a:t> и </a:t>
            </a:r>
            <a:r>
              <a:rPr sz="1600" b="1" dirty="0" err="1">
                <a:solidFill>
                  <a:srgbClr val="1F2937"/>
                </a:solidFill>
                <a:latin typeface="Arial"/>
              </a:rPr>
              <a:t>позволяет</a:t>
            </a:r>
            <a:r>
              <a:rPr sz="1600" b="1" dirty="0">
                <a:solidFill>
                  <a:srgbClr val="1F2937"/>
                </a:solidFill>
                <a:latin typeface="Arial"/>
              </a:rPr>
              <a:t> </a:t>
            </a:r>
            <a:r>
              <a:rPr sz="1600" b="1" dirty="0" err="1">
                <a:solidFill>
                  <a:srgbClr val="1F2937"/>
                </a:solidFill>
                <a:latin typeface="Arial"/>
              </a:rPr>
              <a:t>вернуться</a:t>
            </a:r>
            <a:r>
              <a:rPr sz="1600" b="1" dirty="0">
                <a:solidFill>
                  <a:srgbClr val="1F2937"/>
                </a:solidFill>
                <a:latin typeface="Arial"/>
              </a:rPr>
              <a:t> к </a:t>
            </a:r>
            <a:r>
              <a:rPr sz="1600" b="1" dirty="0" err="1">
                <a:solidFill>
                  <a:srgbClr val="1F2937"/>
                </a:solidFill>
                <a:latin typeface="Arial"/>
              </a:rPr>
              <a:t>информации</a:t>
            </a:r>
            <a:r>
              <a:rPr sz="1600" b="1" dirty="0">
                <a:solidFill>
                  <a:srgbClr val="1F2937"/>
                </a:solidFill>
                <a:latin typeface="Arial"/>
              </a:rPr>
              <a:t> </a:t>
            </a:r>
            <a:r>
              <a:rPr sz="1600" b="1" dirty="0" err="1">
                <a:solidFill>
                  <a:srgbClr val="1F2937"/>
                </a:solidFill>
                <a:latin typeface="Arial"/>
              </a:rPr>
              <a:t>после</a:t>
            </a:r>
            <a:r>
              <a:rPr sz="1600" b="1" dirty="0">
                <a:solidFill>
                  <a:srgbClr val="1F2937"/>
                </a:solidFill>
                <a:latin typeface="Arial"/>
              </a:rPr>
              <a:t> </a:t>
            </a:r>
            <a:r>
              <a:rPr sz="1600" b="1" dirty="0" err="1">
                <a:solidFill>
                  <a:srgbClr val="1F2937"/>
                </a:solidFill>
                <a:latin typeface="Arial"/>
              </a:rPr>
              <a:t>мероприятия</a:t>
            </a:r>
            <a:r>
              <a:rPr sz="1600" b="1" dirty="0">
                <a:solidFill>
                  <a:srgbClr val="1F2937"/>
                </a:solidFill>
                <a:latin typeface="Arial"/>
              </a:rPr>
              <a:t>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Контрольная работа 1 • МПУР • слайд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Arial"/>
              </a:rPr>
              <a:t>График реализации выбранной альтернативы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828800" cy="54864"/>
          </a:xfrm>
          <a:prstGeom prst="rect">
            <a:avLst/>
          </a:prstGeom>
          <a:solidFill>
            <a:srgbClr val="26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645920" cy="270843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400" b="1">
                <a:solidFill>
                  <a:srgbClr val="1F2937"/>
                </a:solidFill>
                <a:latin typeface="Arial"/>
              </a:rPr>
              <a:t>Этап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68880" y="1600200"/>
            <a:ext cx="731520" cy="21698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1050" b="1">
                <a:solidFill>
                  <a:srgbClr val="6B7280"/>
                </a:solidFill>
                <a:latin typeface="Arial"/>
              </a:rPr>
              <a:t>Неделя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46120" y="1600200"/>
            <a:ext cx="731520" cy="21698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1050" b="1">
                <a:solidFill>
                  <a:srgbClr val="6B7280"/>
                </a:solidFill>
                <a:latin typeface="Arial"/>
              </a:rPr>
              <a:t>Неделя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60" y="1600200"/>
            <a:ext cx="731520" cy="21698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1050" b="1">
                <a:solidFill>
                  <a:srgbClr val="6B7280"/>
                </a:solidFill>
                <a:latin typeface="Arial"/>
              </a:rPr>
              <a:t>Неделя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0" y="1600200"/>
            <a:ext cx="731520" cy="21698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1050" b="1">
                <a:solidFill>
                  <a:srgbClr val="6B7280"/>
                </a:solidFill>
                <a:latin typeface="Arial"/>
              </a:rPr>
              <a:t>Неделя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7840" y="1600200"/>
            <a:ext cx="731520" cy="21698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1050" b="1">
                <a:solidFill>
                  <a:srgbClr val="6B7280"/>
                </a:solidFill>
                <a:latin typeface="Arial"/>
              </a:rPr>
              <a:t>Неделя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1600200"/>
            <a:ext cx="731520" cy="21698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1050" b="1">
                <a:solidFill>
                  <a:srgbClr val="6B7280"/>
                </a:solidFill>
                <a:latin typeface="Arial"/>
              </a:rPr>
              <a:t>Неделя 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057400"/>
            <a:ext cx="1783080" cy="21698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050" b="0">
                <a:solidFill>
                  <a:srgbClr val="1F2937"/>
                </a:solidFill>
                <a:latin typeface="Arial"/>
              </a:rPr>
              <a:t>Анализ потребностей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0" y="2069450"/>
            <a:ext cx="914400" cy="21698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1050" b="1" dirty="0">
                <a:solidFill>
                  <a:srgbClr val="6B7280"/>
                </a:solidFill>
                <a:latin typeface="Arial"/>
              </a:rPr>
              <a:t>У2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68880" y="2057400"/>
            <a:ext cx="777240" cy="32004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4" name="Rectangle 13"/>
          <p:cNvSpPr/>
          <p:nvPr/>
        </p:nvSpPr>
        <p:spPr>
          <a:xfrm>
            <a:off x="3246120" y="2057400"/>
            <a:ext cx="777240" cy="32004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5" name="Rectangle 14"/>
          <p:cNvSpPr/>
          <p:nvPr/>
        </p:nvSpPr>
        <p:spPr>
          <a:xfrm>
            <a:off x="4023360" y="2057400"/>
            <a:ext cx="777240" cy="32004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6" name="Rectangle 15"/>
          <p:cNvSpPr/>
          <p:nvPr/>
        </p:nvSpPr>
        <p:spPr>
          <a:xfrm>
            <a:off x="4800600" y="2057400"/>
            <a:ext cx="777240" cy="32004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7" name="Rectangle 16"/>
          <p:cNvSpPr/>
          <p:nvPr/>
        </p:nvSpPr>
        <p:spPr>
          <a:xfrm>
            <a:off x="5577840" y="2057400"/>
            <a:ext cx="777240" cy="32004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8" name="Rectangle 17"/>
          <p:cNvSpPr/>
          <p:nvPr/>
        </p:nvSpPr>
        <p:spPr>
          <a:xfrm>
            <a:off x="6355080" y="2057400"/>
            <a:ext cx="777240" cy="32004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9" name="Rounded Rectangle 18"/>
          <p:cNvSpPr/>
          <p:nvPr/>
        </p:nvSpPr>
        <p:spPr>
          <a:xfrm>
            <a:off x="2496312" y="2093976"/>
            <a:ext cx="722376" cy="246888"/>
          </a:xfrm>
          <a:prstGeom prst="roundRect">
            <a:avLst/>
          </a:prstGeom>
          <a:solidFill>
            <a:srgbClr val="26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0" name="TextBox 19"/>
          <p:cNvSpPr txBox="1"/>
          <p:nvPr/>
        </p:nvSpPr>
        <p:spPr>
          <a:xfrm>
            <a:off x="594360" y="2532888"/>
            <a:ext cx="1783080" cy="21698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050" b="0">
                <a:solidFill>
                  <a:srgbClr val="1F2937"/>
                </a:solidFill>
                <a:latin typeface="Arial"/>
              </a:rPr>
              <a:t>Проектирование станций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0" y="2544938"/>
            <a:ext cx="914400" cy="21698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1050" b="1">
                <a:solidFill>
                  <a:srgbClr val="6B7280"/>
                </a:solidFill>
                <a:latin typeface="Arial"/>
              </a:rPr>
              <a:t>У4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68880" y="2532888"/>
            <a:ext cx="777240" cy="32004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3" name="Rectangle 22"/>
          <p:cNvSpPr/>
          <p:nvPr/>
        </p:nvSpPr>
        <p:spPr>
          <a:xfrm>
            <a:off x="3246120" y="2532888"/>
            <a:ext cx="777240" cy="32004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4" name="Rectangle 23"/>
          <p:cNvSpPr/>
          <p:nvPr/>
        </p:nvSpPr>
        <p:spPr>
          <a:xfrm>
            <a:off x="4023360" y="2532888"/>
            <a:ext cx="777240" cy="32004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5" name="Rectangle 24"/>
          <p:cNvSpPr/>
          <p:nvPr/>
        </p:nvSpPr>
        <p:spPr>
          <a:xfrm>
            <a:off x="4800600" y="2532888"/>
            <a:ext cx="777240" cy="32004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6" name="Rectangle 25"/>
          <p:cNvSpPr/>
          <p:nvPr/>
        </p:nvSpPr>
        <p:spPr>
          <a:xfrm>
            <a:off x="5577840" y="2532888"/>
            <a:ext cx="777240" cy="32004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7" name="Rectangle 26"/>
          <p:cNvSpPr/>
          <p:nvPr/>
        </p:nvSpPr>
        <p:spPr>
          <a:xfrm>
            <a:off x="6355080" y="2532888"/>
            <a:ext cx="777240" cy="32004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8" name="Rounded Rectangle 27"/>
          <p:cNvSpPr/>
          <p:nvPr/>
        </p:nvSpPr>
        <p:spPr>
          <a:xfrm>
            <a:off x="3273552" y="2569464"/>
            <a:ext cx="1499616" cy="246888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9" name="TextBox 28"/>
          <p:cNvSpPr txBox="1"/>
          <p:nvPr/>
        </p:nvSpPr>
        <p:spPr>
          <a:xfrm>
            <a:off x="594360" y="3008376"/>
            <a:ext cx="1783080" cy="21698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050" b="0">
                <a:solidFill>
                  <a:srgbClr val="1F2937"/>
                </a:solidFill>
                <a:latin typeface="Arial"/>
              </a:rPr>
              <a:t>Разработка материалов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89520" y="3020426"/>
            <a:ext cx="914400" cy="21698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1050" b="1">
                <a:solidFill>
                  <a:srgbClr val="6B7280"/>
                </a:solidFill>
                <a:latin typeface="Arial"/>
              </a:rPr>
              <a:t>У3/У6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468880" y="3008376"/>
            <a:ext cx="777240" cy="32004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2" name="Rectangle 31"/>
          <p:cNvSpPr/>
          <p:nvPr/>
        </p:nvSpPr>
        <p:spPr>
          <a:xfrm>
            <a:off x="3246120" y="3008376"/>
            <a:ext cx="777240" cy="32004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3" name="Rectangle 32"/>
          <p:cNvSpPr/>
          <p:nvPr/>
        </p:nvSpPr>
        <p:spPr>
          <a:xfrm>
            <a:off x="4023360" y="3008376"/>
            <a:ext cx="777240" cy="32004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4" name="Rectangle 33"/>
          <p:cNvSpPr/>
          <p:nvPr/>
        </p:nvSpPr>
        <p:spPr>
          <a:xfrm>
            <a:off x="4800600" y="3008376"/>
            <a:ext cx="777240" cy="32004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5" name="Rectangle 34"/>
          <p:cNvSpPr/>
          <p:nvPr/>
        </p:nvSpPr>
        <p:spPr>
          <a:xfrm>
            <a:off x="5577840" y="3008376"/>
            <a:ext cx="777240" cy="32004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6" name="Rectangle 35"/>
          <p:cNvSpPr/>
          <p:nvPr/>
        </p:nvSpPr>
        <p:spPr>
          <a:xfrm>
            <a:off x="6355080" y="3008376"/>
            <a:ext cx="777240" cy="32004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7" name="Rounded Rectangle 36"/>
          <p:cNvSpPr/>
          <p:nvPr/>
        </p:nvSpPr>
        <p:spPr>
          <a:xfrm>
            <a:off x="4050792" y="3044952"/>
            <a:ext cx="1499616" cy="246888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8" name="TextBox 37"/>
          <p:cNvSpPr txBox="1"/>
          <p:nvPr/>
        </p:nvSpPr>
        <p:spPr>
          <a:xfrm>
            <a:off x="594360" y="3483864"/>
            <a:ext cx="1783080" cy="378565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050" b="0">
                <a:solidFill>
                  <a:srgbClr val="1F2937"/>
                </a:solidFill>
                <a:latin typeface="Arial"/>
              </a:rPr>
              <a:t>Настройка цифровой части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89520" y="3495914"/>
            <a:ext cx="914400" cy="21698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1050" b="1">
                <a:solidFill>
                  <a:srgbClr val="6B7280"/>
                </a:solidFill>
                <a:latin typeface="Arial"/>
              </a:rPr>
              <a:t>У6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468880" y="3483864"/>
            <a:ext cx="777240" cy="32004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41" name="Rectangle 40"/>
          <p:cNvSpPr/>
          <p:nvPr/>
        </p:nvSpPr>
        <p:spPr>
          <a:xfrm>
            <a:off x="3246120" y="3483864"/>
            <a:ext cx="777240" cy="32004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42" name="Rectangle 41"/>
          <p:cNvSpPr/>
          <p:nvPr/>
        </p:nvSpPr>
        <p:spPr>
          <a:xfrm>
            <a:off x="4023360" y="3483864"/>
            <a:ext cx="777240" cy="32004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43" name="Rectangle 42"/>
          <p:cNvSpPr/>
          <p:nvPr/>
        </p:nvSpPr>
        <p:spPr>
          <a:xfrm>
            <a:off x="4800600" y="3483864"/>
            <a:ext cx="777240" cy="32004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44" name="Rectangle 43"/>
          <p:cNvSpPr/>
          <p:nvPr/>
        </p:nvSpPr>
        <p:spPr>
          <a:xfrm>
            <a:off x="5577840" y="3483864"/>
            <a:ext cx="777240" cy="32004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45" name="Rectangle 44"/>
          <p:cNvSpPr/>
          <p:nvPr/>
        </p:nvSpPr>
        <p:spPr>
          <a:xfrm>
            <a:off x="6355080" y="3483864"/>
            <a:ext cx="777240" cy="32004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46" name="Rounded Rectangle 45"/>
          <p:cNvSpPr/>
          <p:nvPr/>
        </p:nvSpPr>
        <p:spPr>
          <a:xfrm>
            <a:off x="4828032" y="3520440"/>
            <a:ext cx="1499616" cy="246888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47" name="TextBox 46"/>
          <p:cNvSpPr txBox="1"/>
          <p:nvPr/>
        </p:nvSpPr>
        <p:spPr>
          <a:xfrm>
            <a:off x="594360" y="3959352"/>
            <a:ext cx="1783080" cy="21698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050" b="0">
                <a:solidFill>
                  <a:srgbClr val="1F2937"/>
                </a:solidFill>
                <a:latin typeface="Arial"/>
              </a:rPr>
              <a:t>Пилотное тестирование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589520" y="3971402"/>
            <a:ext cx="914400" cy="21698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1050" b="1">
                <a:solidFill>
                  <a:srgbClr val="6B7280"/>
                </a:solidFill>
                <a:latin typeface="Arial"/>
              </a:rPr>
              <a:t>У1/У5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468880" y="3959352"/>
            <a:ext cx="777240" cy="32004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50" name="Rectangle 49"/>
          <p:cNvSpPr/>
          <p:nvPr/>
        </p:nvSpPr>
        <p:spPr>
          <a:xfrm>
            <a:off x="3246120" y="3959352"/>
            <a:ext cx="777240" cy="32004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51" name="Rectangle 50"/>
          <p:cNvSpPr/>
          <p:nvPr/>
        </p:nvSpPr>
        <p:spPr>
          <a:xfrm>
            <a:off x="4023360" y="3959352"/>
            <a:ext cx="777240" cy="32004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52" name="Rectangle 51"/>
          <p:cNvSpPr/>
          <p:nvPr/>
        </p:nvSpPr>
        <p:spPr>
          <a:xfrm>
            <a:off x="4800600" y="3959352"/>
            <a:ext cx="777240" cy="32004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53" name="Rectangle 52"/>
          <p:cNvSpPr/>
          <p:nvPr/>
        </p:nvSpPr>
        <p:spPr>
          <a:xfrm>
            <a:off x="5577840" y="3959352"/>
            <a:ext cx="777240" cy="32004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54" name="Rectangle 53"/>
          <p:cNvSpPr/>
          <p:nvPr/>
        </p:nvSpPr>
        <p:spPr>
          <a:xfrm>
            <a:off x="6355080" y="3959352"/>
            <a:ext cx="777240" cy="32004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55" name="Rounded Rectangle 54"/>
          <p:cNvSpPr/>
          <p:nvPr/>
        </p:nvSpPr>
        <p:spPr>
          <a:xfrm>
            <a:off x="5605272" y="3995928"/>
            <a:ext cx="722376" cy="246888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56" name="TextBox 55"/>
          <p:cNvSpPr txBox="1"/>
          <p:nvPr/>
        </p:nvSpPr>
        <p:spPr>
          <a:xfrm>
            <a:off x="594360" y="4434840"/>
            <a:ext cx="1783080" cy="21698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050" b="0">
                <a:solidFill>
                  <a:srgbClr val="1F2937"/>
                </a:solidFill>
                <a:latin typeface="Arial"/>
              </a:rPr>
              <a:t>Доработка и запуск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589520" y="4446890"/>
            <a:ext cx="914400" cy="21698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1050" b="1">
                <a:solidFill>
                  <a:srgbClr val="6B7280"/>
                </a:solidFill>
                <a:latin typeface="Arial"/>
              </a:rPr>
              <a:t>У1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468880" y="4434840"/>
            <a:ext cx="777240" cy="32004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59" name="Rectangle 58"/>
          <p:cNvSpPr/>
          <p:nvPr/>
        </p:nvSpPr>
        <p:spPr>
          <a:xfrm>
            <a:off x="3246120" y="4434840"/>
            <a:ext cx="777240" cy="32004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60" name="Rectangle 59"/>
          <p:cNvSpPr/>
          <p:nvPr/>
        </p:nvSpPr>
        <p:spPr>
          <a:xfrm>
            <a:off x="4023360" y="4434840"/>
            <a:ext cx="777240" cy="32004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61" name="Rectangle 60"/>
          <p:cNvSpPr/>
          <p:nvPr/>
        </p:nvSpPr>
        <p:spPr>
          <a:xfrm>
            <a:off x="4800600" y="4434840"/>
            <a:ext cx="777240" cy="32004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62" name="Rectangle 61"/>
          <p:cNvSpPr/>
          <p:nvPr/>
        </p:nvSpPr>
        <p:spPr>
          <a:xfrm>
            <a:off x="5577840" y="4434840"/>
            <a:ext cx="777240" cy="32004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63" name="Rectangle 62"/>
          <p:cNvSpPr/>
          <p:nvPr/>
        </p:nvSpPr>
        <p:spPr>
          <a:xfrm>
            <a:off x="6355080" y="4434840"/>
            <a:ext cx="777240" cy="32004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64" name="Rounded Rectangle 63"/>
          <p:cNvSpPr/>
          <p:nvPr/>
        </p:nvSpPr>
        <p:spPr>
          <a:xfrm>
            <a:off x="6382512" y="4471416"/>
            <a:ext cx="722376" cy="246888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65" name="TextBox 64"/>
          <p:cNvSpPr txBox="1"/>
          <p:nvPr/>
        </p:nvSpPr>
        <p:spPr>
          <a:xfrm>
            <a:off x="7406640" y="1600200"/>
            <a:ext cx="1508760" cy="270843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400" b="1">
                <a:solidFill>
                  <a:srgbClr val="1F2937"/>
                </a:solidFill>
                <a:latin typeface="Arial"/>
              </a:rPr>
              <a:t>Ответственный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8961120" y="1920240"/>
            <a:ext cx="242316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ounded Rectangle 66"/>
          <p:cNvSpPr/>
          <p:nvPr/>
        </p:nvSpPr>
        <p:spPr>
          <a:xfrm>
            <a:off x="8961120" y="1920240"/>
            <a:ext cx="2423160" cy="146304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098280" y="2121408"/>
            <a:ext cx="214884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600" b="1">
                <a:solidFill>
                  <a:srgbClr val="1F2937"/>
                </a:solidFill>
                <a:latin typeface="Arial"/>
              </a:rPr>
              <a:t>Контрольные точки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098280" y="2514600"/>
            <a:ext cx="2148840" cy="1691639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Arial"/>
              </a:rPr>
              <a:t>• конец 2 недели: сценарий утверждён
• конец 4 недели: цифровые материалы готовы
• конец 5 недели: пилот проведён
• конец 6 недели: запуск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Контрольная работа 1 • МПУР • слайд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Arial"/>
              </a:rPr>
              <a:t>Риски проекта и меры управления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828800" cy="54864"/>
          </a:xfrm>
          <a:prstGeom prst="rect">
            <a:avLst/>
          </a:prstGeom>
          <a:solidFill>
            <a:srgbClr val="26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33375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3337560" cy="146304"/>
          </a:xfrm>
          <a:prstGeom prst="roundRect">
            <a:avLst/>
          </a:prstGeom>
          <a:solidFill>
            <a:srgbClr val="26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618488"/>
            <a:ext cx="306324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500" b="1">
                <a:solidFill>
                  <a:srgbClr val="1F2937"/>
                </a:solidFill>
                <a:latin typeface="Arial"/>
              </a:rPr>
              <a:t>Низкая доступность маршрута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82836"/>
            <a:ext cx="3063240" cy="917174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lang="ru-RU" sz="1400" b="0" dirty="0">
                <a:solidFill>
                  <a:srgbClr val="6B7280"/>
                </a:solidFill>
                <a:latin typeface="Arial"/>
              </a:rPr>
              <a:t>Проверить физическую доступность всех точек, подготовить альтернативные маршруты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17320"/>
            <a:ext cx="33375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389120" y="1417320"/>
            <a:ext cx="3337560" cy="146304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26280" y="1618488"/>
            <a:ext cx="306324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500" b="1">
                <a:solidFill>
                  <a:srgbClr val="1F2937"/>
                </a:solidFill>
                <a:latin typeface="Arial"/>
              </a:rPr>
              <a:t>Недостаток участников пилота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1882836"/>
            <a:ext cx="3063240" cy="701731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lang="ru-RU" sz="1400" b="0" dirty="0">
                <a:solidFill>
                  <a:srgbClr val="6B7280"/>
                </a:solidFill>
                <a:latin typeface="Arial"/>
              </a:rPr>
              <a:t>Подключить приёмную комиссию, студенческие объединения и тьюторов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59" y="1417320"/>
            <a:ext cx="33375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138159" y="1417320"/>
            <a:ext cx="3337560" cy="146304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75319" y="1618488"/>
            <a:ext cx="306324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500" b="1">
                <a:solidFill>
                  <a:srgbClr val="1F2937"/>
                </a:solidFill>
                <a:latin typeface="Arial"/>
              </a:rPr>
              <a:t>Перегруз информацией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19" y="1882836"/>
            <a:ext cx="3063240" cy="486287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lang="ru-RU" sz="1400" b="0" dirty="0">
                <a:solidFill>
                  <a:srgbClr val="6B7280"/>
                </a:solidFill>
                <a:latin typeface="Arial"/>
              </a:rPr>
              <a:t>Использовать короткие инструкции и повтор материалов онлайн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291839"/>
            <a:ext cx="33375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40080" y="3291839"/>
            <a:ext cx="3337560" cy="146304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7240" y="3493008"/>
            <a:ext cx="306324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500" b="1">
                <a:solidFill>
                  <a:srgbClr val="1F2937"/>
                </a:solidFill>
                <a:latin typeface="Arial"/>
              </a:rPr>
              <a:t>Технические сбои QR/сервисов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017960"/>
            <a:ext cx="3063240" cy="486287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lang="ru-RU" sz="1400" b="0" dirty="0">
                <a:solidFill>
                  <a:srgbClr val="6B7280"/>
                </a:solidFill>
                <a:latin typeface="Arial"/>
              </a:rPr>
              <a:t>Подготовить бумажные дублёры и офлайн-карту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9120" y="3291839"/>
            <a:ext cx="33375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4389120" y="3291839"/>
            <a:ext cx="3337560" cy="146304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26280" y="3493008"/>
            <a:ext cx="306324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500" b="1">
                <a:solidFill>
                  <a:srgbClr val="1F2937"/>
                </a:solidFill>
                <a:latin typeface="Arial"/>
              </a:rPr>
              <a:t>Недостаточная чувствительность команды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4017960"/>
            <a:ext cx="3063240" cy="486287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lang="ru-RU" sz="1400" b="0" dirty="0">
                <a:solidFill>
                  <a:srgbClr val="6B7280"/>
                </a:solidFill>
                <a:latin typeface="Arial"/>
              </a:rPr>
              <a:t>Провести инструктаж по этичной коммуникации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Контрольная работа 1 • МПУР • слайд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39" y="320040"/>
            <a:ext cx="11466151" cy="517065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3000" b="1" dirty="0" err="1">
                <a:solidFill>
                  <a:srgbClr val="1F2937"/>
                </a:solidFill>
                <a:latin typeface="Arial"/>
              </a:rPr>
              <a:t>Распределение</a:t>
            </a:r>
            <a:r>
              <a:rPr sz="3000" b="1" dirty="0">
                <a:solidFill>
                  <a:srgbClr val="1F2937"/>
                </a:solidFill>
                <a:latin typeface="Arial"/>
              </a:rPr>
              <a:t> </a:t>
            </a:r>
            <a:r>
              <a:rPr sz="3000" b="1" dirty="0" err="1">
                <a:solidFill>
                  <a:srgbClr val="1F2937"/>
                </a:solidFill>
                <a:latin typeface="Arial"/>
              </a:rPr>
              <a:t>защиты</a:t>
            </a:r>
            <a:r>
              <a:rPr sz="3000" b="1" dirty="0">
                <a:solidFill>
                  <a:srgbClr val="1F2937"/>
                </a:solidFill>
                <a:latin typeface="Arial"/>
              </a:rPr>
              <a:t> </a:t>
            </a:r>
            <a:r>
              <a:rPr sz="3000" b="1" dirty="0" err="1">
                <a:solidFill>
                  <a:srgbClr val="1F2937"/>
                </a:solidFill>
                <a:latin typeface="Arial"/>
              </a:rPr>
              <a:t>презентации</a:t>
            </a:r>
            <a:r>
              <a:rPr sz="3000" b="1" dirty="0">
                <a:solidFill>
                  <a:srgbClr val="1F2937"/>
                </a:solidFill>
                <a:latin typeface="Arial"/>
              </a:rPr>
              <a:t> </a:t>
            </a:r>
            <a:r>
              <a:rPr sz="3000" b="1" dirty="0" err="1">
                <a:solidFill>
                  <a:srgbClr val="1F2937"/>
                </a:solidFill>
                <a:latin typeface="Arial"/>
              </a:rPr>
              <a:t>между</a:t>
            </a:r>
            <a:r>
              <a:rPr sz="3000" b="1" dirty="0">
                <a:solidFill>
                  <a:srgbClr val="1F2937"/>
                </a:solidFill>
                <a:latin typeface="Arial"/>
              </a:rPr>
              <a:t> 6 </a:t>
            </a:r>
            <a:r>
              <a:rPr sz="3000" b="1" dirty="0" err="1">
                <a:solidFill>
                  <a:srgbClr val="1F2937"/>
                </a:solidFill>
                <a:latin typeface="Arial"/>
              </a:rPr>
              <a:t>участниками</a:t>
            </a:r>
            <a:endParaRPr sz="3000" b="1" dirty="0">
              <a:solidFill>
                <a:srgbClr val="1F2937"/>
              </a:solidFill>
              <a:latin typeface="Arial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48640" y="941052"/>
            <a:ext cx="1828800" cy="54864"/>
          </a:xfrm>
          <a:prstGeom prst="rect">
            <a:avLst/>
          </a:prstGeom>
          <a:solidFill>
            <a:srgbClr val="26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9427097"/>
              </p:ext>
            </p:extLst>
          </p:nvPr>
        </p:nvGraphicFramePr>
        <p:xfrm>
          <a:off x="548640" y="1176670"/>
          <a:ext cx="10698480" cy="45840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4864">
                <a:tc>
                  <a:txBody>
                    <a:bodyPr/>
                    <a:lstStyle/>
                    <a:p>
                      <a:pPr algn="ctr"/>
                      <a:r>
                        <a:rPr sz="1600" b="1" dirty="0" err="1">
                          <a:solidFill>
                            <a:srgbClr val="FFFFFF"/>
                          </a:solidFill>
                          <a:latin typeface="Arial"/>
                        </a:rPr>
                        <a:t>Участник</a:t>
                      </a:r>
                      <a:endParaRPr sz="1600" b="1" dirty="0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>
                    <a:solidFill>
                      <a:srgbClr val="26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Слайды</a:t>
                      </a:r>
                    </a:p>
                  </a:txBody>
                  <a:tcPr anchor="ctr">
                    <a:solidFill>
                      <a:srgbClr val="26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Что защищает</a:t>
                      </a:r>
                    </a:p>
                  </a:txBody>
                  <a:tcPr anchor="ctr">
                    <a:solidFill>
                      <a:srgbClr val="26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4864">
                <a:tc>
                  <a:txBody>
                    <a:bodyPr/>
                    <a:lstStyle/>
                    <a:p>
                      <a:pPr algn="l"/>
                      <a:r>
                        <a:rPr lang="ru-RU" sz="1600" b="1" dirty="0">
                          <a:solidFill>
                            <a:srgbClr val="1F2937"/>
                          </a:solidFill>
                          <a:latin typeface="Arial"/>
                        </a:rPr>
                        <a:t>Зубарев В.С.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F2937"/>
                          </a:solidFill>
                          <a:latin typeface="Arial"/>
                        </a:rPr>
                        <a:t>1–3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F2937"/>
                          </a:solidFill>
                          <a:latin typeface="Arial"/>
                        </a:rPr>
                        <a:t>контекст, проблема, логика проекта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4864">
                <a:tc>
                  <a:txBody>
                    <a:bodyPr/>
                    <a:lstStyle/>
                    <a:p>
                      <a:pPr algn="l"/>
                      <a:r>
                        <a:rPr lang="ru-RU" sz="1600" b="1" dirty="0" err="1">
                          <a:solidFill>
                            <a:srgbClr val="1F2937"/>
                          </a:solidFill>
                          <a:latin typeface="Arial"/>
                        </a:rPr>
                        <a:t>Белослудцев</a:t>
                      </a:r>
                      <a:r>
                        <a:rPr lang="ru-RU" sz="1600" b="1" dirty="0">
                          <a:solidFill>
                            <a:srgbClr val="1F2937"/>
                          </a:solidFill>
                          <a:latin typeface="Arial"/>
                        </a:rPr>
                        <a:t> И.А.</a:t>
                      </a:r>
                      <a:endParaRPr sz="1600" b="1" dirty="0">
                        <a:solidFill>
                          <a:srgbClr val="1F2937"/>
                        </a:solidFill>
                        <a:latin typeface="Arial"/>
                      </a:endParaRP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F2937"/>
                          </a:solidFill>
                          <a:latin typeface="Arial"/>
                        </a:rPr>
                        <a:t>4–6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F2937"/>
                          </a:solidFill>
                          <a:latin typeface="Arial"/>
                        </a:rPr>
                        <a:t>роли, RACI, аудитория и барьеры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4864">
                <a:tc>
                  <a:txBody>
                    <a:bodyPr/>
                    <a:lstStyle/>
                    <a:p>
                      <a:pPr algn="l"/>
                      <a:r>
                        <a:rPr lang="ru-RU" sz="1600" b="1" dirty="0">
                          <a:solidFill>
                            <a:srgbClr val="1F2937"/>
                          </a:solidFill>
                          <a:latin typeface="Arial"/>
                        </a:rPr>
                        <a:t>Савченков К.В.</a:t>
                      </a:r>
                      <a:endParaRPr sz="1600" b="1" dirty="0">
                        <a:solidFill>
                          <a:srgbClr val="1F2937"/>
                        </a:solidFill>
                        <a:latin typeface="Arial"/>
                      </a:endParaRP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F2937"/>
                          </a:solidFill>
                          <a:latin typeface="Arial"/>
                        </a:rPr>
                        <a:t>7–8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F2937"/>
                          </a:solidFill>
                          <a:latin typeface="Arial"/>
                        </a:rPr>
                        <a:t>SMART и OKR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4864">
                <a:tc>
                  <a:txBody>
                    <a:bodyPr/>
                    <a:lstStyle/>
                    <a:p>
                      <a:pPr algn="l"/>
                      <a:r>
                        <a:rPr lang="ru-RU" sz="1600" b="1" dirty="0" err="1">
                          <a:solidFill>
                            <a:srgbClr val="1F2937"/>
                          </a:solidFill>
                          <a:latin typeface="Arial"/>
                        </a:rPr>
                        <a:t>Рыженин</a:t>
                      </a:r>
                      <a:r>
                        <a:rPr lang="ru-RU" sz="1600" b="1" dirty="0">
                          <a:solidFill>
                            <a:srgbClr val="1F2937"/>
                          </a:solidFill>
                          <a:latin typeface="Arial"/>
                        </a:rPr>
                        <a:t> А.А.</a:t>
                      </a:r>
                      <a:endParaRPr sz="1600" b="1" dirty="0">
                        <a:solidFill>
                          <a:srgbClr val="1F2937"/>
                        </a:solidFill>
                        <a:latin typeface="Arial"/>
                      </a:endParaRP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F2937"/>
                          </a:solidFill>
                          <a:latin typeface="Arial"/>
                        </a:rPr>
                        <a:t>9, 12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F2937"/>
                          </a:solidFill>
                          <a:latin typeface="Arial"/>
                        </a:rPr>
                        <a:t>альтернативы и выбранное решение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4864">
                <a:tc>
                  <a:txBody>
                    <a:bodyPr/>
                    <a:lstStyle/>
                    <a:p>
                      <a:pPr algn="l"/>
                      <a:r>
                        <a:rPr lang="ru-RU" sz="1600" b="1" dirty="0">
                          <a:solidFill>
                            <a:srgbClr val="1F2937"/>
                          </a:solidFill>
                          <a:latin typeface="Arial"/>
                        </a:rPr>
                        <a:t>Хохлов А.И.</a:t>
                      </a:r>
                      <a:endParaRPr sz="1600" b="1" dirty="0">
                        <a:solidFill>
                          <a:srgbClr val="1F2937"/>
                        </a:solidFill>
                        <a:latin typeface="Arial"/>
                      </a:endParaRP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F2937"/>
                          </a:solidFill>
                          <a:latin typeface="Arial"/>
                        </a:rPr>
                        <a:t>10–11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F2937"/>
                          </a:solidFill>
                          <a:latin typeface="Arial"/>
                        </a:rPr>
                        <a:t>критерии, веса, матрица приоритетов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54865">
                <a:tc>
                  <a:txBody>
                    <a:bodyPr/>
                    <a:lstStyle/>
                    <a:p>
                      <a:pPr algn="l"/>
                      <a:r>
                        <a:rPr lang="ru-RU" sz="1600" b="1" dirty="0" err="1">
                          <a:solidFill>
                            <a:srgbClr val="1F2937"/>
                          </a:solidFill>
                          <a:latin typeface="Arial"/>
                        </a:rPr>
                        <a:t>Тыртышный</a:t>
                      </a:r>
                      <a:r>
                        <a:rPr lang="ru-RU" sz="1600" b="1" dirty="0">
                          <a:solidFill>
                            <a:srgbClr val="1F2937"/>
                          </a:solidFill>
                          <a:latin typeface="Arial"/>
                        </a:rPr>
                        <a:t> С.Д.</a:t>
                      </a:r>
                      <a:endParaRPr sz="1600" b="1" dirty="0">
                        <a:solidFill>
                          <a:srgbClr val="1F2937"/>
                        </a:solidFill>
                        <a:latin typeface="Arial"/>
                      </a:endParaRP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F2937"/>
                          </a:solidFill>
                          <a:latin typeface="Arial"/>
                        </a:rPr>
                        <a:t>13–16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dirty="0" err="1">
                          <a:solidFill>
                            <a:srgbClr val="1F2937"/>
                          </a:solidFill>
                          <a:latin typeface="Arial"/>
                        </a:rPr>
                        <a:t>график</a:t>
                      </a:r>
                      <a:r>
                        <a:rPr sz="1600" b="0" dirty="0">
                          <a:solidFill>
                            <a:srgbClr val="1F2937"/>
                          </a:solidFill>
                          <a:latin typeface="Arial"/>
                        </a:rPr>
                        <a:t>, </a:t>
                      </a:r>
                      <a:r>
                        <a:rPr sz="1600" b="0" dirty="0" err="1">
                          <a:solidFill>
                            <a:srgbClr val="1F2937"/>
                          </a:solidFill>
                          <a:latin typeface="Arial"/>
                        </a:rPr>
                        <a:t>риски</a:t>
                      </a:r>
                      <a:r>
                        <a:rPr sz="1600" b="0" dirty="0">
                          <a:solidFill>
                            <a:srgbClr val="1F2937"/>
                          </a:solidFill>
                          <a:latin typeface="Arial"/>
                        </a:rPr>
                        <a:t>, </a:t>
                      </a:r>
                      <a:r>
                        <a:rPr sz="1600" b="0" dirty="0" err="1">
                          <a:solidFill>
                            <a:srgbClr val="1F2937"/>
                          </a:solidFill>
                          <a:latin typeface="Arial"/>
                        </a:rPr>
                        <a:t>итоги</a:t>
                      </a:r>
                      <a:endParaRPr sz="1600" b="0" dirty="0">
                        <a:solidFill>
                          <a:srgbClr val="1F2937"/>
                        </a:solidFill>
                        <a:latin typeface="Arial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Контрольная работа 1 • МПУР • слайд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Arial"/>
              </a:rPr>
              <a:t>Сформированный навык по итогам работы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828800" cy="54864"/>
          </a:xfrm>
          <a:prstGeom prst="rect">
            <a:avLst/>
          </a:prstGeom>
          <a:solidFill>
            <a:srgbClr val="26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324612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3246120" cy="146304"/>
          </a:xfrm>
          <a:prstGeom prst="roundRect">
            <a:avLst/>
          </a:prstGeom>
          <a:solidFill>
            <a:srgbClr val="26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618488"/>
            <a:ext cx="297180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600" b="1">
                <a:solidFill>
                  <a:srgbClr val="1F2937"/>
                </a:solidFill>
                <a:latin typeface="Arial"/>
              </a:rPr>
              <a:t>Работа с бизнес-контекстом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011680"/>
            <a:ext cx="2971800" cy="486287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lang="ru-RU" sz="1400" b="0" dirty="0">
                <a:solidFill>
                  <a:srgbClr val="6B7280"/>
                </a:solidFill>
                <a:latin typeface="Arial"/>
              </a:rPr>
              <a:t>Выделение проблемы, аудитории и ограничений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17320"/>
            <a:ext cx="324612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389120" y="1417320"/>
            <a:ext cx="3246120" cy="146304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26280" y="1618488"/>
            <a:ext cx="297180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600" b="1">
                <a:solidFill>
                  <a:srgbClr val="1F2937"/>
                </a:solidFill>
                <a:latin typeface="Arial"/>
              </a:rPr>
              <a:t>Целеполагание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2011680"/>
            <a:ext cx="2971800" cy="486287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lang="ru-RU" sz="1400" b="0" dirty="0">
                <a:solidFill>
                  <a:srgbClr val="6B7280"/>
                </a:solidFill>
                <a:latin typeface="Arial"/>
              </a:rPr>
              <a:t>SMART и OKR для проектного решения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417320"/>
            <a:ext cx="324612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046720" y="1417320"/>
            <a:ext cx="3246120" cy="146304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183880" y="1618488"/>
            <a:ext cx="297180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600" b="1">
                <a:solidFill>
                  <a:srgbClr val="1F2937"/>
                </a:solidFill>
                <a:latin typeface="Arial"/>
              </a:rPr>
              <a:t>Принятие решения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80" y="2011680"/>
            <a:ext cx="2971800" cy="486287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lang="ru-RU" sz="1400" b="0" dirty="0">
                <a:solidFill>
                  <a:srgbClr val="6B7280"/>
                </a:solidFill>
                <a:latin typeface="Arial"/>
              </a:rPr>
              <a:t>Сравнение альтернатив по критериям и весам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200400"/>
            <a:ext cx="324612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731520" y="3200400"/>
            <a:ext cx="3246120" cy="146304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8680" y="3401568"/>
            <a:ext cx="297180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600" b="1">
                <a:solidFill>
                  <a:srgbClr val="1F2937"/>
                </a:solidFill>
                <a:latin typeface="Arial"/>
              </a:rPr>
              <a:t>Проектное планирование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794760"/>
            <a:ext cx="2971800" cy="486287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lang="ru-RU" sz="1400" b="0" dirty="0">
                <a:solidFill>
                  <a:srgbClr val="6B7280"/>
                </a:solidFill>
                <a:latin typeface="Arial"/>
              </a:rPr>
              <a:t>График реализации и контрольные точки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9120" y="3200400"/>
            <a:ext cx="324612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4389120" y="3200400"/>
            <a:ext cx="3246120" cy="146304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26280" y="3401568"/>
            <a:ext cx="297180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600" b="1">
                <a:solidFill>
                  <a:srgbClr val="1F2937"/>
                </a:solidFill>
                <a:latin typeface="Arial"/>
              </a:rPr>
              <a:t>Командная защита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3794760"/>
            <a:ext cx="2971800" cy="486287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lang="ru-RU" sz="1400" b="0" dirty="0">
                <a:solidFill>
                  <a:srgbClr val="6B7280"/>
                </a:solidFill>
                <a:latin typeface="Arial"/>
              </a:rPr>
              <a:t>Распределение ответственности и публичная презентация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303520"/>
            <a:ext cx="10789920" cy="6400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800" b="1">
                <a:solidFill>
                  <a:srgbClr val="1F2937"/>
                </a:solidFill>
                <a:latin typeface="Arial"/>
              </a:rPr>
              <a:t>Итог: команда подготовила управленческое решение, обосновала выбор альтернативы и показала план внедрения адаптационного квеста для абитуриентов с ОВЗ и инвалидностью.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Контрольная работа 1 • МПУР • слайд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1423</Words>
  <Application>Microsoft Office PowerPoint</Application>
  <PresentationFormat>Широкоэкранный</PresentationFormat>
  <Paragraphs>307</Paragraphs>
  <Slides>16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>H4RD</dc:creator>
  <cp:keywords/>
  <dc:description>generated using python-pptx</dc:description>
  <cp:lastModifiedBy>H4RD</cp:lastModifiedBy>
  <cp:revision>5</cp:revision>
  <dcterms:created xsi:type="dcterms:W3CDTF">2013-01-27T09:14:16Z</dcterms:created>
  <dcterms:modified xsi:type="dcterms:W3CDTF">2026-06-01T16:50:33Z</dcterms:modified>
  <cp:category/>
</cp:coreProperties>
</file>