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748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Вес</c:v>
                </c:pt>
              </c:strCache>
            </c:strRef>
          </c:tx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Sheet1!$A$2:$A$7</c:f>
              <c:strCache>
                <c:ptCount val="6"/>
                <c:pt idx="0">
                  <c:v>Доступность</c:v>
                </c:pt>
                <c:pt idx="1">
                  <c:v>Эффект адаптации</c:v>
                </c:pt>
                <c:pt idx="2">
                  <c:v>Стоимость</c:v>
                </c:pt>
                <c:pt idx="3">
                  <c:v>Срок внедрения</c:v>
                </c:pt>
                <c:pt idx="4">
                  <c:v>Масштабируемость</c:v>
                </c:pt>
                <c:pt idx="5">
                  <c:v>Социальная значимость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0.25</c:v>
                </c:pt>
                <c:pt idx="1">
                  <c:v>0.25</c:v>
                </c:pt>
                <c:pt idx="2">
                  <c:v>0.15</c:v>
                </c:pt>
                <c:pt idx="3">
                  <c:v>0.15</c:v>
                </c:pt>
                <c:pt idx="4">
                  <c:v>0.1</c:v>
                </c:pt>
                <c:pt idx="5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2C6-4AB0-800E-644314A5DE2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Итоговая оценка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А1 Очный</c:v>
                </c:pt>
                <c:pt idx="1">
                  <c:v>А2 Цифровой</c:v>
                </c:pt>
                <c:pt idx="2">
                  <c:v>А3 Гибридный</c:v>
                </c:pt>
                <c:pt idx="3">
                  <c:v>А4 Наставничество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3.7</c:v>
                </c:pt>
                <c:pt idx="1">
                  <c:v>3.6</c:v>
                </c:pt>
                <c:pt idx="2">
                  <c:v>4.55</c:v>
                </c:pt>
                <c:pt idx="3">
                  <c:v>3.85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CC9-43EF-A1B0-AB604B39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5"/>
          <c:min val="0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  <c:majorUnit val="1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7899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Методы принятия управленческих решений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789920" cy="10058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Arial"/>
              </a:rPr>
              <a:t>Проект решения: адаптационный квест для абитуриентов с ОВЗ и инвалидностью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32918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3291840" cy="146304"/>
          </a:xfrm>
          <a:prstGeom prst="round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3858768"/>
            <a:ext cx="30175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Arial"/>
              </a:rPr>
              <a:t>Команда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51960"/>
            <a:ext cx="3017520" cy="65556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300" b="0" dirty="0">
                <a:solidFill>
                  <a:srgbClr val="6B7280"/>
                </a:solidFill>
                <a:latin typeface="Arial"/>
              </a:rPr>
              <a:t>Зубарев В.С.</a:t>
            </a:r>
            <a:r>
              <a:rPr sz="1300" b="0" dirty="0">
                <a:solidFill>
                  <a:srgbClr val="6B7280"/>
                </a:solidFill>
                <a:latin typeface="Arial"/>
              </a:rPr>
              <a:t>• </a:t>
            </a:r>
            <a:r>
              <a:rPr lang="ru-RU" sz="1300" b="0" dirty="0" err="1">
                <a:solidFill>
                  <a:srgbClr val="6B7280"/>
                </a:solidFill>
                <a:latin typeface="Arial"/>
              </a:rPr>
              <a:t>Белослудцев</a:t>
            </a:r>
            <a:r>
              <a:rPr lang="ru-RU" sz="1300" b="0" dirty="0">
                <a:solidFill>
                  <a:srgbClr val="6B7280"/>
                </a:solidFill>
                <a:latin typeface="Arial"/>
              </a:rPr>
              <a:t> И.А.</a:t>
            </a:r>
            <a:r>
              <a:rPr sz="1300" b="0" dirty="0">
                <a:solidFill>
                  <a:srgbClr val="6B7280"/>
                </a:solidFill>
                <a:latin typeface="Arial"/>
              </a:rPr>
              <a:t>
</a:t>
            </a:r>
            <a:r>
              <a:rPr lang="ru-RU" sz="1300" b="0" dirty="0">
                <a:solidFill>
                  <a:srgbClr val="6B7280"/>
                </a:solidFill>
                <a:latin typeface="Arial"/>
              </a:rPr>
              <a:t>Савченков К.В.</a:t>
            </a:r>
            <a:r>
              <a:rPr sz="1300" b="0" dirty="0">
                <a:solidFill>
                  <a:srgbClr val="6B7280"/>
                </a:solidFill>
                <a:latin typeface="Arial"/>
              </a:rPr>
              <a:t> • </a:t>
            </a:r>
            <a:r>
              <a:rPr lang="ru-RU" sz="1300" b="0" dirty="0" err="1">
                <a:solidFill>
                  <a:srgbClr val="6B7280"/>
                </a:solidFill>
                <a:latin typeface="Arial"/>
              </a:rPr>
              <a:t>Рыженин</a:t>
            </a:r>
            <a:r>
              <a:rPr lang="ru-RU" sz="1300" b="0" dirty="0">
                <a:solidFill>
                  <a:srgbClr val="6B7280"/>
                </a:solidFill>
                <a:latin typeface="Arial"/>
              </a:rPr>
              <a:t> А.А.</a:t>
            </a:r>
            <a:r>
              <a:rPr sz="1300" b="0" dirty="0">
                <a:solidFill>
                  <a:srgbClr val="6B7280"/>
                </a:solidFill>
                <a:latin typeface="Arial"/>
              </a:rPr>
              <a:t>
</a:t>
            </a:r>
            <a:r>
              <a:rPr lang="ru-RU" sz="1300" b="0" dirty="0">
                <a:solidFill>
                  <a:srgbClr val="6B7280"/>
                </a:solidFill>
                <a:latin typeface="Arial"/>
              </a:rPr>
              <a:t>Хохлов А.И.</a:t>
            </a:r>
            <a:r>
              <a:rPr sz="1300" b="0" dirty="0">
                <a:solidFill>
                  <a:srgbClr val="6B7280"/>
                </a:solidFill>
                <a:latin typeface="Arial"/>
              </a:rPr>
              <a:t> • </a:t>
            </a:r>
            <a:r>
              <a:rPr lang="ru-RU" sz="1300" b="0" dirty="0" err="1">
                <a:solidFill>
                  <a:srgbClr val="6B7280"/>
                </a:solidFill>
                <a:latin typeface="Arial"/>
              </a:rPr>
              <a:t>Тыртышный</a:t>
            </a:r>
            <a:r>
              <a:rPr lang="ru-RU" sz="1300" b="0" dirty="0">
                <a:solidFill>
                  <a:srgbClr val="6B7280"/>
                </a:solidFill>
                <a:latin typeface="Arial"/>
              </a:rPr>
              <a:t> С.Д.</a:t>
            </a:r>
            <a:endParaRPr sz="1300" b="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434840" y="3657600"/>
            <a:ext cx="32918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434840" y="3657600"/>
            <a:ext cx="3291840" cy="146304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3858768"/>
            <a:ext cx="30175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Arial"/>
              </a:rPr>
              <a:t>Итоговый продукт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251960"/>
            <a:ext cx="3017520" cy="77723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Проект квеста, приоритизация альтернатив, график реализации, защита решения.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57600"/>
            <a:ext cx="32918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38160" y="3657600"/>
            <a:ext cx="3291840" cy="14630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3858768"/>
            <a:ext cx="30175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Arial"/>
              </a:rPr>
              <a:t>Срок подготовки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4251960"/>
            <a:ext cx="3017520" cy="77723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90 минут на разработку и запись защиты проекта.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 dirty="0" err="1">
                <a:solidFill>
                  <a:srgbClr val="6B7280"/>
                </a:solidFill>
                <a:latin typeface="Arial"/>
              </a:rPr>
              <a:t>Контрольная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6B7280"/>
                </a:solidFill>
                <a:latin typeface="Arial"/>
              </a:rPr>
              <a:t>работа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1 • МПУР • </a:t>
            </a:r>
            <a:r>
              <a:rPr sz="900" b="0" dirty="0" err="1">
                <a:solidFill>
                  <a:srgbClr val="6B7280"/>
                </a:solidFill>
                <a:latin typeface="Arial"/>
              </a:rPr>
              <a:t>слайд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Что требуется выполнить по заданию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69848"/>
            <a:ext cx="1106424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dirty="0" err="1">
                <a:solidFill>
                  <a:srgbClr val="6B7280"/>
                </a:solidFill>
                <a:latin typeface="Arial"/>
              </a:rPr>
              <a:t>Основные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этапы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работы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адаптированные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под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команду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из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6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человек</a:t>
            </a:r>
            <a:endParaRPr sz="1400" b="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20440" cy="146304"/>
          </a:xfrm>
          <a:prstGeom prst="round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801368"/>
            <a:ext cx="32461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1. Команда и роли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Распределить 6 участников, определить роли в принятии решения и построить RACI-матрицу.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00200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434840" y="1600200"/>
            <a:ext cx="3520440" cy="146304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801368"/>
            <a:ext cx="32461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2. Цель решения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Сформулировать цель адаптационного квеста через SMART и связать её с OKR.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600200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21040" y="1600200"/>
            <a:ext cx="3520440" cy="14630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58200" y="1801368"/>
            <a:ext cx="32461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3. Альтернативы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19456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Предложить несколько вариантов решения, критерии оценки и способ приоритизации.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74720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48640" y="3474720"/>
            <a:ext cx="3520440" cy="14630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675887"/>
            <a:ext cx="32461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4. Выбор решения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6908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Рассчитать взвешенную оценку альтернатив, выбрать наиболее эффективную.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3474720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434840" y="3474720"/>
            <a:ext cx="3520440" cy="14630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0" y="3675887"/>
            <a:ext cx="32461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5. График реализации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Построить план внедрения выбранной альтернативы в формате Гантта.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3474720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321040" y="3474720"/>
            <a:ext cx="3520440" cy="14630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58200" y="3675887"/>
            <a:ext cx="32461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6. Защита проекта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406908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Подготовить презентацию и видеозащиту, где каждый слайд закреплён за разработчиком.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Бизнес-контекст и управленческая проблема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342900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3429000" cy="146304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618488"/>
            <a:ext cx="315468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Arial"/>
              </a:rPr>
              <a:t>Проблема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154680" cy="3611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dirty="0" err="1">
                <a:solidFill>
                  <a:srgbClr val="6B7280"/>
                </a:solidFill>
                <a:latin typeface="Arial"/>
              </a:rPr>
              <a:t>Переход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из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школы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в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вуз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часто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сопровождается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снижением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контроля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ростом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самостоятельности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новой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социальной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средой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и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риском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потери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учебной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мотивации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.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Для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абитуриентов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с ОВЗ и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инвалидностью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барьеры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адаптации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выражены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сильнее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42900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429000" cy="146304"/>
          </a:xfrm>
          <a:prstGeom prst="round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1618488"/>
            <a:ext cx="315468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Arial"/>
              </a:rPr>
              <a:t>Решение в задании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3154680" cy="3611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На уровне образовательной организации предлагается разработать адаптационный квест, который поможет познакомиться с образовательной средой, сервисами поддержки и правилами коммуникации.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42900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183879" y="1417320"/>
            <a:ext cx="3429000" cy="146304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1618488"/>
            <a:ext cx="315468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Arial"/>
              </a:rPr>
              <a:t>Ожидаемый эффект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3154680" cy="3611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Участник заранее понимает маршрут поступления и обучения, знает точки поддержки и чувствует себя увереннее при первом контакте с университетом.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Команда из 6 человек: роли в работе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520440" cy="146304"/>
          </a:xfrm>
          <a:prstGeom prst="round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18488"/>
            <a:ext cx="324612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600" b="1" dirty="0" err="1">
                <a:solidFill>
                  <a:srgbClr val="1F2937"/>
                </a:solidFill>
                <a:latin typeface="Arial"/>
              </a:rPr>
              <a:t>Зубаре</a:t>
            </a:r>
            <a:endParaRPr sz="1600" b="1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Руководитель проекта
координация, тайминг, итоговый выбор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17320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520440" cy="146304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618488"/>
            <a:ext cx="324612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600" b="1" dirty="0" err="1">
                <a:solidFill>
                  <a:srgbClr val="1F2937"/>
                </a:solidFill>
                <a:latin typeface="Arial"/>
              </a:rPr>
              <a:t>Белослудцев</a:t>
            </a:r>
            <a:r>
              <a:rPr lang="ru-RU" sz="1600" b="1" dirty="0">
                <a:solidFill>
                  <a:srgbClr val="1F2937"/>
                </a:solidFill>
                <a:latin typeface="Arial"/>
              </a:rPr>
              <a:t> И.А.</a:t>
            </a:r>
            <a:endParaRPr sz="1600" b="1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0" y="201168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Аналитик проблемы
бизнес-контекст, карта барьеров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417320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321040" y="1417320"/>
            <a:ext cx="3520440" cy="14630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58200" y="1618488"/>
            <a:ext cx="324612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600" b="1" dirty="0" err="1">
                <a:solidFill>
                  <a:srgbClr val="1F2937"/>
                </a:solidFill>
                <a:latin typeface="Arial"/>
              </a:rPr>
              <a:t>Тыртышный</a:t>
            </a:r>
            <a:r>
              <a:rPr lang="ru-RU" sz="1600" b="1" dirty="0">
                <a:solidFill>
                  <a:srgbClr val="1F2937"/>
                </a:solidFill>
                <a:latin typeface="Arial"/>
              </a:rPr>
              <a:t> С.Д.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Методолог целей
SMART/OKR, показатели результата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91839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48640" y="3291839"/>
            <a:ext cx="3520440" cy="14630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493008"/>
            <a:ext cx="324612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600" b="1" dirty="0" err="1">
                <a:solidFill>
                  <a:srgbClr val="1F2937"/>
                </a:solidFill>
                <a:latin typeface="Arial"/>
              </a:rPr>
              <a:t>Рыженин</a:t>
            </a:r>
            <a:r>
              <a:rPr lang="ru-RU" sz="1600" b="1" dirty="0">
                <a:solidFill>
                  <a:srgbClr val="1F2937"/>
                </a:solidFill>
                <a:latin typeface="Arial"/>
              </a:rPr>
              <a:t> А.А.</a:t>
            </a:r>
            <a:endParaRPr sz="1600" b="1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Дизайнер альтернатив
сценарии квеста, варианты решений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291839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34840" y="3291839"/>
            <a:ext cx="3520440" cy="14630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0" y="3493008"/>
            <a:ext cx="324612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600" b="1" dirty="0">
                <a:solidFill>
                  <a:srgbClr val="1F2937"/>
                </a:solidFill>
                <a:latin typeface="Arial"/>
              </a:rPr>
              <a:t>Хохлов А.И.</a:t>
            </a:r>
            <a:endParaRPr sz="1600" b="1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572000" y="388620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Финансово-ресурсный аналитик
критерии, веса, расчёты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3291839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321040" y="3291839"/>
            <a:ext cx="3520440" cy="14630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58200" y="3493008"/>
            <a:ext cx="324612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600" b="1" dirty="0">
                <a:solidFill>
                  <a:srgbClr val="1F2937"/>
                </a:solidFill>
                <a:latin typeface="Arial"/>
              </a:rPr>
              <a:t>Савченков К.В.</a:t>
            </a:r>
            <a:endParaRPr sz="1600" b="1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458200" y="388620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Презентатор и продюсер
визуализация, график, видеозащита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Матрица ответственности RACI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156422"/>
              </p:ext>
            </p:extLst>
          </p:nvPr>
        </p:nvGraphicFramePr>
        <p:xfrm>
          <a:off x="411480" y="1234440"/>
          <a:ext cx="1138428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11505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Задача</a:t>
                      </a:r>
                      <a:endParaRPr sz="11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Зубарев В.С.</a:t>
                      </a:r>
                      <a:endParaRPr sz="11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Белослудцев</a:t>
                      </a:r>
                      <a:r>
                        <a:rPr lang="ru-RU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 И.А.</a:t>
                      </a:r>
                      <a:endParaRPr sz="11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Тыртышный</a:t>
                      </a:r>
                      <a:r>
                        <a:rPr lang="ru-RU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 С.Д.</a:t>
                      </a:r>
                      <a:endParaRPr sz="11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Рыженин</a:t>
                      </a:r>
                      <a:r>
                        <a:rPr lang="ru-RU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 А.А.</a:t>
                      </a:r>
                      <a:endParaRPr sz="11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Хохлов А.И.</a:t>
                      </a:r>
                      <a:endParaRPr sz="11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Савченков К.В.</a:t>
                      </a:r>
                      <a:endParaRPr sz="11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5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Анализ контекста и проблемы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15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Формулировка SMART/OKR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15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Разработка альтернатив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15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Критерии и веса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1505">
                <a:tc>
                  <a:txBody>
                    <a:bodyPr/>
                    <a:lstStyle/>
                    <a:p>
                      <a:pPr algn="l"/>
                      <a:r>
                        <a:rPr sz="11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Расчёт</a:t>
                      </a:r>
                      <a:r>
                        <a:rPr sz="1100" b="0" dirty="0">
                          <a:solidFill>
                            <a:srgbClr val="1F2937"/>
                          </a:solidFill>
                          <a:latin typeface="Arial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приоритетов</a:t>
                      </a:r>
                      <a:endParaRPr sz="1100" b="0" dirty="0">
                        <a:solidFill>
                          <a:srgbClr val="1F2937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15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График реализации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15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Сборка и защита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1F2937"/>
                          </a:solidFill>
                          <a:latin typeface="Arial"/>
                        </a:rPr>
                        <a:t>R/A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6263640"/>
            <a:ext cx="73152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>R — Responsible, A — Accountable, C — Consulted, I — Informed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Целевая аудитория и ключевые барьеры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3520440" cy="146304"/>
          </a:xfrm>
          <a:prstGeom prst="round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618488"/>
            <a:ext cx="32461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Информационные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сложно найти понятную информацию о правилах поступления и доступной среде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417320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80560" y="1417320"/>
            <a:ext cx="3520440" cy="146304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1618488"/>
            <a:ext cx="32461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Навигационные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01168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неясно, где находятся аудитории, службы поддержки, приёмная комиссия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417320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366760" y="1417320"/>
            <a:ext cx="3520440" cy="14630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0" y="1618488"/>
            <a:ext cx="32461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Коммуникационные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01168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страх обращаться за помощью, недостаток опыта общения с вузом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91839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94360" y="3291839"/>
            <a:ext cx="3520440" cy="14630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32461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Психологические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8620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тревожность, неуверенность, опасение изоляции в новой группе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3291839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80560" y="3291839"/>
            <a:ext cx="3520440" cy="14630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17720" y="3493008"/>
            <a:ext cx="32461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Организационные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88620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непонятные сроки, документы, маршруты получения сопровождения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79" y="3291840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183879" y="3291840"/>
            <a:ext cx="3520440" cy="14630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3493008"/>
            <a:ext cx="32461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Вывод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886200"/>
            <a:ext cx="32461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Квест должен быть не развлечением ради развлечения, а управленческим инструментом снижения адаптационных рисков.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Цель решения по SMART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0574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057400" cy="146304"/>
          </a:xfrm>
          <a:prstGeom prst="round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1783080" cy="27084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dirty="0">
                <a:solidFill>
                  <a:srgbClr val="1F2937"/>
                </a:solidFill>
                <a:latin typeface="Arial"/>
              </a:rPr>
              <a:t>S — </a:t>
            </a:r>
            <a:r>
              <a:rPr sz="1400" b="1" dirty="0" err="1">
                <a:solidFill>
                  <a:srgbClr val="1F2937"/>
                </a:solidFill>
                <a:latin typeface="Arial"/>
              </a:rPr>
              <a:t>конкретность</a:t>
            </a:r>
            <a:endParaRPr sz="1400" b="1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77240" y="2266472"/>
            <a:ext cx="1783080" cy="113261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dirty="0" err="1">
                <a:solidFill>
                  <a:srgbClr val="6B7280"/>
                </a:solidFill>
                <a:latin typeface="Arial"/>
              </a:rPr>
              <a:t>Разработать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адаптационный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квест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для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абитуриентов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с ОВЗ и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инвалидностью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54480"/>
            <a:ext cx="20574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926080" y="1554480"/>
            <a:ext cx="2057400" cy="146304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63240" y="1755648"/>
            <a:ext cx="1783080" cy="27084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dirty="0">
                <a:solidFill>
                  <a:srgbClr val="1F2937"/>
                </a:solidFill>
                <a:latin typeface="Arial"/>
              </a:rPr>
              <a:t>M — </a:t>
            </a:r>
            <a:r>
              <a:rPr sz="1400" b="1" dirty="0" err="1">
                <a:solidFill>
                  <a:srgbClr val="1F2937"/>
                </a:solidFill>
                <a:latin typeface="Arial"/>
              </a:rPr>
              <a:t>измеримость</a:t>
            </a:r>
            <a:endParaRPr sz="1400" b="1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063240" y="2266472"/>
            <a:ext cx="1783080" cy="134806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dirty="0" err="1">
                <a:solidFill>
                  <a:srgbClr val="6B7280"/>
                </a:solidFill>
                <a:latin typeface="Arial"/>
              </a:rPr>
              <a:t>Не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менее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80%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участников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должны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успешно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пройти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ключевые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станции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и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получить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маршрут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поддержки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554480"/>
            <a:ext cx="20574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212080" y="1554480"/>
            <a:ext cx="2057400" cy="14630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49240" y="1755648"/>
            <a:ext cx="1783080" cy="27084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Arial"/>
              </a:rPr>
              <a:t>A — достижимость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2265409"/>
            <a:ext cx="1783080" cy="113261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dirty="0" err="1">
                <a:solidFill>
                  <a:srgbClr val="6B7280"/>
                </a:solidFill>
                <a:latin typeface="Arial"/>
              </a:rPr>
              <a:t>Проект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реализуется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силами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проектной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команды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волонтёров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и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служб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университета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554480"/>
            <a:ext cx="20574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98079" y="1554480"/>
            <a:ext cx="2057400" cy="14630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35240" y="1755648"/>
            <a:ext cx="178308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Arial"/>
              </a:rPr>
              <a:t>R — релевантность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6658" y="2265409"/>
            <a:ext cx="1783080" cy="134806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dirty="0" err="1">
                <a:solidFill>
                  <a:srgbClr val="6B7280"/>
                </a:solidFill>
                <a:latin typeface="Arial"/>
              </a:rPr>
              <a:t>Квест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снижает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риски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дезадаптации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и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повышает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доступность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образовательной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среды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1554480"/>
            <a:ext cx="20574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784080" y="1554480"/>
            <a:ext cx="2057400" cy="14630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21240" y="1755648"/>
            <a:ext cx="1783080" cy="27084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Arial"/>
              </a:rPr>
              <a:t>T — сроки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2265409"/>
            <a:ext cx="1783080" cy="134806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dirty="0" err="1">
                <a:solidFill>
                  <a:srgbClr val="6B7280"/>
                </a:solidFill>
                <a:latin typeface="Arial"/>
              </a:rPr>
              <a:t>Пилотная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версия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подготавливается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за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6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недель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и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тестируется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до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начала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приёмной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кампании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57800"/>
            <a:ext cx="1069848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SMART-формулировка: за 6 недель подготовить и протестировать адаптационный квест, который помогает абитуриентам с ОВЗ и инвалидностью пройти основные маршруты знакомства с вузом и получить понятную информацию о поддержке.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OKR: цель и ключевые результаты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36576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657600" cy="146304"/>
          </a:xfrm>
          <a:prstGeom prst="round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72768"/>
            <a:ext cx="338328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en-US" sz="1800" b="1" dirty="0">
                <a:solidFill>
                  <a:srgbClr val="1F2937"/>
                </a:solidFill>
                <a:latin typeface="Arial"/>
              </a:rPr>
              <a:t>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3383280" cy="3566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0" dirty="0" err="1">
                <a:solidFill>
                  <a:srgbClr val="6B7280"/>
                </a:solidFill>
                <a:latin typeface="Arial"/>
              </a:rPr>
              <a:t>Создать</a:t>
            </a:r>
            <a:r>
              <a:rPr sz="15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6B7280"/>
                </a:solidFill>
                <a:latin typeface="Arial"/>
              </a:rPr>
              <a:t>доступный</a:t>
            </a:r>
            <a:r>
              <a:rPr sz="15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6B7280"/>
                </a:solidFill>
                <a:latin typeface="Arial"/>
              </a:rPr>
              <a:t>адаптационный</a:t>
            </a:r>
            <a:r>
              <a:rPr sz="15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6B7280"/>
                </a:solidFill>
                <a:latin typeface="Arial"/>
              </a:rPr>
              <a:t>квест</a:t>
            </a:r>
            <a:r>
              <a:rPr sz="1500" b="0" dirty="0">
                <a:solidFill>
                  <a:srgbClr val="6B7280"/>
                </a:solidFill>
                <a:latin typeface="Arial"/>
              </a:rPr>
              <a:t>, </a:t>
            </a:r>
            <a:r>
              <a:rPr sz="1500" b="0" dirty="0" err="1">
                <a:solidFill>
                  <a:srgbClr val="6B7280"/>
                </a:solidFill>
                <a:latin typeface="Arial"/>
              </a:rPr>
              <a:t>который</a:t>
            </a:r>
            <a:r>
              <a:rPr sz="15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6B7280"/>
                </a:solidFill>
                <a:latin typeface="Arial"/>
              </a:rPr>
              <a:t>делает</a:t>
            </a:r>
            <a:r>
              <a:rPr sz="15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6B7280"/>
                </a:solidFill>
                <a:latin typeface="Arial"/>
              </a:rPr>
              <a:t>вход</a:t>
            </a:r>
            <a:r>
              <a:rPr sz="1500" b="0" dirty="0">
                <a:solidFill>
                  <a:srgbClr val="6B7280"/>
                </a:solidFill>
                <a:latin typeface="Arial"/>
              </a:rPr>
              <a:t> в </a:t>
            </a:r>
            <a:r>
              <a:rPr sz="1500" b="0" dirty="0" err="1">
                <a:solidFill>
                  <a:srgbClr val="6B7280"/>
                </a:solidFill>
                <a:latin typeface="Arial"/>
              </a:rPr>
              <a:t>университетскую</a:t>
            </a:r>
            <a:r>
              <a:rPr sz="15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6B7280"/>
                </a:solidFill>
                <a:latin typeface="Arial"/>
              </a:rPr>
              <a:t>среду</a:t>
            </a:r>
            <a:r>
              <a:rPr sz="15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6B7280"/>
                </a:solidFill>
                <a:latin typeface="Arial"/>
              </a:rPr>
              <a:t>понятным</a:t>
            </a:r>
            <a:r>
              <a:rPr sz="1500" b="0" dirty="0">
                <a:solidFill>
                  <a:srgbClr val="6B7280"/>
                </a:solidFill>
                <a:latin typeface="Arial"/>
              </a:rPr>
              <a:t>, </a:t>
            </a:r>
            <a:r>
              <a:rPr sz="1500" b="0" dirty="0" err="1">
                <a:solidFill>
                  <a:srgbClr val="6B7280"/>
                </a:solidFill>
                <a:latin typeface="Arial"/>
              </a:rPr>
              <a:t>безопасным</a:t>
            </a:r>
            <a:r>
              <a:rPr sz="1500" b="0" dirty="0">
                <a:solidFill>
                  <a:srgbClr val="6B7280"/>
                </a:solidFill>
                <a:latin typeface="Arial"/>
              </a:rPr>
              <a:t> и </a:t>
            </a:r>
            <a:r>
              <a:rPr sz="1500" b="0" dirty="0" err="1">
                <a:solidFill>
                  <a:srgbClr val="6B7280"/>
                </a:solidFill>
                <a:latin typeface="Arial"/>
              </a:rPr>
              <a:t>мотивирующим</a:t>
            </a:r>
            <a:r>
              <a:rPr sz="1500" b="0" dirty="0">
                <a:solidFill>
                  <a:srgbClr val="6B7280"/>
                </a:solidFill>
                <a:latin typeface="Arial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234440"/>
            <a:ext cx="67665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709160" y="1234440"/>
            <a:ext cx="6766560" cy="146304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1435608"/>
            <a:ext cx="64922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KR1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693022"/>
            <a:ext cx="6492240" cy="4247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dirty="0" err="1">
                <a:solidFill>
                  <a:srgbClr val="6B7280"/>
                </a:solidFill>
                <a:latin typeface="Arial"/>
              </a:rPr>
              <a:t>Сформировать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 5–7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станций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квеста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: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приёмная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комиссия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,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тьюторская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поддержка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,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библиотека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,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цифровая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среда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,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психологическая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служба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2377440"/>
            <a:ext cx="67665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709160" y="2377440"/>
            <a:ext cx="6766560" cy="14630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0" y="2578608"/>
            <a:ext cx="64922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KR2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836022"/>
            <a:ext cx="6492240" cy="4247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dirty="0" err="1">
                <a:solidFill>
                  <a:srgbClr val="6B7280"/>
                </a:solidFill>
                <a:latin typeface="Arial"/>
              </a:rPr>
              <a:t>Подготовить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доступные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материалы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: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текст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, QR-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коды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,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крупный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шрифт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,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аудио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/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видео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Arial"/>
              </a:rPr>
              <a:t>инструкции</a:t>
            </a:r>
            <a:r>
              <a:rPr sz="1200" b="0" dirty="0">
                <a:solidFill>
                  <a:srgbClr val="6B7280"/>
                </a:solidFill>
                <a:latin typeface="Arial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3520440"/>
            <a:ext cx="67665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09160" y="3520440"/>
            <a:ext cx="6766560" cy="14630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46320" y="3721608"/>
            <a:ext cx="64922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KR3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979022"/>
            <a:ext cx="6492240" cy="4247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Провести пилот минимум на 20 участниках и получить среднюю оценку удовлетворённости не ниже 4 из 5.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60" y="4663440"/>
            <a:ext cx="67665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709160" y="4663440"/>
            <a:ext cx="6766560" cy="14630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46320" y="4864607"/>
            <a:ext cx="64922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KR4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5122022"/>
            <a:ext cx="6492240" cy="4247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Сократить долю участников, не знающих, куда обратиться за поддержкой, до уровня не выше 10%.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Альтернативы проектного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1206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120640" cy="146304"/>
          </a:xfrm>
          <a:prstGeom prst="round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18488"/>
            <a:ext cx="48463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Arial"/>
              </a:rPr>
              <a:t>А1. Очный кампус-квест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484632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dirty="0" err="1">
                <a:solidFill>
                  <a:srgbClr val="6B7280"/>
                </a:solidFill>
                <a:latin typeface="Arial"/>
              </a:rPr>
              <a:t>Командное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прохождение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станций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в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вузе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с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волонтёрами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 и </a:t>
            </a:r>
            <a:r>
              <a:rPr sz="1400" b="0" dirty="0" err="1">
                <a:solidFill>
                  <a:srgbClr val="6B7280"/>
                </a:solidFill>
                <a:latin typeface="Arial"/>
              </a:rPr>
              <a:t>наставниками</a:t>
            </a:r>
            <a:r>
              <a:rPr sz="1400" b="0" dirty="0">
                <a:solidFill>
                  <a:srgbClr val="6B7280"/>
                </a:solidFill>
                <a:latin typeface="Arial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1206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120640" cy="146304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18488"/>
            <a:ext cx="48463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Arial"/>
              </a:rPr>
              <a:t>А2. Цифровой квест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11680"/>
            <a:ext cx="484632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Онлайн-маршрут с интерактивными заданиями, картой кампуса и проверкой знаний.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74720"/>
            <a:ext cx="51206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5120640" cy="14630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675887"/>
            <a:ext cx="48463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Arial"/>
              </a:rPr>
              <a:t>А3. Гибридный 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69080"/>
            <a:ext cx="484632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Очные станции + цифровая карта, QR-задания и материалы для повторного прохождения.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74720"/>
            <a:ext cx="51206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17920" y="3474720"/>
            <a:ext cx="5120640" cy="14630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3675887"/>
            <a:ext cx="48463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Arial"/>
              </a:rPr>
              <a:t>А4. Наставническая программа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069080"/>
            <a:ext cx="484632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Закрепление за абитуриентом студента-наставника и серия адаптационных встреч.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Критерии оценки альтернатив и веса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739920"/>
              </p:ext>
            </p:extLst>
          </p:nvPr>
        </p:nvGraphicFramePr>
        <p:xfrm>
          <a:off x="594360" y="1417320"/>
          <a:ext cx="5120640" cy="41539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Критерий</a:t>
                      </a:r>
                      <a:endParaRPr sz="12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Логика веса</a:t>
                      </a: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Доступность</a:t>
                      </a:r>
                      <a:endParaRPr sz="1200" b="0" dirty="0">
                        <a:solidFill>
                          <a:srgbClr val="1F2937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0.25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0" dirty="0">
                          <a:solidFill>
                            <a:srgbClr val="1F2937"/>
                          </a:solidFill>
                          <a:latin typeface="Arial"/>
                        </a:rPr>
                        <a:t>Ключевой критерий для аудитории проекта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Эффект адаптации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0.25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0" dirty="0">
                          <a:solidFill>
                            <a:srgbClr val="1F2937"/>
                          </a:solidFill>
                          <a:latin typeface="Arial"/>
                        </a:rPr>
                        <a:t>Влияет на снижение рисков дезадаптации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Стоимость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0.15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0" dirty="0">
                          <a:solidFill>
                            <a:srgbClr val="1F2937"/>
                          </a:solidFill>
                          <a:latin typeface="Arial"/>
                        </a:rPr>
                        <a:t>Ограничения ресурсов команды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Срок внедрения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0.15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0" dirty="0">
                          <a:solidFill>
                            <a:srgbClr val="1F2937"/>
                          </a:solidFill>
                          <a:latin typeface="Arial"/>
                        </a:rPr>
                        <a:t>Важно уложиться до приёмной кампании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Масштабируемость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0.10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0" dirty="0">
                          <a:solidFill>
                            <a:srgbClr val="1F2937"/>
                          </a:solidFill>
                          <a:latin typeface="Arial"/>
                        </a:rPr>
                        <a:t>Возможность повторять каждый год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477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Социальная значимость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0.10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0" dirty="0">
                          <a:solidFill>
                            <a:srgbClr val="1F2937"/>
                          </a:solidFill>
                          <a:latin typeface="Arial"/>
                        </a:rPr>
                        <a:t>Соответствует миссии университета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873448"/>
              </p:ext>
            </p:extLst>
          </p:nvPr>
        </p:nvGraphicFramePr>
        <p:xfrm>
          <a:off x="5925878" y="1417320"/>
          <a:ext cx="5641281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Матрица приоритизации альтернатив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693247"/>
              </p:ext>
            </p:extLst>
          </p:nvPr>
        </p:nvGraphicFramePr>
        <p:xfrm>
          <a:off x="548640" y="1325881"/>
          <a:ext cx="10789920" cy="2109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6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42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3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61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23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03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809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Альтернатива</a:t>
                      </a:r>
                      <a:endParaRPr sz="11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Доступность</a:t>
                      </a: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Эффект адаптации</a:t>
                      </a: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Стоимость</a:t>
                      </a: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Срок внедрения</a:t>
                      </a: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Масштабируемость</a:t>
                      </a: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Социальная значимость</a:t>
                      </a: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Итог</a:t>
                      </a: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А1 Очный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3.70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 dirty="0">
                          <a:solidFill>
                            <a:srgbClr val="1F2937"/>
                          </a:solidFill>
                          <a:latin typeface="Arial"/>
                        </a:rPr>
                        <a:t>А2 </a:t>
                      </a:r>
                      <a:r>
                        <a:rPr sz="1100" b="1" dirty="0" err="1">
                          <a:solidFill>
                            <a:srgbClr val="1F2937"/>
                          </a:solidFill>
                          <a:latin typeface="Arial"/>
                        </a:rPr>
                        <a:t>Цифровой</a:t>
                      </a:r>
                      <a:endParaRPr sz="1100" b="1" dirty="0">
                        <a:solidFill>
                          <a:srgbClr val="1F2937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1F2937"/>
                          </a:solidFill>
                          <a:latin typeface="Arial"/>
                        </a:rPr>
                        <a:t>3.60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А3 Гибридный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F29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4.55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</a:rPr>
                        <a:t>А4 Наставничество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1F2937"/>
                          </a:solidFill>
                          <a:latin typeface="Arial"/>
                        </a:rPr>
                        <a:t>3.85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934357"/>
              </p:ext>
            </p:extLst>
          </p:nvPr>
        </p:nvGraphicFramePr>
        <p:xfrm>
          <a:off x="548640" y="3586717"/>
          <a:ext cx="10789920" cy="21740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83580"/>
            <a:ext cx="11064240" cy="54784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 dirty="0" err="1">
                <a:solidFill>
                  <a:srgbClr val="16A34A"/>
                </a:solidFill>
                <a:latin typeface="Arial"/>
              </a:rPr>
              <a:t>Выбор</a:t>
            </a:r>
            <a:r>
              <a:rPr sz="1600" b="1" dirty="0">
                <a:solidFill>
                  <a:srgbClr val="16A34A"/>
                </a:solidFill>
                <a:latin typeface="Arial"/>
              </a:rPr>
              <a:t>: А3 «</a:t>
            </a:r>
            <a:r>
              <a:rPr sz="1600" b="1" dirty="0" err="1">
                <a:solidFill>
                  <a:srgbClr val="16A34A"/>
                </a:solidFill>
                <a:latin typeface="Arial"/>
              </a:rPr>
              <a:t>Гибридный</a:t>
            </a:r>
            <a:r>
              <a:rPr sz="1600" b="1" dirty="0">
                <a:solidFill>
                  <a:srgbClr val="16A34A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6A34A"/>
                </a:solidFill>
                <a:latin typeface="Arial"/>
              </a:rPr>
              <a:t>квест</a:t>
            </a:r>
            <a:r>
              <a:rPr sz="1600" b="1" dirty="0">
                <a:solidFill>
                  <a:srgbClr val="16A34A"/>
                </a:solidFill>
                <a:latin typeface="Arial"/>
              </a:rPr>
              <a:t>» — </a:t>
            </a:r>
            <a:r>
              <a:rPr sz="1600" b="1" dirty="0" err="1">
                <a:solidFill>
                  <a:srgbClr val="16A34A"/>
                </a:solidFill>
                <a:latin typeface="Arial"/>
              </a:rPr>
              <a:t>максимальная</a:t>
            </a:r>
            <a:r>
              <a:rPr sz="1600" b="1" dirty="0">
                <a:solidFill>
                  <a:srgbClr val="16A34A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6A34A"/>
                </a:solidFill>
                <a:latin typeface="Arial"/>
              </a:rPr>
              <a:t>итоговая</a:t>
            </a:r>
            <a:r>
              <a:rPr sz="1600" b="1" dirty="0">
                <a:solidFill>
                  <a:srgbClr val="16A34A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6A34A"/>
                </a:solidFill>
                <a:latin typeface="Arial"/>
              </a:rPr>
              <a:t>оценка</a:t>
            </a:r>
            <a:r>
              <a:rPr sz="1600" b="1" dirty="0">
                <a:solidFill>
                  <a:srgbClr val="16A34A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6A34A"/>
                </a:solidFill>
                <a:latin typeface="Arial"/>
              </a:rPr>
              <a:t>за</a:t>
            </a:r>
            <a:r>
              <a:rPr sz="1600" b="1" dirty="0">
                <a:solidFill>
                  <a:srgbClr val="16A34A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6A34A"/>
                </a:solidFill>
                <a:latin typeface="Arial"/>
              </a:rPr>
              <a:t>счёт</a:t>
            </a:r>
            <a:r>
              <a:rPr sz="1600" b="1" dirty="0">
                <a:solidFill>
                  <a:srgbClr val="16A34A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6A34A"/>
                </a:solidFill>
                <a:latin typeface="Arial"/>
              </a:rPr>
              <a:t>доступности</a:t>
            </a:r>
            <a:r>
              <a:rPr sz="1600" b="1" dirty="0">
                <a:solidFill>
                  <a:srgbClr val="16A34A"/>
                </a:solidFill>
                <a:latin typeface="Arial"/>
              </a:rPr>
              <a:t>, </a:t>
            </a:r>
            <a:r>
              <a:rPr sz="1600" b="1" dirty="0" err="1">
                <a:solidFill>
                  <a:srgbClr val="16A34A"/>
                </a:solidFill>
                <a:latin typeface="Arial"/>
              </a:rPr>
              <a:t>эффекта</a:t>
            </a:r>
            <a:r>
              <a:rPr sz="1600" b="1" dirty="0">
                <a:solidFill>
                  <a:srgbClr val="16A34A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6A34A"/>
                </a:solidFill>
                <a:latin typeface="Arial"/>
              </a:rPr>
              <a:t>адаптации</a:t>
            </a:r>
            <a:r>
              <a:rPr sz="1600" b="1" dirty="0">
                <a:solidFill>
                  <a:srgbClr val="16A34A"/>
                </a:solidFill>
                <a:latin typeface="Arial"/>
              </a:rPr>
              <a:t> и </a:t>
            </a:r>
            <a:r>
              <a:rPr sz="1600" b="1" dirty="0" err="1">
                <a:solidFill>
                  <a:srgbClr val="16A34A"/>
                </a:solidFill>
                <a:latin typeface="Arial"/>
              </a:rPr>
              <a:t>масштабируемости</a:t>
            </a:r>
            <a:r>
              <a:rPr sz="1600" b="1" dirty="0">
                <a:solidFill>
                  <a:srgbClr val="16A34A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 dirty="0" err="1">
                <a:solidFill>
                  <a:srgbClr val="6B7280"/>
                </a:solidFill>
                <a:latin typeface="Arial"/>
              </a:rPr>
              <a:t>Контрольная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6B7280"/>
                </a:solidFill>
                <a:latin typeface="Arial"/>
              </a:rPr>
              <a:t>работа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1 • МПУР • </a:t>
            </a:r>
            <a:r>
              <a:rPr sz="900" b="0" dirty="0" err="1">
                <a:solidFill>
                  <a:srgbClr val="6B7280"/>
                </a:solidFill>
                <a:latin typeface="Arial"/>
              </a:rPr>
              <a:t>слайд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7872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sz="3000" b="1" dirty="0" err="1">
                <a:solidFill>
                  <a:srgbClr val="1F2937"/>
                </a:solidFill>
                <a:latin typeface="Arial"/>
              </a:rPr>
              <a:t>Выбранная</a:t>
            </a:r>
            <a:r>
              <a:rPr sz="30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2937"/>
                </a:solidFill>
                <a:latin typeface="Arial"/>
              </a:rPr>
              <a:t>альтернатива</a:t>
            </a:r>
            <a:r>
              <a:rPr sz="3000" b="1" dirty="0">
                <a:solidFill>
                  <a:srgbClr val="1F2937"/>
                </a:solidFill>
                <a:latin typeface="Arial"/>
              </a:rPr>
              <a:t>: </a:t>
            </a:r>
            <a:r>
              <a:rPr sz="3000" b="1" dirty="0" err="1">
                <a:solidFill>
                  <a:srgbClr val="1F2937"/>
                </a:solidFill>
                <a:latin typeface="Arial"/>
              </a:rPr>
              <a:t>гибридный</a:t>
            </a:r>
            <a:r>
              <a:rPr sz="30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2937"/>
                </a:solidFill>
                <a:latin typeface="Arial"/>
              </a:rPr>
              <a:t>адаптационный</a:t>
            </a:r>
            <a:r>
              <a:rPr sz="30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2937"/>
                </a:solidFill>
                <a:latin typeface="Arial"/>
              </a:rPr>
              <a:t>квест</a:t>
            </a:r>
            <a:endParaRPr sz="3000" b="1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284732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33832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383280" cy="146304"/>
          </a:xfrm>
          <a:prstGeom prst="round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18488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 dirty="0">
                <a:solidFill>
                  <a:srgbClr val="1F2937"/>
                </a:solidFill>
                <a:latin typeface="Arial"/>
              </a:rPr>
              <a:t>1.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Стартовая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диагностика</a:t>
            </a:r>
            <a:endParaRPr sz="1600" b="1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310896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Короткий опрос о потребностях и ограничениях участника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417320"/>
            <a:ext cx="33832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80560" y="1417320"/>
            <a:ext cx="3383280" cy="146304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1618488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2. Маршрут по вузу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011680"/>
            <a:ext cx="310896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Карта доступных входов, аудиторий и сервисов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417320"/>
            <a:ext cx="33832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275320" y="1417320"/>
            <a:ext cx="3383280" cy="14630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1618488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3. QR-задания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011680"/>
            <a:ext cx="310896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Цифровые подсказки, мини-тесты и инструкции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46120"/>
            <a:ext cx="33832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85800" y="3246120"/>
            <a:ext cx="3383280" cy="14630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447288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4. Станции поддержки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840480"/>
            <a:ext cx="310896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Тьютор, психолог, деканат, библиотека, цифровая среда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3246120"/>
            <a:ext cx="33832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80560" y="3246120"/>
            <a:ext cx="3383280" cy="14630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17720" y="3447288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5. Обратная связь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840480"/>
            <a:ext cx="310896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Анкета удовлетворённости и сбор предложений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303520"/>
            <a:ext cx="1078992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 dirty="0" err="1">
                <a:solidFill>
                  <a:srgbClr val="1F2937"/>
                </a:solidFill>
                <a:latin typeface="Arial"/>
              </a:rPr>
              <a:t>Логика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решения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: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участник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проходит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очный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маршрут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,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но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все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материалы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остаются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доступны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онлайн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—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это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снижает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стресс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и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позволяет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вернуться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к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информации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после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мероприятия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График реализации выбранной альтернативы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1645920" cy="27084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Arial"/>
              </a:rPr>
              <a:t>Этап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1600200"/>
            <a:ext cx="73152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50" b="1">
                <a:solidFill>
                  <a:srgbClr val="6B7280"/>
                </a:solidFill>
                <a:latin typeface="Arial"/>
              </a:rPr>
              <a:t>Неделя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1600200"/>
            <a:ext cx="73152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50" b="1">
                <a:solidFill>
                  <a:srgbClr val="6B7280"/>
                </a:solidFill>
                <a:latin typeface="Arial"/>
              </a:rPr>
              <a:t>Неделя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00200"/>
            <a:ext cx="73152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50" b="1">
                <a:solidFill>
                  <a:srgbClr val="6B7280"/>
                </a:solidFill>
                <a:latin typeface="Arial"/>
              </a:rPr>
              <a:t>Неделя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600200"/>
            <a:ext cx="73152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50" b="1">
                <a:solidFill>
                  <a:srgbClr val="6B7280"/>
                </a:solidFill>
                <a:latin typeface="Arial"/>
              </a:rPr>
              <a:t>Неделя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600200"/>
            <a:ext cx="73152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50" b="1">
                <a:solidFill>
                  <a:srgbClr val="6B7280"/>
                </a:solidFill>
                <a:latin typeface="Arial"/>
              </a:rPr>
              <a:t>Неделя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00200"/>
            <a:ext cx="73152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50" b="1">
                <a:solidFill>
                  <a:srgbClr val="6B7280"/>
                </a:solidFill>
                <a:latin typeface="Arial"/>
              </a:rPr>
              <a:t>Неделя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178308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Arial"/>
              </a:rPr>
              <a:t>Анализ потребностей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069450"/>
            <a:ext cx="91440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50" b="1" dirty="0">
                <a:solidFill>
                  <a:srgbClr val="6B7280"/>
                </a:solidFill>
                <a:latin typeface="Arial"/>
              </a:rPr>
              <a:t>У2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2057400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Rectangle 13"/>
          <p:cNvSpPr/>
          <p:nvPr/>
        </p:nvSpPr>
        <p:spPr>
          <a:xfrm>
            <a:off x="3246120" y="2057400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023360" y="2057400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ectangle 15"/>
          <p:cNvSpPr/>
          <p:nvPr/>
        </p:nvSpPr>
        <p:spPr>
          <a:xfrm>
            <a:off x="4800600" y="2057400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5577840" y="2057400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Rectangle 17"/>
          <p:cNvSpPr/>
          <p:nvPr/>
        </p:nvSpPr>
        <p:spPr>
          <a:xfrm>
            <a:off x="6355080" y="2057400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" name="Rounded Rectangle 18"/>
          <p:cNvSpPr/>
          <p:nvPr/>
        </p:nvSpPr>
        <p:spPr>
          <a:xfrm>
            <a:off x="2496312" y="2093976"/>
            <a:ext cx="722376" cy="246888"/>
          </a:xfrm>
          <a:prstGeom prst="round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594360" y="2532888"/>
            <a:ext cx="178308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Arial"/>
              </a:rPr>
              <a:t>Проектирование станций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544938"/>
            <a:ext cx="91440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50" b="1">
                <a:solidFill>
                  <a:srgbClr val="6B7280"/>
                </a:solidFill>
                <a:latin typeface="Arial"/>
              </a:rPr>
              <a:t>У4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80" y="2532888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3" name="Rectangle 22"/>
          <p:cNvSpPr/>
          <p:nvPr/>
        </p:nvSpPr>
        <p:spPr>
          <a:xfrm>
            <a:off x="3246120" y="2532888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4" name="Rectangle 23"/>
          <p:cNvSpPr/>
          <p:nvPr/>
        </p:nvSpPr>
        <p:spPr>
          <a:xfrm>
            <a:off x="4023360" y="2532888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5" name="Rectangle 24"/>
          <p:cNvSpPr/>
          <p:nvPr/>
        </p:nvSpPr>
        <p:spPr>
          <a:xfrm>
            <a:off x="4800600" y="2532888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ectangle 25"/>
          <p:cNvSpPr/>
          <p:nvPr/>
        </p:nvSpPr>
        <p:spPr>
          <a:xfrm>
            <a:off x="5577840" y="2532888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7" name="Rectangle 26"/>
          <p:cNvSpPr/>
          <p:nvPr/>
        </p:nvSpPr>
        <p:spPr>
          <a:xfrm>
            <a:off x="6355080" y="2532888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8" name="Rounded Rectangle 27"/>
          <p:cNvSpPr/>
          <p:nvPr/>
        </p:nvSpPr>
        <p:spPr>
          <a:xfrm>
            <a:off x="3273552" y="2569464"/>
            <a:ext cx="1499616" cy="24688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9" name="TextBox 28"/>
          <p:cNvSpPr txBox="1"/>
          <p:nvPr/>
        </p:nvSpPr>
        <p:spPr>
          <a:xfrm>
            <a:off x="594360" y="3008376"/>
            <a:ext cx="178308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Arial"/>
              </a:rPr>
              <a:t>Разработка материалов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3020426"/>
            <a:ext cx="91440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50" b="1">
                <a:solidFill>
                  <a:srgbClr val="6B7280"/>
                </a:solidFill>
                <a:latin typeface="Arial"/>
              </a:rPr>
              <a:t>У3/У6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68880" y="3008376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2" name="Rectangle 31"/>
          <p:cNvSpPr/>
          <p:nvPr/>
        </p:nvSpPr>
        <p:spPr>
          <a:xfrm>
            <a:off x="3246120" y="3008376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3" name="Rectangle 32"/>
          <p:cNvSpPr/>
          <p:nvPr/>
        </p:nvSpPr>
        <p:spPr>
          <a:xfrm>
            <a:off x="4023360" y="3008376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4" name="Rectangle 33"/>
          <p:cNvSpPr/>
          <p:nvPr/>
        </p:nvSpPr>
        <p:spPr>
          <a:xfrm>
            <a:off x="4800600" y="3008376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5" name="Rectangle 34"/>
          <p:cNvSpPr/>
          <p:nvPr/>
        </p:nvSpPr>
        <p:spPr>
          <a:xfrm>
            <a:off x="5577840" y="3008376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Rectangle 35"/>
          <p:cNvSpPr/>
          <p:nvPr/>
        </p:nvSpPr>
        <p:spPr>
          <a:xfrm>
            <a:off x="6355080" y="3008376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7" name="Rounded Rectangle 36"/>
          <p:cNvSpPr/>
          <p:nvPr/>
        </p:nvSpPr>
        <p:spPr>
          <a:xfrm>
            <a:off x="4050792" y="3044952"/>
            <a:ext cx="1499616" cy="24688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8" name="TextBox 37"/>
          <p:cNvSpPr txBox="1"/>
          <p:nvPr/>
        </p:nvSpPr>
        <p:spPr>
          <a:xfrm>
            <a:off x="594360" y="3483864"/>
            <a:ext cx="1783080" cy="37856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Arial"/>
              </a:rPr>
              <a:t>Настройка цифровой части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3495914"/>
            <a:ext cx="91440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50" b="1">
                <a:solidFill>
                  <a:srgbClr val="6B7280"/>
                </a:solidFill>
                <a:latin typeface="Arial"/>
              </a:rPr>
              <a:t>У6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68880" y="3483864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1" name="Rectangle 40"/>
          <p:cNvSpPr/>
          <p:nvPr/>
        </p:nvSpPr>
        <p:spPr>
          <a:xfrm>
            <a:off x="3246120" y="3483864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Rectangle 41"/>
          <p:cNvSpPr/>
          <p:nvPr/>
        </p:nvSpPr>
        <p:spPr>
          <a:xfrm>
            <a:off x="4023360" y="3483864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3" name="Rectangle 42"/>
          <p:cNvSpPr/>
          <p:nvPr/>
        </p:nvSpPr>
        <p:spPr>
          <a:xfrm>
            <a:off x="4800600" y="3483864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4" name="Rectangle 43"/>
          <p:cNvSpPr/>
          <p:nvPr/>
        </p:nvSpPr>
        <p:spPr>
          <a:xfrm>
            <a:off x="5577840" y="3483864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5" name="Rectangle 44"/>
          <p:cNvSpPr/>
          <p:nvPr/>
        </p:nvSpPr>
        <p:spPr>
          <a:xfrm>
            <a:off x="6355080" y="3483864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6" name="Rounded Rectangle 45"/>
          <p:cNvSpPr/>
          <p:nvPr/>
        </p:nvSpPr>
        <p:spPr>
          <a:xfrm>
            <a:off x="4828032" y="3520440"/>
            <a:ext cx="1499616" cy="24688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7" name="TextBox 46"/>
          <p:cNvSpPr txBox="1"/>
          <p:nvPr/>
        </p:nvSpPr>
        <p:spPr>
          <a:xfrm>
            <a:off x="594360" y="3959352"/>
            <a:ext cx="178308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Arial"/>
              </a:rPr>
              <a:t>Пилотное тестирование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3971402"/>
            <a:ext cx="91440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50" b="1">
                <a:solidFill>
                  <a:srgbClr val="6B7280"/>
                </a:solidFill>
                <a:latin typeface="Arial"/>
              </a:rPr>
              <a:t>У1/У5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68880" y="3959352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0" name="Rectangle 49"/>
          <p:cNvSpPr/>
          <p:nvPr/>
        </p:nvSpPr>
        <p:spPr>
          <a:xfrm>
            <a:off x="3246120" y="3959352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1" name="Rectangle 50"/>
          <p:cNvSpPr/>
          <p:nvPr/>
        </p:nvSpPr>
        <p:spPr>
          <a:xfrm>
            <a:off x="4023360" y="3959352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2" name="Rectangle 51"/>
          <p:cNvSpPr/>
          <p:nvPr/>
        </p:nvSpPr>
        <p:spPr>
          <a:xfrm>
            <a:off x="4800600" y="3959352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3" name="Rectangle 52"/>
          <p:cNvSpPr/>
          <p:nvPr/>
        </p:nvSpPr>
        <p:spPr>
          <a:xfrm>
            <a:off x="5577840" y="3959352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4" name="Rectangle 53"/>
          <p:cNvSpPr/>
          <p:nvPr/>
        </p:nvSpPr>
        <p:spPr>
          <a:xfrm>
            <a:off x="6355080" y="3959352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5" name="Rounded Rectangle 54"/>
          <p:cNvSpPr/>
          <p:nvPr/>
        </p:nvSpPr>
        <p:spPr>
          <a:xfrm>
            <a:off x="5605272" y="3995928"/>
            <a:ext cx="722376" cy="24688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6" name="TextBox 55"/>
          <p:cNvSpPr txBox="1"/>
          <p:nvPr/>
        </p:nvSpPr>
        <p:spPr>
          <a:xfrm>
            <a:off x="594360" y="4434840"/>
            <a:ext cx="178308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Arial"/>
              </a:rPr>
              <a:t>Доработка и запуск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89520" y="4446890"/>
            <a:ext cx="914400" cy="2169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50" b="1">
                <a:solidFill>
                  <a:srgbClr val="6B7280"/>
                </a:solidFill>
                <a:latin typeface="Arial"/>
              </a:rPr>
              <a:t>У1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68880" y="4434840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9" name="Rectangle 58"/>
          <p:cNvSpPr/>
          <p:nvPr/>
        </p:nvSpPr>
        <p:spPr>
          <a:xfrm>
            <a:off x="3246120" y="4434840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0" name="Rectangle 59"/>
          <p:cNvSpPr/>
          <p:nvPr/>
        </p:nvSpPr>
        <p:spPr>
          <a:xfrm>
            <a:off x="4023360" y="4434840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1" name="Rectangle 60"/>
          <p:cNvSpPr/>
          <p:nvPr/>
        </p:nvSpPr>
        <p:spPr>
          <a:xfrm>
            <a:off x="4800600" y="4434840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2" name="Rectangle 61"/>
          <p:cNvSpPr/>
          <p:nvPr/>
        </p:nvSpPr>
        <p:spPr>
          <a:xfrm>
            <a:off x="5577840" y="4434840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3" name="Rectangle 62"/>
          <p:cNvSpPr/>
          <p:nvPr/>
        </p:nvSpPr>
        <p:spPr>
          <a:xfrm>
            <a:off x="6355080" y="4434840"/>
            <a:ext cx="777240" cy="3200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4" name="Rounded Rectangle 63"/>
          <p:cNvSpPr/>
          <p:nvPr/>
        </p:nvSpPr>
        <p:spPr>
          <a:xfrm>
            <a:off x="6382512" y="4471416"/>
            <a:ext cx="722376" cy="246888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5" name="TextBox 64"/>
          <p:cNvSpPr txBox="1"/>
          <p:nvPr/>
        </p:nvSpPr>
        <p:spPr>
          <a:xfrm>
            <a:off x="7406640" y="1600200"/>
            <a:ext cx="1508760" cy="27084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Arial"/>
              </a:rPr>
              <a:t>Ответственный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961120" y="1920240"/>
            <a:ext cx="2423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8961120" y="1920240"/>
            <a:ext cx="2423160" cy="14630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098280" y="2121408"/>
            <a:ext cx="21488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Контрольные точки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98280" y="2514600"/>
            <a:ext cx="2148840" cy="169163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• конец 2 недели: сценарий утверждён
• конец 4 недели: цифровые материалы готовы
• конец 5 недели: пилот проведён
• конец 6 недели: запуск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Риски проекта и меры управления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3337560" cy="146304"/>
          </a:xfrm>
          <a:prstGeom prst="round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18488"/>
            <a:ext cx="30632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Arial"/>
              </a:rPr>
              <a:t>Низкая доступность маршрута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2836"/>
            <a:ext cx="3063240" cy="91717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Проверить физическую доступность всех точек, подготовить альтернативные маршруты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37560" cy="146304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1618488"/>
            <a:ext cx="30632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Arial"/>
              </a:rPr>
              <a:t>Недостаток участников пилота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882836"/>
            <a:ext cx="3063240" cy="70173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Подключить приёмную комиссию, студенческие объединения и тьюторов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4173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138159" y="1417320"/>
            <a:ext cx="3337560" cy="14630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75319" y="1618488"/>
            <a:ext cx="30632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Arial"/>
              </a:rPr>
              <a:t>Перегруз информацией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1882836"/>
            <a:ext cx="306324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Использовать короткие инструкции и повтор материалов онлайн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91839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3291839"/>
            <a:ext cx="3337560" cy="14630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493008"/>
            <a:ext cx="30632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Arial"/>
              </a:rPr>
              <a:t>Технические сбои QR/сервисов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17960"/>
            <a:ext cx="306324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Подготовить бумажные дублёры и офлайн-карту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3291839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389120" y="3291839"/>
            <a:ext cx="3337560" cy="14630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3493008"/>
            <a:ext cx="30632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Arial"/>
              </a:rPr>
              <a:t>Недостаточная чувствительность команды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017960"/>
            <a:ext cx="306324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Провести инструктаж по этичной коммуникации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39" y="320040"/>
            <a:ext cx="11466151" cy="51706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dirty="0" err="1">
                <a:solidFill>
                  <a:srgbClr val="1F2937"/>
                </a:solidFill>
                <a:latin typeface="Arial"/>
              </a:rPr>
              <a:t>Распределение</a:t>
            </a:r>
            <a:r>
              <a:rPr sz="30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2937"/>
                </a:solidFill>
                <a:latin typeface="Arial"/>
              </a:rPr>
              <a:t>защиты</a:t>
            </a:r>
            <a:r>
              <a:rPr sz="30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2937"/>
                </a:solidFill>
                <a:latin typeface="Arial"/>
              </a:rPr>
              <a:t>презентации</a:t>
            </a:r>
            <a:r>
              <a:rPr sz="30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2937"/>
                </a:solidFill>
                <a:latin typeface="Arial"/>
              </a:rPr>
              <a:t>между</a:t>
            </a:r>
            <a:r>
              <a:rPr sz="3000" b="1" dirty="0">
                <a:solidFill>
                  <a:srgbClr val="1F2937"/>
                </a:solidFill>
                <a:latin typeface="Arial"/>
              </a:rPr>
              <a:t> 6 </a:t>
            </a:r>
            <a:r>
              <a:rPr sz="3000" b="1" dirty="0" err="1">
                <a:solidFill>
                  <a:srgbClr val="1F2937"/>
                </a:solidFill>
                <a:latin typeface="Arial"/>
              </a:rPr>
              <a:t>участниками</a:t>
            </a:r>
            <a:endParaRPr sz="3000" b="1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941052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427097"/>
              </p:ext>
            </p:extLst>
          </p:nvPr>
        </p:nvGraphicFramePr>
        <p:xfrm>
          <a:off x="548640" y="1176670"/>
          <a:ext cx="10698480" cy="45840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4864"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Участник</a:t>
                      </a:r>
                      <a:endParaRPr sz="16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Слайды</a:t>
                      </a: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Что защищает</a:t>
                      </a:r>
                    </a:p>
                  </a:txBody>
                  <a:tcPr anchor="ctr">
                    <a:solidFill>
                      <a:srgbClr val="26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864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rgbClr val="1F2937"/>
                          </a:solidFill>
                          <a:latin typeface="Arial"/>
                        </a:rPr>
                        <a:t>Зубарев В.С.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937"/>
                          </a:solidFill>
                          <a:latin typeface="Arial"/>
                        </a:rPr>
                        <a:t>1–3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Arial"/>
                        </a:rPr>
                        <a:t>контекст, проблема, логика проекта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4864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 err="1">
                          <a:solidFill>
                            <a:srgbClr val="1F2937"/>
                          </a:solidFill>
                          <a:latin typeface="Arial"/>
                        </a:rPr>
                        <a:t>Белослудцев</a:t>
                      </a:r>
                      <a:r>
                        <a:rPr lang="ru-RU" sz="1600" b="1" dirty="0">
                          <a:solidFill>
                            <a:srgbClr val="1F2937"/>
                          </a:solidFill>
                          <a:latin typeface="Arial"/>
                        </a:rPr>
                        <a:t> И.А.</a:t>
                      </a:r>
                      <a:endParaRPr sz="1600" b="1" dirty="0">
                        <a:solidFill>
                          <a:srgbClr val="1F2937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937"/>
                          </a:solidFill>
                          <a:latin typeface="Arial"/>
                        </a:rPr>
                        <a:t>4–6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Arial"/>
                        </a:rPr>
                        <a:t>роли, RACI, аудитория и барьеры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4864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rgbClr val="1F2937"/>
                          </a:solidFill>
                          <a:latin typeface="Arial"/>
                        </a:rPr>
                        <a:t>Савченков К.В.</a:t>
                      </a:r>
                      <a:endParaRPr sz="1600" b="1" dirty="0">
                        <a:solidFill>
                          <a:srgbClr val="1F2937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937"/>
                          </a:solidFill>
                          <a:latin typeface="Arial"/>
                        </a:rPr>
                        <a:t>7–8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Arial"/>
                        </a:rPr>
                        <a:t>SMART и OKR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4864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 err="1">
                          <a:solidFill>
                            <a:srgbClr val="1F2937"/>
                          </a:solidFill>
                          <a:latin typeface="Arial"/>
                        </a:rPr>
                        <a:t>Рыженин</a:t>
                      </a:r>
                      <a:r>
                        <a:rPr lang="ru-RU" sz="1600" b="1" dirty="0">
                          <a:solidFill>
                            <a:srgbClr val="1F2937"/>
                          </a:solidFill>
                          <a:latin typeface="Arial"/>
                        </a:rPr>
                        <a:t> А.А.</a:t>
                      </a:r>
                      <a:endParaRPr sz="1600" b="1" dirty="0">
                        <a:solidFill>
                          <a:srgbClr val="1F2937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937"/>
                          </a:solidFill>
                          <a:latin typeface="Arial"/>
                        </a:rPr>
                        <a:t>9, 12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Arial"/>
                        </a:rPr>
                        <a:t>альтернативы и выбранное решение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4864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rgbClr val="1F2937"/>
                          </a:solidFill>
                          <a:latin typeface="Arial"/>
                        </a:rPr>
                        <a:t>Хохлов А.И.</a:t>
                      </a:r>
                      <a:endParaRPr sz="1600" b="1" dirty="0">
                        <a:solidFill>
                          <a:srgbClr val="1F2937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937"/>
                          </a:solidFill>
                          <a:latin typeface="Arial"/>
                        </a:rPr>
                        <a:t>10–11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Arial"/>
                        </a:rPr>
                        <a:t>критерии, веса, матрица приоритетов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4865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 err="1">
                          <a:solidFill>
                            <a:srgbClr val="1F2937"/>
                          </a:solidFill>
                          <a:latin typeface="Arial"/>
                        </a:rPr>
                        <a:t>Тыртышный</a:t>
                      </a:r>
                      <a:r>
                        <a:rPr lang="ru-RU" sz="1600" b="1" dirty="0">
                          <a:solidFill>
                            <a:srgbClr val="1F2937"/>
                          </a:solidFill>
                          <a:latin typeface="Arial"/>
                        </a:rPr>
                        <a:t> С.Д.</a:t>
                      </a:r>
                      <a:endParaRPr sz="1600" b="1" dirty="0">
                        <a:solidFill>
                          <a:srgbClr val="1F2937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937"/>
                          </a:solidFill>
                          <a:latin typeface="Arial"/>
                        </a:rPr>
                        <a:t>13–16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график</a:t>
                      </a:r>
                      <a:r>
                        <a:rPr sz="1600" b="0" dirty="0">
                          <a:solidFill>
                            <a:srgbClr val="1F2937"/>
                          </a:solidFill>
                          <a:latin typeface="Arial"/>
                        </a:rPr>
                        <a:t>, </a:t>
                      </a:r>
                      <a:r>
                        <a:rPr sz="16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риски</a:t>
                      </a:r>
                      <a:r>
                        <a:rPr sz="1600" b="0" dirty="0">
                          <a:solidFill>
                            <a:srgbClr val="1F2937"/>
                          </a:solidFill>
                          <a:latin typeface="Arial"/>
                        </a:rPr>
                        <a:t>, </a:t>
                      </a:r>
                      <a:r>
                        <a:rPr sz="16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итоги</a:t>
                      </a:r>
                      <a:endParaRPr sz="1600" b="0" dirty="0">
                        <a:solidFill>
                          <a:srgbClr val="1F2937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Сформированный навык по итогам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828800" cy="54864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246120" cy="146304"/>
          </a:xfrm>
          <a:prstGeom prst="round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29718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Работа с бизнес-контекстом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97180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Выделение проблемы, аудитории и ограничений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246120" cy="146304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1618488"/>
            <a:ext cx="29718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Целеполагание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297180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SMART и OKR для проектного решения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173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46720" y="1417320"/>
            <a:ext cx="3246120" cy="14630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83880" y="1618488"/>
            <a:ext cx="29718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Принятие решения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011680"/>
            <a:ext cx="297180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Сравнение альтернатив по критериям и весам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0040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1520" y="3200400"/>
            <a:ext cx="3246120" cy="14630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3401568"/>
            <a:ext cx="29718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Проектное планирование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794760"/>
            <a:ext cx="297180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График реализации и контрольные точки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320040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389120" y="3200400"/>
            <a:ext cx="3246120" cy="14630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3401568"/>
            <a:ext cx="29718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Arial"/>
              </a:rPr>
              <a:t>Командная защита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794760"/>
            <a:ext cx="297180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ru-RU" sz="1400" b="0" dirty="0">
                <a:solidFill>
                  <a:srgbClr val="6B7280"/>
                </a:solidFill>
                <a:latin typeface="Arial"/>
              </a:rPr>
              <a:t>Распределение ответственности и публичная презентация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03520"/>
            <a:ext cx="1078992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Arial"/>
              </a:rPr>
              <a:t>Итог: команда подготовила управленческое решение, обосновала выбор альтернативы и показала план внедрения адаптационного квеста для абитуриентов с ОВЗ и инвалидностью.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rial"/>
              </a:rPr>
              <a:t>Контрольная работа 1 • МПУР • слайд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1419</Words>
  <Application>Microsoft Office PowerPoint</Application>
  <PresentationFormat>Широкоэкранный</PresentationFormat>
  <Paragraphs>307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H4RD</dc:creator>
  <cp:keywords/>
  <dc:description>generated using python-pptx</dc:description>
  <cp:lastModifiedBy>H4RD</cp:lastModifiedBy>
  <cp:revision>3</cp:revision>
  <dcterms:created xsi:type="dcterms:W3CDTF">2013-01-27T09:14:16Z</dcterms:created>
  <dcterms:modified xsi:type="dcterms:W3CDTF">2026-06-01T16:28:44Z</dcterms:modified>
  <cp:category/>
</cp:coreProperties>
</file>