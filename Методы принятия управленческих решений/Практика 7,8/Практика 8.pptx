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748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1040" y="504338"/>
            <a:ext cx="10789920" cy="64008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rPr dirty="0" err="1"/>
              <a:t>Проект</a:t>
            </a:r>
            <a:r>
              <a:rPr dirty="0"/>
              <a:t> </a:t>
            </a:r>
            <a:r>
              <a:rPr dirty="0" err="1"/>
              <a:t>решения</a:t>
            </a:r>
            <a:r>
              <a:rPr dirty="0"/>
              <a:t>: </a:t>
            </a:r>
            <a:r>
              <a:rPr dirty="0" err="1"/>
              <a:t>определение</a:t>
            </a:r>
            <a:r>
              <a:rPr dirty="0"/>
              <a:t> </a:t>
            </a:r>
            <a:r>
              <a:rPr dirty="0" err="1"/>
              <a:t>конкурентоспособности</a:t>
            </a:r>
            <a:r>
              <a:rPr dirty="0"/>
              <a:t> </a:t>
            </a:r>
            <a:r>
              <a:rPr dirty="0" err="1"/>
              <a:t>продукта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713232" y="1417320"/>
            <a:ext cx="10515600" cy="45720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400" b="0">
                <a:solidFill>
                  <a:srgbClr val="64748B"/>
                </a:solidFill>
              </a:defRPr>
            </a:pPr>
            <a:r>
              <a:rPr dirty="0" err="1"/>
              <a:t>Практическое</a:t>
            </a:r>
            <a:r>
              <a:rPr dirty="0"/>
              <a:t> </a:t>
            </a:r>
            <a:r>
              <a:rPr dirty="0" err="1"/>
              <a:t>задание</a:t>
            </a:r>
            <a:r>
              <a:rPr dirty="0"/>
              <a:t> 8 • ABC-XYZ-</a:t>
            </a:r>
            <a:r>
              <a:rPr dirty="0" err="1"/>
              <a:t>анализ</a:t>
            </a:r>
            <a:r>
              <a:rPr dirty="0"/>
              <a:t> • </a:t>
            </a:r>
            <a:r>
              <a:rPr dirty="0" err="1"/>
              <a:t>экспертная</a:t>
            </a:r>
            <a:r>
              <a:rPr dirty="0"/>
              <a:t> </a:t>
            </a:r>
            <a:r>
              <a:rPr dirty="0" err="1"/>
              <a:t>оценка</a:t>
            </a:r>
            <a:r>
              <a:rPr dirty="0"/>
              <a:t> • </a:t>
            </a:r>
            <a:r>
              <a:rPr dirty="0" err="1"/>
              <a:t>многоугольник</a:t>
            </a:r>
            <a:r>
              <a:rPr dirty="0"/>
              <a:t> </a:t>
            </a:r>
            <a:r>
              <a:rPr dirty="0" err="1"/>
              <a:t>конкурентоспособности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731520" y="2148840"/>
            <a:ext cx="539496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96112" y="2258568"/>
            <a:ext cx="5065776" cy="27432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Команда из 6 участников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2624328"/>
            <a:ext cx="5065776" cy="107106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100" b="0">
                <a:solidFill>
                  <a:srgbClr val="0F172A"/>
                </a:solidFill>
              </a:defRPr>
            </a:pPr>
            <a:r>
              <a:rPr dirty="0" err="1"/>
              <a:t>Участник</a:t>
            </a:r>
            <a:r>
              <a:rPr dirty="0"/>
              <a:t> 1 — </a:t>
            </a:r>
            <a:r>
              <a:rPr lang="ru-RU" dirty="0"/>
              <a:t>Зубарев В.С.</a:t>
            </a:r>
            <a:br>
              <a:rPr dirty="0"/>
            </a:br>
            <a:r>
              <a:rPr dirty="0" err="1"/>
              <a:t>Участник</a:t>
            </a:r>
            <a:r>
              <a:rPr dirty="0"/>
              <a:t> 2 — </a:t>
            </a:r>
            <a:r>
              <a:rPr lang="ru-RU" dirty="0"/>
              <a:t>Хохлов А.И</a:t>
            </a:r>
            <a:br>
              <a:rPr dirty="0"/>
            </a:br>
            <a:r>
              <a:rPr dirty="0" err="1"/>
              <a:t>Участник</a:t>
            </a:r>
            <a:r>
              <a:rPr dirty="0"/>
              <a:t> 3 — </a:t>
            </a:r>
            <a:r>
              <a:rPr lang="ru-RU" dirty="0" err="1"/>
              <a:t>Тыртышный</a:t>
            </a:r>
            <a:r>
              <a:rPr lang="ru-RU" dirty="0"/>
              <a:t> С.Д.</a:t>
            </a:r>
            <a:br>
              <a:rPr dirty="0"/>
            </a:br>
            <a:r>
              <a:rPr dirty="0" err="1"/>
              <a:t>Участник</a:t>
            </a:r>
            <a:r>
              <a:rPr dirty="0"/>
              <a:t> 4 — </a:t>
            </a:r>
            <a:r>
              <a:rPr lang="ru-RU" dirty="0" err="1"/>
              <a:t>Белослудцев</a:t>
            </a:r>
            <a:r>
              <a:rPr lang="ru-RU" dirty="0"/>
              <a:t> И.А.</a:t>
            </a:r>
            <a:br>
              <a:rPr dirty="0"/>
            </a:br>
            <a:r>
              <a:rPr dirty="0" err="1"/>
              <a:t>Участник</a:t>
            </a:r>
            <a:r>
              <a:rPr dirty="0"/>
              <a:t> 5 — </a:t>
            </a:r>
            <a:r>
              <a:rPr lang="ru-RU" dirty="0" err="1"/>
              <a:t>Рыженин</a:t>
            </a:r>
            <a:r>
              <a:rPr lang="ru-RU" dirty="0"/>
              <a:t> А.А</a:t>
            </a:r>
            <a:br>
              <a:rPr dirty="0"/>
            </a:br>
            <a:r>
              <a:rPr dirty="0" err="1"/>
              <a:t>Участник</a:t>
            </a:r>
            <a:r>
              <a:rPr dirty="0"/>
              <a:t> 6 — </a:t>
            </a:r>
            <a:r>
              <a:rPr lang="ru-RU" dirty="0"/>
              <a:t>Савченков К.В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6492240" y="2148840"/>
            <a:ext cx="489204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56831" y="2258568"/>
            <a:ext cx="4562855" cy="27432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Объект исследования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56831" y="2624328"/>
            <a:ext cx="4562855" cy="226771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100" b="0">
                <a:solidFill>
                  <a:srgbClr val="0F172A"/>
                </a:solidFill>
              </a:defRPr>
            </a:pPr>
            <a:r>
              <a:rPr dirty="0"/>
              <a:t>ООО «</a:t>
            </a:r>
            <a:r>
              <a:rPr dirty="0" err="1"/>
              <a:t>Текнолоджи</a:t>
            </a:r>
            <a:r>
              <a:rPr dirty="0"/>
              <a:t> </a:t>
            </a:r>
            <a:r>
              <a:rPr dirty="0" err="1"/>
              <a:t>Сервис</a:t>
            </a:r>
            <a:r>
              <a:rPr dirty="0"/>
              <a:t> </a:t>
            </a:r>
            <a:r>
              <a:rPr dirty="0" err="1"/>
              <a:t>Плюс</a:t>
            </a:r>
            <a:r>
              <a:rPr dirty="0"/>
              <a:t>» и </a:t>
            </a:r>
            <a:r>
              <a:rPr dirty="0" err="1"/>
              <a:t>два</a:t>
            </a:r>
            <a:r>
              <a:rPr dirty="0"/>
              <a:t> </a:t>
            </a:r>
            <a:r>
              <a:rPr dirty="0" err="1"/>
              <a:t>ближайших</a:t>
            </a:r>
            <a:r>
              <a:rPr dirty="0"/>
              <a:t> </a:t>
            </a:r>
            <a:r>
              <a:rPr dirty="0" err="1"/>
              <a:t>конкурента</a:t>
            </a:r>
            <a:r>
              <a:rPr dirty="0"/>
              <a:t>. </a:t>
            </a:r>
            <a:r>
              <a:rPr dirty="0" err="1"/>
              <a:t>Цель</a:t>
            </a:r>
            <a:r>
              <a:rPr dirty="0"/>
              <a:t> — </a:t>
            </a:r>
            <a:r>
              <a:rPr dirty="0" err="1"/>
              <a:t>выбрать</a:t>
            </a:r>
            <a:r>
              <a:rPr dirty="0"/>
              <a:t> </a:t>
            </a:r>
            <a:r>
              <a:rPr dirty="0" err="1"/>
              <a:t>товарную</a:t>
            </a:r>
            <a:r>
              <a:rPr dirty="0"/>
              <a:t> </a:t>
            </a:r>
            <a:r>
              <a:rPr dirty="0" err="1"/>
              <a:t>категорию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маркетинговых</a:t>
            </a:r>
            <a:r>
              <a:rPr dirty="0"/>
              <a:t> </a:t>
            </a:r>
            <a:r>
              <a:rPr dirty="0" err="1"/>
              <a:t>мероприятий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основе</a:t>
            </a:r>
            <a:r>
              <a:rPr dirty="0"/>
              <a:t> </a:t>
            </a:r>
            <a:r>
              <a:rPr dirty="0" err="1"/>
              <a:t>данных</a:t>
            </a:r>
            <a:r>
              <a:rPr dirty="0"/>
              <a:t> </a:t>
            </a:r>
            <a:r>
              <a:rPr dirty="0" err="1"/>
              <a:t>продаж</a:t>
            </a:r>
            <a:r>
              <a:rPr dirty="0"/>
              <a:t> и </a:t>
            </a:r>
            <a:r>
              <a:rPr dirty="0" err="1"/>
              <a:t>экспертной</a:t>
            </a:r>
            <a:r>
              <a:rPr dirty="0"/>
              <a:t> </a:t>
            </a:r>
            <a:r>
              <a:rPr dirty="0" err="1"/>
              <a:t>оценки</a:t>
            </a:r>
            <a:r>
              <a:rPr dirty="0"/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126480"/>
            <a:ext cx="10972800" cy="209288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000" b="0">
                <a:solidFill>
                  <a:srgbClr val="64748B"/>
                </a:solidFill>
              </a:defRPr>
            </a:pPr>
            <a:r>
              <a:rPr lang="ru-RU" dirty="0"/>
              <a:t>РТУ МИРЭА, 2026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Проблема, цель и логика решения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143000"/>
            <a:ext cx="35661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4671" y="1252728"/>
            <a:ext cx="3236976" cy="27432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Проблема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1" y="1618488"/>
            <a:ext cx="3236976" cy="391363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100" b="0">
                <a:solidFill>
                  <a:srgbClr val="0F172A"/>
                </a:solidFill>
              </a:defRPr>
            </a:pPr>
            <a:r>
              <a:t>Ассортимент и ценовая политика компании схожи с конкурентами. Из-за насыщения рынка и снижения покупательной способности возникает риск падения продаж.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143000"/>
            <a:ext cx="35661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99431" y="1252728"/>
            <a:ext cx="3236976" cy="27432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Цель решения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99431" y="1618488"/>
            <a:ext cx="3236976" cy="391363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100" b="0">
                <a:solidFill>
                  <a:srgbClr val="0F172A"/>
                </a:solidFill>
              </a:defRPr>
            </a:pPr>
            <a:r>
              <a:t>Определить наиболее перспективный продукт для проведения маркетинговых мероприятий и роста выручки.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143000"/>
            <a:ext cx="32918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94192" y="1252728"/>
            <a:ext cx="2962656" cy="27432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Методы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94192" y="1618488"/>
            <a:ext cx="2962656" cy="391363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100" b="0">
                <a:solidFill>
                  <a:srgbClr val="0F172A"/>
                </a:solidFill>
              </a:defRPr>
            </a:pPr>
            <a:r>
              <a:t>1) ABC-анализ по выручке</a:t>
            </a:r>
            <a:br/>
            <a:r>
              <a:t>2) XYZ-анализ по стабильности спроса</a:t>
            </a:r>
            <a:br/>
            <a:r>
              <a:t>3) экспертная оценка критериев 6 участниками</a:t>
            </a:r>
            <a:br/>
            <a:r>
              <a:t>4) многоугольник конкурентоспособности</a:t>
            </a:r>
            <a:br/>
            <a:r>
              <a:t>5) выбор маркетинговых мероприятий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Матрица ответственности команды из 6 участников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4980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R — выполняет, A — отвечает за результат, C — консультирует, I — информируется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8824899"/>
              </p:ext>
            </p:extLst>
          </p:nvPr>
        </p:nvGraphicFramePr>
        <p:xfrm>
          <a:off x="365760" y="1051560"/>
          <a:ext cx="10835640" cy="534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68655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F172A"/>
                          </a:solidFill>
                        </a:defRPr>
                      </a:pPr>
                      <a:r>
                        <a:rPr sz="1400" dirty="0" err="1"/>
                        <a:t>Этап</a:t>
                      </a:r>
                      <a:r>
                        <a:rPr sz="1400" dirty="0"/>
                        <a:t> / </a:t>
                      </a:r>
                      <a:r>
                        <a:rPr sz="1400" dirty="0" err="1"/>
                        <a:t>роль</a:t>
                      </a:r>
                      <a:endParaRPr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У1 Руководитель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У2 Рынок</a:t>
                      </a:r>
                    </a:p>
                  </a:txBody>
                  <a:tcPr marL="36576" marR="36576" marT="18288" marB="18288"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У3 Конкуренты</a:t>
                      </a:r>
                    </a:p>
                  </a:txBody>
                  <a:tcPr marL="36576" marR="36576" marT="18288" marB="18288"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У4 Продажи</a:t>
                      </a:r>
                    </a:p>
                  </a:txBody>
                  <a:tcPr marL="36576" marR="36576" marT="18288" marB="18288"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У5 ABC-XYZ</a:t>
                      </a:r>
                    </a:p>
                  </a:txBody>
                  <a:tcPr marL="36576" marR="36576" marT="18288" marB="18288"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У6 Презентация</a:t>
                      </a:r>
                    </a:p>
                  </a:txBody>
                  <a:tcPr marL="36576" marR="36576" marT="18288" marB="18288" anchor="ctr">
                    <a:solidFill>
                      <a:srgbClr val="DB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8655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Формулировка проблемы</a:t>
                      </a:r>
                    </a:p>
                  </a:txBody>
                  <a:tcPr marL="36576" marR="36576" marT="18288" marB="18288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A/R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C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C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C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C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I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8655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Сбор и проверка данных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A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C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C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R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R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I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8655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ABC-XYZ-анализ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A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I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C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R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R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I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8655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Выбор продуктов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A/R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C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C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C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C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I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8655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Экспертная оценка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A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R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R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R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R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R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8655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Маркетинговые меры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A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R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R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C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C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I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68655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Подготовка презентации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A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C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C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C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C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400" dirty="0"/>
                        <a:t>R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ABC-XYZ-анализ компании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8199031"/>
              </p:ext>
            </p:extLst>
          </p:nvPr>
        </p:nvGraphicFramePr>
        <p:xfrm>
          <a:off x="320040" y="914400"/>
          <a:ext cx="6400800" cy="5577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07076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0F172A"/>
                          </a:solidFill>
                        </a:defRPr>
                      </a:pPr>
                      <a:r>
                        <a:rPr sz="1400" dirty="0" err="1"/>
                        <a:t>Категория</a:t>
                      </a:r>
                      <a:endParaRPr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Выручка, млн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Доля,%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Накопл.,%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ABC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V,%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XYZ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7076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0F172A"/>
                          </a:solidFill>
                        </a:defRPr>
                      </a:pPr>
                      <a:r>
                        <a:rPr sz="1400" dirty="0" err="1"/>
                        <a:t>Стиральные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машины</a:t>
                      </a:r>
                      <a:endParaRPr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34.1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20.8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20.8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A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33.7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Z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7076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0F172A"/>
                          </a:solidFill>
                        </a:defRPr>
                      </a:pPr>
                      <a:r>
                        <a:rPr sz="1400" dirty="0" err="1"/>
                        <a:t>Телевизоры</a:t>
                      </a:r>
                      <a:endParaRPr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0F172A"/>
                          </a:solidFill>
                        </a:defRPr>
                      </a:pPr>
                      <a:r>
                        <a:rPr sz="1400" dirty="0"/>
                        <a:t>32.6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19.9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40.8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A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5.2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X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7076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Ноутбуки для офиса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0F172A"/>
                          </a:solidFill>
                        </a:defRPr>
                      </a:pPr>
                      <a:r>
                        <a:rPr sz="1400" dirty="0"/>
                        <a:t>25.5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15.6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56.4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A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4.6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X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7076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0F172A"/>
                          </a:solidFill>
                        </a:defRPr>
                      </a:pPr>
                      <a:r>
                        <a:rPr sz="1400" dirty="0" err="1"/>
                        <a:t>Смартфоны</a:t>
                      </a:r>
                      <a:endParaRPr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0F172A"/>
                          </a:solidFill>
                        </a:defRPr>
                      </a:pPr>
                      <a:r>
                        <a:rPr sz="1400" dirty="0"/>
                        <a:t>25.0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15.3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71.7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A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8.5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X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7076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0F172A"/>
                          </a:solidFill>
                        </a:defRPr>
                      </a:pPr>
                      <a:r>
                        <a:rPr sz="1400" dirty="0" err="1"/>
                        <a:t>Холодильники</a:t>
                      </a:r>
                      <a:endParaRPr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14.7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0F172A"/>
                          </a:solidFill>
                        </a:defRPr>
                      </a:pPr>
                      <a:r>
                        <a:rPr sz="1400" dirty="0"/>
                        <a:t>9.0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80.6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B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11.0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Y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7076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Ноутбуки Apple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0F172A"/>
                          </a:solidFill>
                        </a:defRPr>
                      </a:pPr>
                      <a:r>
                        <a:rPr sz="1400" dirty="0"/>
                        <a:t>14.3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0F172A"/>
                          </a:solidFill>
                        </a:defRPr>
                      </a:pPr>
                      <a:r>
                        <a:rPr sz="1400" dirty="0"/>
                        <a:t>8.7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0F172A"/>
                          </a:solidFill>
                        </a:defRPr>
                      </a:pPr>
                      <a:r>
                        <a:rPr sz="1400" dirty="0"/>
                        <a:t>89.4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B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6.9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X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7076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Комбайны кухонные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8.6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5.3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0F172A"/>
                          </a:solidFill>
                        </a:defRPr>
                      </a:pPr>
                      <a:r>
                        <a:rPr sz="1400" dirty="0"/>
                        <a:t>94.6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B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27.6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Z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7076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Парогенераторы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4.0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2.4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97.1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0F172A"/>
                          </a:solidFill>
                        </a:defRPr>
                      </a:pPr>
                      <a:r>
                        <a:rPr sz="1400" dirty="0"/>
                        <a:t>C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65.7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Z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07076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Кофемашины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3.8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2.3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99.4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0F172A"/>
                          </a:solidFill>
                        </a:defRPr>
                      </a:pPr>
                      <a:r>
                        <a:rPr sz="1400" dirty="0"/>
                        <a:t>C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0F172A"/>
                          </a:solidFill>
                        </a:defRPr>
                      </a:pPr>
                      <a:r>
                        <a:rPr sz="1400" dirty="0"/>
                        <a:t>13.3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Y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07080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Приставки игровые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1.0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0.6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100.0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C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0F172A"/>
                          </a:solidFill>
                        </a:defRPr>
                      </a:pPr>
                      <a:r>
                        <a:rPr sz="1400" dirty="0"/>
                        <a:t>11.8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0F172A"/>
                          </a:solidFill>
                        </a:defRPr>
                      </a:pPr>
                      <a:r>
                        <a:rPr sz="1400" dirty="0"/>
                        <a:t>Y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8503920" y="1005840"/>
            <a:ext cx="3154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68512" y="1115568"/>
            <a:ext cx="2825496" cy="27432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300" b="1">
                <a:solidFill>
                  <a:srgbClr val="16A34A"/>
                </a:solidFill>
              </a:defRPr>
            </a:pPr>
            <a:r>
              <a:t>Главный вывод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68512" y="1481328"/>
            <a:ext cx="2825496" cy="75895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100" b="0">
                <a:solidFill>
                  <a:srgbClr val="0F172A"/>
                </a:solidFill>
              </a:defRPr>
            </a:pPr>
            <a:r>
              <a:t>Группа AX у компании: телевизоры, ноутбуки для офиса, смартфоны. Это продукты с высокой выручкой и устойчивым спросом.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03920" y="2560320"/>
            <a:ext cx="3154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68512" y="2670048"/>
            <a:ext cx="2825496" cy="27432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300" b="1">
                <a:solidFill>
                  <a:srgbClr val="EA580C"/>
                </a:solidFill>
              </a:defRPr>
            </a:pPr>
            <a:r>
              <a:t>Рисковая зона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68512" y="3035808"/>
            <a:ext cx="2825496" cy="75895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100" b="0">
                <a:solidFill>
                  <a:srgbClr val="0F172A"/>
                </a:solidFill>
              </a:defRPr>
            </a:pPr>
            <a:r>
              <a:t>Стиральные машины дают максимальную выручку, но относятся к AZ: высокий вклад при нестабильном спросе.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03920" y="4114800"/>
            <a:ext cx="31546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68512" y="4224528"/>
            <a:ext cx="2825496" cy="27432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Кандидаты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68512" y="4590288"/>
            <a:ext cx="2825496" cy="57607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100" b="0">
                <a:solidFill>
                  <a:srgbClr val="0F172A"/>
                </a:solidFill>
              </a:defRPr>
            </a:pPr>
            <a:r>
              <a:t>Для дальнейшей оценки выбраны 4 продукта: телевизоры, офисные ноутбуки, смартфоны и холодильники.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Сравнение с конкурентами: ключевые зоны конкуренции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9879080"/>
              </p:ext>
            </p:extLst>
          </p:nvPr>
        </p:nvGraphicFramePr>
        <p:xfrm>
          <a:off x="411480" y="1051560"/>
          <a:ext cx="1001268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6344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F172A"/>
                          </a:solidFill>
                        </a:defRPr>
                      </a:pPr>
                      <a:r>
                        <a:rPr sz="1200" dirty="0" err="1"/>
                        <a:t>Продукт</a:t>
                      </a:r>
                      <a:endParaRPr sz="12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F172A"/>
                          </a:solidFill>
                        </a:defRPr>
                      </a:pPr>
                      <a:r>
                        <a:rPr sz="1200"/>
                        <a:t>Компания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F172A"/>
                          </a:solidFill>
                        </a:defRPr>
                      </a:pPr>
                      <a:r>
                        <a:rPr sz="1200"/>
                        <a:t>Конкурент 1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F172A"/>
                          </a:solidFill>
                        </a:defRPr>
                      </a:pPr>
                      <a:r>
                        <a:rPr sz="1200"/>
                        <a:t>Конкурент 2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F172A"/>
                          </a:solidFill>
                        </a:defRPr>
                      </a:pPr>
                      <a:r>
                        <a:rPr sz="1200"/>
                        <a:t>Вывод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200" dirty="0" err="1"/>
                        <a:t>Телевизоры</a:t>
                      </a:r>
                      <a:endParaRPr sz="12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200" dirty="0"/>
                        <a:t>32.6 </a:t>
                      </a:r>
                      <a:r>
                        <a:rPr sz="1200" dirty="0" err="1"/>
                        <a:t>млн</a:t>
                      </a:r>
                      <a:r>
                        <a:rPr sz="1200" dirty="0"/>
                        <a:t> / AX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200"/>
                        <a:t>3.6 млн / CY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200"/>
                        <a:t>2.6 млн / CX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200"/>
                        <a:t>сохранять лидерство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200"/>
                        <a:t>Ноутбуки для офиса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200"/>
                        <a:t>25.5 млн / AX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200" dirty="0"/>
                        <a:t>34.1 </a:t>
                      </a:r>
                      <a:r>
                        <a:rPr sz="1200" dirty="0" err="1"/>
                        <a:t>млн</a:t>
                      </a:r>
                      <a:r>
                        <a:rPr sz="1200" dirty="0"/>
                        <a:t> / AZ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200" dirty="0"/>
                        <a:t>38.5 </a:t>
                      </a:r>
                      <a:r>
                        <a:rPr sz="1200" dirty="0" err="1"/>
                        <a:t>млн</a:t>
                      </a:r>
                      <a:r>
                        <a:rPr sz="1200" dirty="0"/>
                        <a:t> / AX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200"/>
                        <a:t>усилить позиции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200"/>
                        <a:t>Смартфоны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200"/>
                        <a:t>25.0 млн / AX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200"/>
                        <a:t>4.7 млн / BY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200" dirty="0"/>
                        <a:t>3.8 </a:t>
                      </a:r>
                      <a:r>
                        <a:rPr sz="1200" dirty="0" err="1"/>
                        <a:t>млн</a:t>
                      </a:r>
                      <a:r>
                        <a:rPr sz="1200" dirty="0"/>
                        <a:t> / CZ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200" dirty="0" err="1"/>
                        <a:t>сохранять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лидерство</a:t>
                      </a:r>
                      <a:endParaRPr sz="12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200"/>
                        <a:t>Холодильники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200"/>
                        <a:t>14.7 млн / BY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200"/>
                        <a:t>6.7 млн / BZ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200"/>
                        <a:t>19.5 млн / AX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200" dirty="0" err="1"/>
                        <a:t>усилить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позиции</a:t>
                      </a:r>
                      <a:endParaRPr sz="12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4" name="Picture 3" descr="revenue_sele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657600"/>
            <a:ext cx="5212080" cy="256692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309360" y="3703320"/>
            <a:ext cx="507492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73952" y="3813048"/>
            <a:ext cx="4745736" cy="27432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Выбор 3–4 продуктов для маркетингового анализа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73952" y="4178808"/>
            <a:ext cx="4745736" cy="112471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100" b="0">
                <a:solidFill>
                  <a:srgbClr val="0F172A"/>
                </a:solidFill>
              </a:defRPr>
            </a:pPr>
            <a:r>
              <a:t>• Телевизоры — высокий вклад, стабильный спрос, сильная позиция против конкурентов.</a:t>
            </a:r>
            <a:br/>
            <a:r>
              <a:t>• Ноутбуки для офиса — стабильная категория, но конкуренты сильны.</a:t>
            </a:r>
            <a:br/>
            <a:r>
              <a:t>• Смартфоны — сильное положение компании при устойчивом спросе.</a:t>
            </a:r>
            <a:br/>
            <a:r>
              <a:t>• Холодильники — значимый оборот, но ниже приоритет.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Критерии и коэффициенты значимости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4980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Коэффициенты получены по экспертным оценкам 6 участников по 10-балльной шкале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97864"/>
              </p:ext>
            </p:extLst>
          </p:nvPr>
        </p:nvGraphicFramePr>
        <p:xfrm>
          <a:off x="548640" y="1051560"/>
          <a:ext cx="56692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F172A"/>
                          </a:solidFill>
                        </a:defRPr>
                      </a:pPr>
                      <a:r>
                        <a:rPr sz="1400" dirty="0" err="1"/>
                        <a:t>Критерий</a:t>
                      </a:r>
                      <a:endParaRPr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Вес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Смысл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400" dirty="0" err="1"/>
                        <a:t>Финансовый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вклад</a:t>
                      </a:r>
                      <a:endParaRPr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400" dirty="0"/>
                        <a:t>0.237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вклад продукта в выручку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Стабильность спроса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400" dirty="0"/>
                        <a:t>0.228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400" dirty="0" err="1"/>
                        <a:t>устойчивость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продаж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по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кварталам</a:t>
                      </a:r>
                      <a:endParaRPr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Конкурентная позиция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0.191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400" dirty="0" err="1"/>
                        <a:t>сила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позиции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компании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относительно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конкурентов</a:t>
                      </a:r>
                      <a:endParaRPr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Маркетинговый потенциал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0.191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400" dirty="0" err="1"/>
                        <a:t>возможность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быстро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усилить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продажи</a:t>
                      </a:r>
                      <a:endParaRPr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Низкий риск остатков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0.153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400" dirty="0" err="1"/>
                        <a:t>вероятность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не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получить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складские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излишки</a:t>
                      </a:r>
                      <a:endParaRPr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5" name="Picture 4" descr="weigh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79" y="914400"/>
            <a:ext cx="4910327" cy="233737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94360" y="4343400"/>
            <a:ext cx="53949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4453128"/>
            <a:ext cx="5065776" cy="27432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300" b="1">
                <a:solidFill>
                  <a:srgbClr val="16A34A"/>
                </a:solidFill>
              </a:defRPr>
            </a:pPr>
            <a:r>
              <a:t>Согласованность экспертной группы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4818888"/>
            <a:ext cx="5065776" cy="53035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100" b="0">
                <a:solidFill>
                  <a:srgbClr val="0F172A"/>
                </a:solidFill>
              </a:defRPr>
            </a:pPr>
            <a:r>
              <a:t>Коэффициент конкордации Кендалла W = 0,871. Это высокая согласованность мнений участников, поэтому веса можно считать пригодными для итоговой оценки.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4343400"/>
            <a:ext cx="52120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73952" y="4453128"/>
            <a:ext cx="4882896" cy="27432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Приоритеты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4818888"/>
            <a:ext cx="4882896" cy="53035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100" b="0">
                <a:solidFill>
                  <a:srgbClr val="0F172A"/>
                </a:solidFill>
              </a:defRPr>
            </a:pPr>
            <a:r>
              <a:t>Наиболее значимы: финансовый вклад, стабильность спроса и конкурентная позиция. Эти критерии напрямую связаны с возможностью увеличить выручку.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Экспертные оценки критериев: 6 участников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9389557"/>
              </p:ext>
            </p:extLst>
          </p:nvPr>
        </p:nvGraphicFramePr>
        <p:xfrm>
          <a:off x="365760" y="914400"/>
          <a:ext cx="11018520" cy="3361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719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F172A"/>
                          </a:solidFill>
                        </a:defRPr>
                      </a:pPr>
                      <a:r>
                        <a:rPr sz="1400" dirty="0" err="1"/>
                        <a:t>Эксперт</a:t>
                      </a:r>
                      <a:endParaRPr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Финансовый вклад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Стабильность спроса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Конкурентная позиция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Маркетинговый потенциал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Низкий риск остатков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Сумма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lang="ru-RU" sz="1400" dirty="0"/>
                        <a:t>Зубарев В.С</a:t>
                      </a:r>
                      <a:endParaRPr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400" dirty="0"/>
                        <a:t>10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9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8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8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6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41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lang="ru-RU" sz="1400" dirty="0"/>
                        <a:t>Савченков К.В</a:t>
                      </a:r>
                      <a:endParaRPr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9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400" dirty="0"/>
                        <a:t>10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8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7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6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40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lang="ru-RU" sz="1400" dirty="0"/>
                        <a:t>Хохлов А.И.</a:t>
                      </a:r>
                      <a:endParaRPr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10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400" dirty="0"/>
                        <a:t>9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400" dirty="0"/>
                        <a:t>7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8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6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40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lang="ru-RU" sz="1400" dirty="0" err="1"/>
                        <a:t>Белослудцев</a:t>
                      </a:r>
                      <a:r>
                        <a:rPr lang="ru-RU" sz="1400" dirty="0"/>
                        <a:t> И.А</a:t>
                      </a:r>
                      <a:endParaRPr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9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9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8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400" dirty="0"/>
                        <a:t>8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7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41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lang="ru-RU" sz="1400" dirty="0" err="1"/>
                        <a:t>Рыженин</a:t>
                      </a:r>
                      <a:r>
                        <a:rPr lang="ru-RU" sz="1400" dirty="0"/>
                        <a:t> А.А</a:t>
                      </a:r>
                      <a:endParaRPr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10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8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8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400" dirty="0"/>
                        <a:t>7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400" dirty="0"/>
                        <a:t>6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39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lang="ru-RU" sz="1400" dirty="0" err="1"/>
                        <a:t>Тыртышный</a:t>
                      </a:r>
                      <a:r>
                        <a:rPr lang="ru-RU" sz="1400" dirty="0"/>
                        <a:t> С.Д.</a:t>
                      </a:r>
                      <a:endParaRPr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9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10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7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8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400" dirty="0"/>
                        <a:t>6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400" dirty="0"/>
                        <a:t>40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Среднее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9.5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9.2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7.7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7.7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6.2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400" dirty="0"/>
                        <a:t>—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731520" y="4297680"/>
            <a:ext cx="3429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96112" y="4407408"/>
            <a:ext cx="3099816" cy="27432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Как считались веса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4773168"/>
            <a:ext cx="3099816" cy="85039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100" b="0">
                <a:solidFill>
                  <a:srgbClr val="0F172A"/>
                </a:solidFill>
              </a:defRPr>
            </a:pPr>
            <a:r>
              <a:rPr dirty="0" err="1"/>
              <a:t>Каждый</a:t>
            </a:r>
            <a:r>
              <a:rPr dirty="0"/>
              <a:t> </a:t>
            </a:r>
            <a:r>
              <a:rPr dirty="0" err="1"/>
              <a:t>участник</a:t>
            </a:r>
            <a:r>
              <a:rPr dirty="0"/>
              <a:t> </a:t>
            </a:r>
            <a:r>
              <a:rPr dirty="0" err="1"/>
              <a:t>дал</a:t>
            </a:r>
            <a:r>
              <a:rPr dirty="0"/>
              <a:t> </a:t>
            </a:r>
            <a:r>
              <a:rPr dirty="0" err="1"/>
              <a:t>критериям</a:t>
            </a:r>
            <a:r>
              <a:rPr dirty="0"/>
              <a:t> </a:t>
            </a:r>
            <a:r>
              <a:rPr dirty="0" err="1"/>
              <a:t>оценку</a:t>
            </a:r>
            <a:r>
              <a:rPr dirty="0"/>
              <a:t> 1–10. </a:t>
            </a:r>
            <a:r>
              <a:rPr dirty="0" err="1"/>
              <a:t>Затем</a:t>
            </a:r>
            <a:r>
              <a:rPr dirty="0"/>
              <a:t> </a:t>
            </a:r>
            <a:r>
              <a:rPr dirty="0" err="1"/>
              <a:t>оценки</a:t>
            </a:r>
            <a:r>
              <a:rPr dirty="0"/>
              <a:t> </a:t>
            </a:r>
            <a:r>
              <a:rPr dirty="0" err="1"/>
              <a:t>нормированы</a:t>
            </a:r>
            <a:r>
              <a:rPr dirty="0"/>
              <a:t> </a:t>
            </a:r>
            <a:r>
              <a:rPr dirty="0" err="1"/>
              <a:t>внутри</a:t>
            </a:r>
            <a:r>
              <a:rPr dirty="0"/>
              <a:t> </a:t>
            </a:r>
            <a:r>
              <a:rPr dirty="0" err="1"/>
              <a:t>строки</a:t>
            </a:r>
            <a:r>
              <a:rPr dirty="0"/>
              <a:t>, </a:t>
            </a: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чего</a:t>
            </a:r>
            <a:r>
              <a:rPr dirty="0"/>
              <a:t> </a:t>
            </a:r>
            <a:r>
              <a:rPr dirty="0" err="1"/>
              <a:t>найдено</a:t>
            </a:r>
            <a:r>
              <a:rPr dirty="0"/>
              <a:t> </a:t>
            </a:r>
            <a:r>
              <a:rPr dirty="0" err="1"/>
              <a:t>среднее</a:t>
            </a:r>
            <a:r>
              <a:rPr dirty="0"/>
              <a:t> </a:t>
            </a:r>
            <a:r>
              <a:rPr dirty="0" err="1"/>
              <a:t>значение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6 </a:t>
            </a:r>
            <a:r>
              <a:rPr dirty="0" err="1"/>
              <a:t>участникам</a:t>
            </a:r>
            <a:r>
              <a:rPr dirty="0"/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4297680"/>
            <a:ext cx="3429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99431" y="4407408"/>
            <a:ext cx="3099816" cy="27432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Проверка согласованности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9431" y="4773168"/>
            <a:ext cx="3099816" cy="85039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100" b="0">
                <a:solidFill>
                  <a:srgbClr val="0F172A"/>
                </a:solidFill>
              </a:defRPr>
            </a:pPr>
            <a:r>
              <a:t>По рангам критериев рассчитан W Кендалла. Значение 0,871 &gt; 0,7 означает высокую согласованность.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4297680"/>
            <a:ext cx="32461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02752" y="4407408"/>
            <a:ext cx="2916936" cy="27432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300" b="1">
                <a:solidFill>
                  <a:srgbClr val="16A34A"/>
                </a:solidFill>
              </a:defRPr>
            </a:pPr>
            <a:r>
              <a:t>Результат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2752" y="4773168"/>
            <a:ext cx="2916936" cy="85039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100" b="0">
                <a:solidFill>
                  <a:srgbClr val="0F172A"/>
                </a:solidFill>
              </a:defRPr>
            </a:pPr>
            <a:r>
              <a:t>Группа может использовать усреднённые веса для расчёта итоговой конкурентоспособности продуктов.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Оценка выбранных категорий с учётом значимости критериев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8961805"/>
              </p:ext>
            </p:extLst>
          </p:nvPr>
        </p:nvGraphicFramePr>
        <p:xfrm>
          <a:off x="320040" y="914400"/>
          <a:ext cx="10561320" cy="2255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48056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F172A"/>
                          </a:solidFill>
                        </a:defRPr>
                      </a:pPr>
                      <a:r>
                        <a:rPr sz="1400" dirty="0" err="1"/>
                        <a:t>Продукт</a:t>
                      </a:r>
                      <a:endParaRPr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Финансовый вклад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Стабильность спроса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Конкурентная позиция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Маркетинговый потенциал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Низкий риск остатков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Итог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400" dirty="0" err="1"/>
                        <a:t>Телевизоры</a:t>
                      </a:r>
                      <a:endParaRPr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9.5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10.0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9.5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8.0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9.0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9.25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Ноутбуки для офиса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400" dirty="0"/>
                        <a:t>8.5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9.5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7.0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9.5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9.0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8.71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Смартфоны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8.2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400" dirty="0"/>
                        <a:t>9.0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400" dirty="0"/>
                        <a:t>9.0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8.5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8.0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8.56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Холодильники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6.5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7.0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6.0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400" dirty="0"/>
                        <a:t>6.5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400" dirty="0"/>
                        <a:t>7.0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rPr sz="1400" dirty="0"/>
                        <a:t>6.60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4" name="Picture 3" descr="product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520440"/>
            <a:ext cx="5166360" cy="254440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309360" y="3566160"/>
            <a:ext cx="50749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73952" y="3675887"/>
            <a:ext cx="4745736" cy="27432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300" b="1">
                <a:solidFill>
                  <a:srgbClr val="16A34A"/>
                </a:solidFill>
              </a:defRPr>
            </a:pPr>
            <a:r>
              <a:t>Выбор продукта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73952" y="4041648"/>
            <a:ext cx="4745736" cy="126187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100" b="0">
                <a:solidFill>
                  <a:srgbClr val="0F172A"/>
                </a:solidFill>
              </a:defRPr>
            </a:pPr>
            <a:r>
              <a:t>Наибольший итоговый балл получили телевизоры — 9,25. Категория сочетает высокую выручку, устойчивый спрос, сильную конкурентную позицию и низкий риск складских остатков.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8160" y="178307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Многоугольник конкурентоспособности</a:t>
            </a:r>
          </a:p>
        </p:txBody>
      </p:sp>
      <p:pic>
        <p:nvPicPr>
          <p:cNvPr id="3" name="Picture 2" descr="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960120"/>
            <a:ext cx="6530490" cy="5257800"/>
          </a:xfrm>
          <a:prstGeom prst="rect">
            <a:avLst/>
          </a:prstGeom>
        </p:spPr>
      </p:pic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0AAC98B3-004D-4DA3-BB95-F1A4EEB42D75}"/>
              </a:ext>
            </a:extLst>
          </p:cNvPr>
          <p:cNvGrpSpPr/>
          <p:nvPr/>
        </p:nvGrpSpPr>
        <p:grpSpPr>
          <a:xfrm>
            <a:off x="7170570" y="1026413"/>
            <a:ext cx="4709160" cy="1143000"/>
            <a:chOff x="6675120" y="1051560"/>
            <a:chExt cx="4709160" cy="1143000"/>
          </a:xfrm>
        </p:grpSpPr>
        <p:sp>
          <p:nvSpPr>
            <p:cNvPr id="4" name="Rounded Rectangle 3"/>
            <p:cNvSpPr/>
            <p:nvPr/>
          </p:nvSpPr>
          <p:spPr>
            <a:xfrm>
              <a:off x="6675120" y="1051560"/>
              <a:ext cx="4709160" cy="11430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13" name="Группа 12">
              <a:extLst>
                <a:ext uri="{FF2B5EF4-FFF2-40B4-BE49-F238E27FC236}">
                  <a16:creationId xmlns:a16="http://schemas.microsoft.com/office/drawing/2014/main" id="{53CE9834-9F81-4DB0-B8A6-C41F0AAE3583}"/>
                </a:ext>
              </a:extLst>
            </p:cNvPr>
            <p:cNvGrpSpPr/>
            <p:nvPr/>
          </p:nvGrpSpPr>
          <p:grpSpPr>
            <a:xfrm>
              <a:off x="6839712" y="1161288"/>
              <a:ext cx="4379976" cy="941832"/>
              <a:chOff x="6839712" y="1161288"/>
              <a:chExt cx="4379976" cy="941832"/>
            </a:xfrm>
          </p:grpSpPr>
          <p:sp>
            <p:nvSpPr>
              <p:cNvPr id="5" name="TextBox 4"/>
              <p:cNvSpPr txBox="1"/>
              <p:nvPr/>
            </p:nvSpPr>
            <p:spPr>
              <a:xfrm>
                <a:off x="6839712" y="1161288"/>
                <a:ext cx="4379976" cy="274320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spAutoFit/>
              </a:bodyPr>
              <a:lstStyle/>
              <a:p>
                <a:pPr>
                  <a:defRPr sz="1300" b="1">
                    <a:solidFill>
                      <a:srgbClr val="2563EB"/>
                    </a:solidFill>
                  </a:defRPr>
                </a:pPr>
                <a:r>
                  <a:t>Интерпретация</a:t>
                </a:r>
              </a:p>
            </p:txBody>
          </p:sp>
          <p:sp>
            <p:nvSpPr>
              <p:cNvPr id="6" name="TextBox 5"/>
              <p:cNvSpPr txBox="1"/>
              <p:nvPr/>
            </p:nvSpPr>
            <p:spPr>
              <a:xfrm>
                <a:off x="6839712" y="1527048"/>
                <a:ext cx="4379976" cy="576072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spAutoFit/>
              </a:bodyPr>
              <a:lstStyle/>
              <a:p>
                <a:pPr>
                  <a:defRPr sz="1100" b="0">
                    <a:solidFill>
                      <a:srgbClr val="0F172A"/>
                    </a:solidFill>
                  </a:defRPr>
                </a:pPr>
                <a:r>
                  <a:t>Чем дальше линия от центра, тем выше оценка продукта по критерию. Телевизоры имеют наиболее сбалансированный профиль.</a:t>
                </a:r>
              </a:p>
            </p:txBody>
          </p:sp>
        </p:grpSp>
      </p:grp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24D9BFBD-0197-4850-85C2-7A1DD3B4B3B8}"/>
              </a:ext>
            </a:extLst>
          </p:cNvPr>
          <p:cNvGrpSpPr/>
          <p:nvPr/>
        </p:nvGrpSpPr>
        <p:grpSpPr>
          <a:xfrm>
            <a:off x="7170570" y="2555746"/>
            <a:ext cx="4709160" cy="1143000"/>
            <a:chOff x="6675120" y="2514600"/>
            <a:chExt cx="4709160" cy="1143000"/>
          </a:xfrm>
        </p:grpSpPr>
        <p:sp>
          <p:nvSpPr>
            <p:cNvPr id="7" name="Rounded Rectangle 6"/>
            <p:cNvSpPr/>
            <p:nvPr/>
          </p:nvSpPr>
          <p:spPr>
            <a:xfrm>
              <a:off x="6675120" y="2514600"/>
              <a:ext cx="4709160" cy="11430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6839712" y="2624328"/>
              <a:ext cx="4379976" cy="274320"/>
            </a:xfrm>
            <a:prstGeom prst="rect">
              <a:avLst/>
            </a:prstGeom>
            <a:noFill/>
          </p:spPr>
          <p:txBody>
            <a:bodyPr wrap="square" lIns="54864" tIns="27432" rIns="54864" bIns="27432">
              <a:spAutoFit/>
            </a:bodyPr>
            <a:lstStyle/>
            <a:p>
              <a:pPr>
                <a:defRPr sz="1300" b="1">
                  <a:solidFill>
                    <a:srgbClr val="2563EB"/>
                  </a:solidFill>
                </a:defRPr>
              </a:pPr>
              <a:r>
                <a:t>Сильные стороны телевизоров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839712" y="2990088"/>
              <a:ext cx="4379976" cy="576072"/>
            </a:xfrm>
            <a:prstGeom prst="rect">
              <a:avLst/>
            </a:prstGeom>
            <a:noFill/>
          </p:spPr>
          <p:txBody>
            <a:bodyPr wrap="square" lIns="54864" tIns="27432" rIns="54864" bIns="27432">
              <a:spAutoFit/>
            </a:bodyPr>
            <a:lstStyle/>
            <a:p>
              <a:pPr>
                <a:defRPr sz="1100" b="0">
                  <a:solidFill>
                    <a:srgbClr val="0F172A"/>
                  </a:solidFill>
                </a:defRPr>
              </a:pPr>
              <a:r>
                <a:t>Высокая выручка, стабильная квартальная реализация, заметное превосходство над конкурентами по обороту.</a:t>
              </a:r>
            </a:p>
          </p:txBody>
        </p:sp>
      </p:grpSp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6C141338-DD8C-4940-8315-177C6BBAC6F7}"/>
              </a:ext>
            </a:extLst>
          </p:cNvPr>
          <p:cNvGrpSpPr/>
          <p:nvPr/>
        </p:nvGrpSpPr>
        <p:grpSpPr>
          <a:xfrm>
            <a:off x="7170570" y="4079762"/>
            <a:ext cx="4709160" cy="1143000"/>
            <a:chOff x="6675120" y="3977639"/>
            <a:chExt cx="4709160" cy="1143000"/>
          </a:xfrm>
        </p:grpSpPr>
        <p:sp>
          <p:nvSpPr>
            <p:cNvPr id="10" name="Rounded Rectangle 9"/>
            <p:cNvSpPr/>
            <p:nvPr/>
          </p:nvSpPr>
          <p:spPr>
            <a:xfrm>
              <a:off x="6675120" y="3977639"/>
              <a:ext cx="4709160" cy="11430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839712" y="4087368"/>
              <a:ext cx="4379976" cy="274320"/>
            </a:xfrm>
            <a:prstGeom prst="rect">
              <a:avLst/>
            </a:prstGeom>
            <a:noFill/>
          </p:spPr>
          <p:txBody>
            <a:bodyPr wrap="square" lIns="54864" tIns="27432" rIns="54864" bIns="27432">
              <a:spAutoFit/>
            </a:bodyPr>
            <a:lstStyle/>
            <a:p>
              <a:pPr>
                <a:defRPr sz="1300" b="1">
                  <a:solidFill>
                    <a:srgbClr val="2563EB"/>
                  </a:solidFill>
                </a:defRPr>
              </a:pPr>
              <a:r>
                <a:t>Зона внимания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839712" y="4453127"/>
              <a:ext cx="4379976" cy="576072"/>
            </a:xfrm>
            <a:prstGeom prst="rect">
              <a:avLst/>
            </a:prstGeom>
            <a:noFill/>
          </p:spPr>
          <p:txBody>
            <a:bodyPr wrap="square" lIns="54864" tIns="27432" rIns="54864" bIns="27432">
              <a:spAutoFit/>
            </a:bodyPr>
            <a:lstStyle/>
            <a:p>
              <a:pPr>
                <a:defRPr sz="1100" b="0">
                  <a:solidFill>
                    <a:srgbClr val="0F172A"/>
                  </a:solidFill>
                </a:defRPr>
              </a:pPr>
              <a:r>
                <a:t>Маркетинговый потенциал ниже, чем у офисных ноутбуков, поэтому мероприятия должны быть направлены на расширение среднего чека и сервисных продаж.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Маркетинговые меры для продуктов после ABC-XYZ-анализа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9018627"/>
              </p:ext>
            </p:extLst>
          </p:nvPr>
        </p:nvGraphicFramePr>
        <p:xfrm>
          <a:off x="502920" y="960120"/>
          <a:ext cx="1065276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40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3504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rPr sz="1400" dirty="0" err="1"/>
                        <a:t>Продукт</a:t>
                      </a:r>
                      <a:endParaRPr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Статус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Предлагаемые меры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Телевизоры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rPr sz="1400" dirty="0"/>
                        <a:t>AX, </a:t>
                      </a:r>
                      <a:r>
                        <a:rPr sz="1400" dirty="0" err="1"/>
                        <a:t>выбранный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продукт</a:t>
                      </a:r>
                      <a:endParaRPr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комплект «ТВ + кронштейн + установка», рассрочка 0%, демонстрационная зона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Ноутбуки для офиса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AX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rPr sz="1400" dirty="0" err="1"/>
                        <a:t>корпоративные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комплекты</a:t>
                      </a:r>
                      <a:r>
                        <a:rPr sz="1400" dirty="0"/>
                        <a:t>, </a:t>
                      </a:r>
                      <a:r>
                        <a:rPr sz="1400" dirty="0" err="1"/>
                        <a:t>скидка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на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периферию</a:t>
                      </a:r>
                      <a:r>
                        <a:rPr sz="1400" dirty="0"/>
                        <a:t>, </a:t>
                      </a:r>
                      <a:r>
                        <a:rPr sz="1400" dirty="0" err="1"/>
                        <a:t>продвижение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для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малого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бизнеса</a:t>
                      </a:r>
                      <a:endParaRPr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Смартфоны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AX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rPr sz="1400" dirty="0"/>
                        <a:t>trade-in, </a:t>
                      </a:r>
                      <a:r>
                        <a:rPr sz="1400" dirty="0" err="1"/>
                        <a:t>аксессуары</a:t>
                      </a:r>
                      <a:r>
                        <a:rPr sz="1400" dirty="0"/>
                        <a:t> в </a:t>
                      </a:r>
                      <a:r>
                        <a:rPr sz="1400" dirty="0" err="1"/>
                        <a:t>комплекте</a:t>
                      </a:r>
                      <a:r>
                        <a:rPr sz="1400" dirty="0"/>
                        <a:t>, </a:t>
                      </a:r>
                      <a:r>
                        <a:rPr sz="1400" dirty="0" err="1"/>
                        <a:t>рассылки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по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лояльной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базе</a:t>
                      </a:r>
                      <a:endParaRPr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Холодильники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BY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rPr sz="1400" dirty="0" err="1"/>
                        <a:t>сезонные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акции</a:t>
                      </a:r>
                      <a:r>
                        <a:rPr sz="1400" dirty="0"/>
                        <a:t>, </a:t>
                      </a:r>
                      <a:r>
                        <a:rPr sz="1400" dirty="0" err="1"/>
                        <a:t>бесплатная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доставка</a:t>
                      </a:r>
                      <a:r>
                        <a:rPr sz="1400" dirty="0"/>
                        <a:t>, </a:t>
                      </a:r>
                      <a:r>
                        <a:rPr sz="1400" dirty="0" err="1"/>
                        <a:t>расширенная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гарантия</a:t>
                      </a:r>
                      <a:endParaRPr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914400" y="4343400"/>
            <a:ext cx="3108960" cy="12918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8992" y="4453128"/>
            <a:ext cx="2779776" cy="27432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Цель мер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4818888"/>
            <a:ext cx="2779776" cy="62179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100" b="0">
                <a:solidFill>
                  <a:srgbClr val="0F172A"/>
                </a:solidFill>
              </a:defRPr>
            </a:pPr>
            <a:r>
              <a:rPr dirty="0" err="1"/>
              <a:t>Увеличить</a:t>
            </a:r>
            <a:r>
              <a:rPr dirty="0"/>
              <a:t> </a:t>
            </a:r>
            <a:r>
              <a:rPr dirty="0" err="1"/>
              <a:t>продажи</a:t>
            </a:r>
            <a:r>
              <a:rPr dirty="0"/>
              <a:t> 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расширения</a:t>
            </a:r>
            <a:r>
              <a:rPr dirty="0"/>
              <a:t> </a:t>
            </a:r>
            <a:r>
              <a:rPr dirty="0" err="1"/>
              <a:t>ассортимента</a:t>
            </a:r>
            <a:r>
              <a:rPr dirty="0"/>
              <a:t> </a:t>
            </a:r>
            <a:r>
              <a:rPr dirty="0" err="1"/>
              <a:t>за</a:t>
            </a:r>
            <a:r>
              <a:rPr dirty="0"/>
              <a:t> </a:t>
            </a:r>
            <a:r>
              <a:rPr dirty="0" err="1"/>
              <a:t>счёт</a:t>
            </a:r>
            <a:r>
              <a:rPr dirty="0"/>
              <a:t> </a:t>
            </a:r>
            <a:r>
              <a:rPr dirty="0" err="1"/>
              <a:t>точечного</a:t>
            </a:r>
            <a:r>
              <a:rPr dirty="0"/>
              <a:t> </a:t>
            </a:r>
            <a:r>
              <a:rPr dirty="0" err="1"/>
              <a:t>продвижения</a:t>
            </a:r>
            <a:r>
              <a:rPr dirty="0"/>
              <a:t> </a:t>
            </a:r>
            <a:r>
              <a:rPr dirty="0" err="1"/>
              <a:t>наиболее</a:t>
            </a:r>
            <a:r>
              <a:rPr dirty="0"/>
              <a:t> </a:t>
            </a:r>
            <a:r>
              <a:rPr dirty="0" err="1"/>
              <a:t>перспективных</a:t>
            </a:r>
            <a:r>
              <a:rPr dirty="0"/>
              <a:t> </a:t>
            </a:r>
            <a:r>
              <a:rPr dirty="0" err="1"/>
              <a:t>категорий</a:t>
            </a:r>
            <a:r>
              <a:rPr dirty="0"/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26280" y="4343400"/>
            <a:ext cx="3108960" cy="12918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90872" y="4453128"/>
            <a:ext cx="2779776" cy="27432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Логика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90872" y="4818888"/>
            <a:ext cx="2779776" cy="62179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100" b="0">
                <a:solidFill>
                  <a:srgbClr val="0F172A"/>
                </a:solidFill>
              </a:defRPr>
            </a:pPr>
            <a:r>
              <a:t>AX-продукты продвигаются активнее, потому что дают выручку и имеют прогнозируемый спрос.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4343400"/>
            <a:ext cx="3108960" cy="12918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02752" y="4453128"/>
            <a:ext cx="2779776" cy="27432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Контроль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2752" y="4818888"/>
            <a:ext cx="2779776" cy="62179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100" b="0">
                <a:solidFill>
                  <a:srgbClr val="0F172A"/>
                </a:solidFill>
              </a:defRPr>
            </a:pPr>
            <a:r>
              <a:t>Оценка эффективности через прирост выручки, конверсию, средний чек и остатки на складе.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Комплекс маркетинговых мероприятий для выбранного продукта: телевизоры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51560"/>
            <a:ext cx="35204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58952" y="1161288"/>
            <a:ext cx="3191256" cy="27432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1. Акция комплектов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1527048"/>
            <a:ext cx="3191256" cy="126187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100" b="0">
                <a:solidFill>
                  <a:srgbClr val="0F172A"/>
                </a:solidFill>
              </a:defRPr>
            </a:pPr>
            <a:r>
              <a:t>Продажа телевизора вместе с кронштейном, HDMI-кабелем, настройкой и доставкой. Цель — увеличить средний чек.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051560"/>
            <a:ext cx="35204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07992" y="1161288"/>
            <a:ext cx="3191256" cy="27432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2. Зона демонстрации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07992" y="1527048"/>
            <a:ext cx="3191256" cy="126187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100" b="0">
                <a:solidFill>
                  <a:srgbClr val="0F172A"/>
                </a:solidFill>
              </a:defRPr>
            </a:pPr>
            <a:r>
              <a:t>Оформление витрины с демонстрацией изображения, звука и смарт-функций. Цель — повысить конверсию посетителей.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1051560"/>
            <a:ext cx="35204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57031" y="1161288"/>
            <a:ext cx="3191256" cy="27432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3. Рассрочка / trade-in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57031" y="1527048"/>
            <a:ext cx="3191256" cy="126187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100" b="0">
                <a:solidFill>
                  <a:srgbClr val="0F172A"/>
                </a:solidFill>
              </a:defRPr>
            </a:pPr>
            <a:r>
              <a:t>Продвижение покупки через рассрочку и обмен старой техники. Цель — снизить барьер цены.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429000"/>
            <a:ext cx="35204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58952" y="3538728"/>
            <a:ext cx="3191256" cy="27432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4. Цифровая кампания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3904487"/>
            <a:ext cx="3191256" cy="126187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100" b="0">
                <a:solidFill>
                  <a:srgbClr val="0F172A"/>
                </a:solidFill>
              </a:defRPr>
            </a:pPr>
            <a:r>
              <a:t>Таргетированные объявления по аудитории ТЦ и ретаргетинг для посетителей сайта/карточек товара.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3429000"/>
            <a:ext cx="35204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07992" y="3538728"/>
            <a:ext cx="3191256" cy="27432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5. Программа лояльности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2" y="3904487"/>
            <a:ext cx="3191256" cy="126187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100" b="0">
                <a:solidFill>
                  <a:srgbClr val="0F172A"/>
                </a:solidFill>
              </a:defRPr>
            </a:pPr>
            <a:r>
              <a:t>Бонусы за покупку аксессуаров, расширенной гарантии и сервисной установки.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3429000"/>
            <a:ext cx="35204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57031" y="3538728"/>
            <a:ext cx="3191256" cy="27432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KPI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7031" y="3904487"/>
            <a:ext cx="3191256" cy="126187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100" b="0">
                <a:solidFill>
                  <a:srgbClr val="0F172A"/>
                </a:solidFill>
              </a:defRPr>
            </a:pPr>
            <a:r>
              <a:t>Прирост выручки по категории, рост среднего чека, конверсия посетителей, доля продаж комплектов, снижение остатков.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Итоговое решение и сформированный навык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51560"/>
            <a:ext cx="539496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96112" y="1161288"/>
            <a:ext cx="5065776" cy="27432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300" b="1">
                <a:solidFill>
                  <a:srgbClr val="16A34A"/>
                </a:solidFill>
              </a:defRPr>
            </a:pPr>
            <a:r>
              <a:t>Итоговое решение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1527048"/>
            <a:ext cx="5065776" cy="149047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100" b="0">
                <a:solidFill>
                  <a:srgbClr val="0F172A"/>
                </a:solidFill>
              </a:defRPr>
            </a:pPr>
            <a:r>
              <a:t>Для разработки комплекса маркетинговых мероприятий выбрана категория «Телевизоры». Итоговая экспертная оценка — 9,25 балла. Категория относится к устойчивым и высокодоходным продуктам компании.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46520" y="1051560"/>
            <a:ext cx="498348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11112" y="1161288"/>
            <a:ext cx="4654296" cy="27432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Почему это обоснованно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11112" y="1527048"/>
            <a:ext cx="4654296" cy="149047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100" b="0">
                <a:solidFill>
                  <a:srgbClr val="0F172A"/>
                </a:solidFill>
              </a:defRPr>
            </a:pPr>
            <a:r>
              <a:t>Решение опирается на ABC-XYZ-анализ, сравнение с конкурентами, веса критериев по оценкам 6 участников, проверку согласованности и графический метод.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657600"/>
            <a:ext cx="1069848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3767328"/>
            <a:ext cx="10369296" cy="27432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Сформированный навык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4133087"/>
            <a:ext cx="10369296" cy="98755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100" b="0">
                <a:solidFill>
                  <a:srgbClr val="0F172A"/>
                </a:solidFill>
              </a:defRPr>
            </a:pPr>
            <a:r>
              <a:t>Команда научилась распределять роли, обрабатывать статистические данные о продажах, определять приоритетные товарные категории, рассчитывать значимость критериев, проверять согласованность экспертных мнений и формировать управленческое решение на основе количественного анализа.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806440"/>
            <a:ext cx="10698480" cy="36576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>
              <a:defRPr sz="2200" b="1">
                <a:solidFill>
                  <a:srgbClr val="0F172A"/>
                </a:solidFill>
              </a:defRPr>
            </a:pPr>
            <a:r>
              <a:t>Спасибо за внимание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1271</Words>
  <Application>Microsoft Office PowerPoint</Application>
  <PresentationFormat>Широкоэкранный</PresentationFormat>
  <Paragraphs>359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H4RD</dc:creator>
  <cp:keywords/>
  <dc:description>generated using python-pptx</dc:description>
  <cp:lastModifiedBy>H4RD</cp:lastModifiedBy>
  <cp:revision>2</cp:revision>
  <dcterms:created xsi:type="dcterms:W3CDTF">2013-01-27T09:14:16Z</dcterms:created>
  <dcterms:modified xsi:type="dcterms:W3CDTF">2026-05-12T17:58:38Z</dcterms:modified>
  <cp:category/>
</cp:coreProperties>
</file>