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5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5308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Кейс и требования к презентации: uploaded PDF, стр. 2-3.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Бизнес-контекст кейса: uploaded PDF, стр. 2.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Требование определить стейкхолдеров: uploaded PDF, стр. 2-3.
- Состав стейкхолдеров выведен аналитически из кейса.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Требование описать проблему, цель и альтернативы: uploaded PDF, стр. 3.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Требование сформулировать альтернативы и приоритизировать их: uploaded PDF, стр. 3.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Проектная логика выведена из кейса и требований задания: uploaded PDF, стр. 2-3.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Требование включить график реализации проекта и ориентироваться на образец: uploaded PDF, стр. 3.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Финальный слайд сделан для выполнения требования задания о демонстрации сформированного навыка: uploaded PDF, стр. 3.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DCE6F2"/>
          </a:solidFill>
          <a:ln w="12700">
            <a:solidFill>
              <a:srgbClr val="DCE6F2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656832"/>
            <a:ext cx="320040" cy="10972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4546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656832"/>
            <a:ext cx="320040" cy="10972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4546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E7EEF8"/>
          </a:solidFill>
          <a:ln w="12700">
            <a:solidFill>
              <a:srgbClr val="E7EE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41080" y="566928"/>
            <a:ext cx="2286000" cy="5120640"/>
          </a:xfrm>
          <a:prstGeom prst="rect">
            <a:avLst/>
          </a:prstGeom>
          <a:solidFill>
            <a:srgbClr val="1F4E79">
              <a:alpha val="92000"/>
            </a:srgbClr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64040" y="960120"/>
            <a:ext cx="1920240" cy="914400"/>
          </a:xfrm>
          <a:prstGeom prst="rect">
            <a:avLst/>
          </a:prstGeom>
          <a:solidFill>
            <a:srgbClr val="F2CF5B"/>
          </a:solidFill>
          <a:ln w="12700">
            <a:solidFill>
              <a:srgbClr val="F2CF5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0" y="2148840"/>
            <a:ext cx="1920240" cy="658368"/>
          </a:xfrm>
          <a:prstGeom prst="rect">
            <a:avLst/>
          </a:prstGeom>
          <a:solidFill>
            <a:srgbClr val="B4A7D6"/>
          </a:solidFill>
          <a:ln w="12700">
            <a:solidFill>
              <a:srgbClr val="B4A7D6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0" y="3127248"/>
            <a:ext cx="1691640" cy="658368"/>
          </a:xfrm>
          <a:prstGeom prst="rect">
            <a:avLst/>
          </a:prstGeom>
          <a:solidFill>
            <a:srgbClr val="F2CF5B"/>
          </a:solidFill>
          <a:ln w="12700">
            <a:solidFill>
              <a:srgbClr val="F2CF5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32520" y="4096512"/>
            <a:ext cx="2514600" cy="658368"/>
          </a:xfrm>
          <a:prstGeom prst="rect">
            <a:avLst/>
          </a:prstGeom>
          <a:solidFill>
            <a:srgbClr val="B4A7D6"/>
          </a:solidFill>
          <a:ln w="12700">
            <a:solidFill>
              <a:srgbClr val="B4A7D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49640" y="566928"/>
            <a:ext cx="0" cy="5120640"/>
          </a:xfrm>
          <a:prstGeom prst="line">
            <a:avLst/>
          </a:prstGeom>
          <a:noFill/>
          <a:ln w="12700">
            <a:solidFill>
              <a:srgbClr val="D1D9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960120"/>
            <a:ext cx="6903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диверсификации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малого полиграфического предприятия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13232" y="2670048"/>
            <a:ext cx="6309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Практическое задание №3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дисциплине «Методы принятия управленческих решений»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3657600"/>
            <a:ext cx="2011680" cy="274320"/>
          </a:xfrm>
          <a:prstGeom prst="roundRect">
            <a:avLst>
              <a:gd name="adj" fmla="val 26667"/>
            </a:avLst>
          </a:prstGeom>
          <a:solidFill>
            <a:srgbClr val="EAF2FB"/>
          </a:solidFill>
          <a:ln w="12700">
            <a:solidFill>
              <a:srgbClr val="EAF2F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3707892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Задание 1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731520" y="41605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4B5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проекта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749808" y="4407408"/>
            <a:ext cx="3291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2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Хохлов А.И.</a:t>
            </a:r>
            <a:endParaRPr lang="en-US" sz="1620" dirty="0"/>
          </a:p>
          <a:p>
            <a:pPr marL="0" indent="0">
              <a:buNone/>
            </a:pPr>
            <a:r>
              <a:rPr lang="en-US" sz="162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Рыженин А.А.</a:t>
            </a:r>
            <a:endParaRPr lang="en-US" sz="1620" dirty="0"/>
          </a:p>
          <a:p>
            <a:pPr marL="0" indent="0">
              <a:buNone/>
            </a:pPr>
            <a:r>
              <a:rPr lang="en-US" sz="162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Белослудцев И.А.</a:t>
            </a:r>
            <a:endParaRPr lang="en-US" sz="1620" dirty="0"/>
          </a:p>
          <a:p>
            <a:pPr marL="0" indent="0">
              <a:buNone/>
            </a:pPr>
            <a:r>
              <a:rPr lang="en-US" sz="162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Зубарев В.С.</a:t>
            </a:r>
            <a:endParaRPr lang="en-US" sz="1620" dirty="0"/>
          </a:p>
          <a:p>
            <a:pPr marL="0" indent="0">
              <a:buNone/>
            </a:pPr>
            <a:r>
              <a:rPr lang="en-US" sz="162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Тыртышный С.Д.</a:t>
            </a:r>
            <a:endParaRPr lang="en-US" sz="1620" dirty="0"/>
          </a:p>
          <a:p>
            <a:pPr marL="0" indent="0">
              <a:buNone/>
            </a:pPr>
            <a:r>
              <a:rPr lang="en-US" sz="162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Савченков К.</a:t>
            </a:r>
            <a:r>
              <a:rPr lang="ru-RU" sz="162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</a:t>
            </a:r>
            <a:endParaRPr lang="en-US" sz="1620" dirty="0"/>
          </a:p>
        </p:txBody>
      </p:sp>
      <p:sp>
        <p:nvSpPr>
          <p:cNvPr id="15" name="Text 13"/>
          <p:cNvSpPr/>
          <p:nvPr/>
        </p:nvSpPr>
        <p:spPr>
          <a:xfrm>
            <a:off x="4526280" y="4407408"/>
            <a:ext cx="297180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4B5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Фокус проекта: рост конкурентоспособности через расширение продуктовой линейки и сервисов для </a:t>
            </a:r>
            <a:r>
              <a:rPr lang="en-US" sz="1450" i="1" dirty="0" err="1">
                <a:solidFill>
                  <a:srgbClr val="4B5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существующих</a:t>
            </a:r>
            <a:r>
              <a:rPr lang="en-US" sz="1450" i="1" dirty="0">
                <a:solidFill>
                  <a:srgbClr val="4B5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50" i="1" dirty="0" err="1">
                <a:solidFill>
                  <a:srgbClr val="4B5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клиентов</a:t>
            </a:r>
            <a:r>
              <a:rPr lang="en-US" sz="1450" i="1" dirty="0">
                <a:solidFill>
                  <a:srgbClr val="4B5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656832"/>
            <a:ext cx="320040" cy="10972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4546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Бизнес-контекст и исходная ситуация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530352" y="877824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4B5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вводные из кейса</a:t>
            </a:r>
            <a:endParaRPr lang="en-US" sz="102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201400" cy="0"/>
          </a:xfrm>
          <a:prstGeom prst="line">
            <a:avLst/>
          </a:prstGeom>
          <a:noFill/>
          <a:ln w="12700">
            <a:solidFill>
              <a:srgbClr val="AFC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188720"/>
            <a:ext cx="1874520" cy="274320"/>
          </a:xfrm>
          <a:prstGeom prst="roundRect">
            <a:avLst>
              <a:gd name="adj" fmla="val 26667"/>
            </a:avLst>
          </a:prstGeom>
          <a:solidFill>
            <a:srgbClr val="EAF2FB"/>
          </a:solidFill>
          <a:ln w="12700">
            <a:solidFill>
              <a:srgbClr val="EAF2F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239012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Профиль компании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640080" y="1536192"/>
            <a:ext cx="5074920" cy="2697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02692" indent="-202692">
              <a:buSzPct val="100000"/>
              <a:buChar char="•"/>
            </a:pPr>
            <a:r>
              <a:rPr lang="en-US" sz="168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Малое предприятие; доля рынка около 2,5%.</a:t>
            </a:r>
            <a:endParaRPr lang="en-US" sz="1680" dirty="0"/>
          </a:p>
          <a:p>
            <a:pPr marL="202692" indent="-202692">
              <a:buSzPct val="100000"/>
              <a:buChar char="•"/>
            </a:pPr>
            <a:r>
              <a:rPr lang="en-US" sz="168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Основная продукция: этикетки и упаковочные материалы под заказ.</a:t>
            </a:r>
            <a:endParaRPr lang="en-US" sz="1680" dirty="0"/>
          </a:p>
          <a:p>
            <a:pPr marL="202692" indent="-202692">
              <a:buSzPct val="100000"/>
              <a:buChar char="•"/>
            </a:pPr>
            <a:r>
              <a:rPr lang="en-US" sz="168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Штат: 35 человек; производство гибкое, заказы выполняются в срок.</a:t>
            </a:r>
            <a:endParaRPr lang="en-US" sz="1680" dirty="0"/>
          </a:p>
          <a:p>
            <a:pPr marL="202692" indent="-202692">
              <a:buSzPct val="100000"/>
              <a:buChar char="•"/>
            </a:pPr>
            <a:r>
              <a:rPr lang="en-US" sz="168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клиенты: производители напитков, кондитерских и пищевых продуктов.</a:t>
            </a:r>
            <a:endParaRPr lang="en-US" sz="1680" dirty="0"/>
          </a:p>
        </p:txBody>
      </p:sp>
      <p:sp>
        <p:nvSpPr>
          <p:cNvPr id="8" name="Shape 6"/>
          <p:cNvSpPr/>
          <p:nvPr/>
        </p:nvSpPr>
        <p:spPr>
          <a:xfrm>
            <a:off x="5989320" y="1261872"/>
            <a:ext cx="2606040" cy="1993392"/>
          </a:xfrm>
          <a:prstGeom prst="roundRect">
            <a:avLst>
              <a:gd name="adj" fmla="val 2752"/>
            </a:avLst>
          </a:prstGeom>
          <a:solidFill>
            <a:srgbClr val="E8F1FB"/>
          </a:solidFill>
          <a:ln w="12700">
            <a:solidFill>
              <a:srgbClr val="AFC2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134416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6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Сильные стороны</a:t>
            </a:r>
            <a:endParaRPr lang="en-US" sz="1560" dirty="0"/>
          </a:p>
        </p:txBody>
      </p:sp>
      <p:sp>
        <p:nvSpPr>
          <p:cNvPr id="10" name="Text 8"/>
          <p:cNvSpPr/>
          <p:nvPr/>
        </p:nvSpPr>
        <p:spPr>
          <a:xfrm>
            <a:off x="6217920" y="1792224"/>
            <a:ext cx="20848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высокая репутация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исполнение заказов в срок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гибкая система производства</a:t>
            </a:r>
            <a:endParaRPr lang="en-US" sz="1480" dirty="0"/>
          </a:p>
        </p:txBody>
      </p:sp>
      <p:sp>
        <p:nvSpPr>
          <p:cNvPr id="11" name="Shape 9"/>
          <p:cNvSpPr/>
          <p:nvPr/>
        </p:nvSpPr>
        <p:spPr>
          <a:xfrm>
            <a:off x="8823960" y="1261872"/>
            <a:ext cx="2697480" cy="1993392"/>
          </a:xfrm>
          <a:prstGeom prst="roundRect">
            <a:avLst>
              <a:gd name="adj" fmla="val 2752"/>
            </a:avLst>
          </a:prstGeom>
          <a:solidFill>
            <a:srgbClr val="FCE9E8"/>
          </a:solidFill>
          <a:ln w="12700">
            <a:solidFill>
              <a:srgbClr val="E6B8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52560" y="133817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60" b="1" dirty="0">
                <a:solidFill>
                  <a:srgbClr val="C05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Вызов</a:t>
            </a:r>
            <a:endParaRPr lang="en-US" sz="1560" dirty="0"/>
          </a:p>
        </p:txBody>
      </p:sp>
      <p:sp>
        <p:nvSpPr>
          <p:cNvPr id="13" name="Text 11"/>
          <p:cNvSpPr/>
          <p:nvPr/>
        </p:nvSpPr>
        <p:spPr>
          <a:xfrm>
            <a:off x="9052560" y="1783080"/>
            <a:ext cx="22402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усиливается конкуренция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крупные игроки занимают большие доли рынка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статус-кво уже ограничивает рост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58368" y="4434840"/>
            <a:ext cx="109270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B9C7D8"/>
            </a:solidFill>
            <a:prstDash val="solid"/>
          </a:ln>
          <a:effectLst>
            <a:outerShdw blurRad="16510" dist="508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9808" y="4498848"/>
            <a:ext cx="10599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Управленческий вывод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786384" y="4818888"/>
            <a:ext cx="10671048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 носит стратегический характер: без диверсификации компания рискует потерять темп роста и часть клиентской базы. Нужно усилить предложение для текущих заказчиков и открыть новые источники выручки.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656832"/>
            <a:ext cx="320040" cy="10972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4546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Ключевые стейкхолдеры проекта диверсификации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530352" y="877824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4B5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влияет на запуск и результат проекта</a:t>
            </a:r>
            <a:endParaRPr lang="en-US" sz="102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201400" cy="0"/>
          </a:xfrm>
          <a:prstGeom prst="line">
            <a:avLst/>
          </a:prstGeom>
          <a:noFill/>
          <a:ln w="12700">
            <a:solidFill>
              <a:srgbClr val="AFC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53312"/>
            <a:ext cx="2057400" cy="365760"/>
          </a:xfrm>
          <a:prstGeom prst="rect">
            <a:avLst/>
          </a:prstGeom>
          <a:solidFill>
            <a:srgbClr val="1F4E79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7784" y="1408176"/>
            <a:ext cx="1947672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Стейкхолдер</a:t>
            </a:r>
            <a:endParaRPr lang="en-US" sz="1290" dirty="0"/>
          </a:p>
        </p:txBody>
      </p:sp>
      <p:sp>
        <p:nvSpPr>
          <p:cNvPr id="7" name="Shape 5"/>
          <p:cNvSpPr/>
          <p:nvPr/>
        </p:nvSpPr>
        <p:spPr>
          <a:xfrm>
            <a:off x="2560320" y="1353312"/>
            <a:ext cx="2331720" cy="365760"/>
          </a:xfrm>
          <a:prstGeom prst="rect">
            <a:avLst/>
          </a:prstGeom>
          <a:solidFill>
            <a:srgbClr val="1F4E79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15184" y="1408176"/>
            <a:ext cx="2221992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Интерес</a:t>
            </a:r>
            <a:endParaRPr lang="en-US" sz="1290" dirty="0"/>
          </a:p>
        </p:txBody>
      </p:sp>
      <p:sp>
        <p:nvSpPr>
          <p:cNvPr id="9" name="Shape 7"/>
          <p:cNvSpPr/>
          <p:nvPr/>
        </p:nvSpPr>
        <p:spPr>
          <a:xfrm>
            <a:off x="4892040" y="1353312"/>
            <a:ext cx="4206240" cy="365760"/>
          </a:xfrm>
          <a:prstGeom prst="rect">
            <a:avLst/>
          </a:prstGeom>
          <a:solidFill>
            <a:srgbClr val="1F4E79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46904" y="1408176"/>
            <a:ext cx="4096512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Влияние на проект</a:t>
            </a:r>
            <a:endParaRPr lang="en-US" sz="1290" dirty="0"/>
          </a:p>
        </p:txBody>
      </p:sp>
      <p:sp>
        <p:nvSpPr>
          <p:cNvPr id="11" name="Shape 9"/>
          <p:cNvSpPr/>
          <p:nvPr/>
        </p:nvSpPr>
        <p:spPr>
          <a:xfrm>
            <a:off x="9098280" y="1353312"/>
            <a:ext cx="1828800" cy="365760"/>
          </a:xfrm>
          <a:prstGeom prst="rect">
            <a:avLst/>
          </a:prstGeom>
          <a:solidFill>
            <a:srgbClr val="1F4E79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53144" y="1408176"/>
            <a:ext cx="1719072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Приоритет</a:t>
            </a:r>
            <a:endParaRPr lang="en-US" sz="1290" dirty="0"/>
          </a:p>
        </p:txBody>
      </p:sp>
      <p:sp>
        <p:nvSpPr>
          <p:cNvPr id="13" name="Shape 11"/>
          <p:cNvSpPr/>
          <p:nvPr/>
        </p:nvSpPr>
        <p:spPr>
          <a:xfrm>
            <a:off x="502920" y="1719072"/>
            <a:ext cx="2057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" y="1773936"/>
            <a:ext cx="1947672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Собственник и</a:t>
            </a:r>
            <a:endParaRPr lang="en-US" sz="1310" dirty="0"/>
          </a:p>
          <a:p>
            <a:pPr marL="0" indent="0" algn="l">
              <a:buNone/>
            </a:pPr>
            <a:r>
              <a:rPr lang="en-US" sz="131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руководство</a:t>
            </a:r>
            <a:endParaRPr lang="en-US" sz="1310" dirty="0"/>
          </a:p>
        </p:txBody>
      </p:sp>
      <p:sp>
        <p:nvSpPr>
          <p:cNvPr id="15" name="Shape 13"/>
          <p:cNvSpPr/>
          <p:nvPr/>
        </p:nvSpPr>
        <p:spPr>
          <a:xfrm>
            <a:off x="2560320" y="1719072"/>
            <a:ext cx="2331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15184" y="1773936"/>
            <a:ext cx="2221992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 выручки и</a:t>
            </a:r>
            <a:endParaRPr lang="en-US" sz="1310" dirty="0"/>
          </a:p>
          <a:p>
            <a:pPr marL="0" indent="0" algn="l">
              <a:buNone/>
            </a:pPr>
            <a:r>
              <a:rPr lang="en-US" sz="131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устойчивости бизнеса</a:t>
            </a:r>
            <a:endParaRPr lang="en-US" sz="1310" dirty="0"/>
          </a:p>
        </p:txBody>
      </p:sp>
      <p:sp>
        <p:nvSpPr>
          <p:cNvPr id="17" name="Shape 15"/>
          <p:cNvSpPr/>
          <p:nvPr/>
        </p:nvSpPr>
        <p:spPr>
          <a:xfrm>
            <a:off x="4892040" y="1719072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46904" y="1773936"/>
            <a:ext cx="4096512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Утверждают бюджет, сроки и рамки проекта</a:t>
            </a:r>
            <a:endParaRPr lang="en-US" sz="1310" dirty="0"/>
          </a:p>
        </p:txBody>
      </p:sp>
      <p:sp>
        <p:nvSpPr>
          <p:cNvPr id="19" name="Shape 17"/>
          <p:cNvSpPr/>
          <p:nvPr/>
        </p:nvSpPr>
        <p:spPr>
          <a:xfrm>
            <a:off x="9098280" y="1719072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53144" y="1773936"/>
            <a:ext cx="1719072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31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Очень высокий</a:t>
            </a:r>
            <a:endParaRPr lang="en-US" sz="1310" dirty="0"/>
          </a:p>
        </p:txBody>
      </p:sp>
      <p:sp>
        <p:nvSpPr>
          <p:cNvPr id="21" name="Shape 19"/>
          <p:cNvSpPr/>
          <p:nvPr/>
        </p:nvSpPr>
        <p:spPr>
          <a:xfrm>
            <a:off x="502920" y="2286000"/>
            <a:ext cx="2057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" y="2340864"/>
            <a:ext cx="1947672" cy="6035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заказчики</a:t>
            </a:r>
            <a:endParaRPr lang="en-US" sz="1310" dirty="0"/>
          </a:p>
        </p:txBody>
      </p:sp>
      <p:sp>
        <p:nvSpPr>
          <p:cNvPr id="23" name="Shape 21"/>
          <p:cNvSpPr/>
          <p:nvPr/>
        </p:nvSpPr>
        <p:spPr>
          <a:xfrm>
            <a:off x="2560320" y="2286000"/>
            <a:ext cx="2331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15184" y="2340864"/>
            <a:ext cx="2221992" cy="6035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Надежные поставки и</a:t>
            </a:r>
            <a:endParaRPr lang="en-US" sz="1310" dirty="0"/>
          </a:p>
          <a:p>
            <a:pPr marL="0" indent="0" algn="l">
              <a:buNone/>
            </a:pPr>
            <a:r>
              <a:rPr lang="en-US" sz="131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новые решения по упаковке</a:t>
            </a:r>
            <a:endParaRPr lang="en-US" sz="1310" dirty="0"/>
          </a:p>
        </p:txBody>
      </p:sp>
      <p:sp>
        <p:nvSpPr>
          <p:cNvPr id="25" name="Shape 23"/>
          <p:cNvSpPr/>
          <p:nvPr/>
        </p:nvSpPr>
        <p:spPr>
          <a:xfrm>
            <a:off x="4892040" y="228600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46904" y="2340864"/>
            <a:ext cx="4096512" cy="6035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Формируют спрос, дают пилотные заказы и обратную связь</a:t>
            </a:r>
            <a:endParaRPr lang="en-US" sz="1310" dirty="0"/>
          </a:p>
        </p:txBody>
      </p:sp>
      <p:sp>
        <p:nvSpPr>
          <p:cNvPr id="27" name="Shape 25"/>
          <p:cNvSpPr/>
          <p:nvPr/>
        </p:nvSpPr>
        <p:spPr>
          <a:xfrm>
            <a:off x="9098280" y="2286000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53144" y="2340864"/>
            <a:ext cx="1719072" cy="6035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31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Очень высокий</a:t>
            </a:r>
            <a:endParaRPr lang="en-US" sz="1310" dirty="0"/>
          </a:p>
        </p:txBody>
      </p:sp>
      <p:sp>
        <p:nvSpPr>
          <p:cNvPr id="29" name="Shape 27"/>
          <p:cNvSpPr/>
          <p:nvPr/>
        </p:nvSpPr>
        <p:spPr>
          <a:xfrm>
            <a:off x="502920" y="2999232"/>
            <a:ext cx="20574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7784" y="3054096"/>
            <a:ext cx="1947672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Производственный</a:t>
            </a:r>
            <a:endParaRPr lang="en-US" sz="1310" dirty="0"/>
          </a:p>
          <a:p>
            <a:pPr marL="0" indent="0" algn="l">
              <a:buNone/>
            </a:pPr>
            <a:r>
              <a:rPr lang="en-US" sz="131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персонал и ИТР</a:t>
            </a:r>
            <a:endParaRPr lang="en-US" sz="1310" dirty="0"/>
          </a:p>
        </p:txBody>
      </p:sp>
      <p:sp>
        <p:nvSpPr>
          <p:cNvPr id="31" name="Shape 29"/>
          <p:cNvSpPr/>
          <p:nvPr/>
        </p:nvSpPr>
        <p:spPr>
          <a:xfrm>
            <a:off x="2560320" y="2999232"/>
            <a:ext cx="23317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15184" y="3054096"/>
            <a:ext cx="2221992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Понятная загрузка,</a:t>
            </a:r>
            <a:endParaRPr lang="en-US" sz="1310" dirty="0"/>
          </a:p>
          <a:p>
            <a:pPr marL="0" indent="0" algn="l">
              <a:buNone/>
            </a:pPr>
            <a:r>
              <a:rPr lang="en-US" sz="131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обучение, стабильность</a:t>
            </a:r>
            <a:endParaRPr lang="en-US" sz="1310" dirty="0"/>
          </a:p>
        </p:txBody>
      </p:sp>
      <p:sp>
        <p:nvSpPr>
          <p:cNvPr id="33" name="Shape 31"/>
          <p:cNvSpPr/>
          <p:nvPr/>
        </p:nvSpPr>
        <p:spPr>
          <a:xfrm>
            <a:off x="4892040" y="2999232"/>
            <a:ext cx="42062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46904" y="3054096"/>
            <a:ext cx="4096512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Определяют качество внедрения новых продуктов и процессов</a:t>
            </a:r>
            <a:endParaRPr lang="en-US" sz="1310" dirty="0"/>
          </a:p>
        </p:txBody>
      </p:sp>
      <p:sp>
        <p:nvSpPr>
          <p:cNvPr id="35" name="Shape 33"/>
          <p:cNvSpPr/>
          <p:nvPr/>
        </p:nvSpPr>
        <p:spPr>
          <a:xfrm>
            <a:off x="9098280" y="2999232"/>
            <a:ext cx="18288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53144" y="3054096"/>
            <a:ext cx="1719072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31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Высокий</a:t>
            </a:r>
            <a:endParaRPr lang="en-US" sz="1310" dirty="0"/>
          </a:p>
        </p:txBody>
      </p:sp>
      <p:sp>
        <p:nvSpPr>
          <p:cNvPr id="37" name="Shape 35"/>
          <p:cNvSpPr/>
          <p:nvPr/>
        </p:nvSpPr>
        <p:spPr>
          <a:xfrm>
            <a:off x="502920" y="3694176"/>
            <a:ext cx="2057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" y="3749040"/>
            <a:ext cx="1947672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Поставщики сырья и</a:t>
            </a:r>
            <a:endParaRPr lang="en-US" sz="1310" dirty="0"/>
          </a:p>
          <a:p>
            <a:pPr marL="0" indent="0" algn="l">
              <a:buNone/>
            </a:pPr>
            <a:r>
              <a:rPr lang="en-US" sz="131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оборудования</a:t>
            </a:r>
            <a:endParaRPr lang="en-US" sz="1310" dirty="0"/>
          </a:p>
        </p:txBody>
      </p:sp>
      <p:sp>
        <p:nvSpPr>
          <p:cNvPr id="39" name="Shape 37"/>
          <p:cNvSpPr/>
          <p:nvPr/>
        </p:nvSpPr>
        <p:spPr>
          <a:xfrm>
            <a:off x="2560320" y="3694176"/>
            <a:ext cx="23317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15184" y="3749040"/>
            <a:ext cx="2221992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Долгосрочные контракты</a:t>
            </a:r>
            <a:endParaRPr lang="en-US" sz="1310" dirty="0"/>
          </a:p>
          <a:p>
            <a:pPr marL="0" indent="0" algn="l">
              <a:buNone/>
            </a:pPr>
            <a:r>
              <a:rPr lang="en-US" sz="131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объемы</a:t>
            </a:r>
            <a:endParaRPr lang="en-US" sz="1310" dirty="0"/>
          </a:p>
        </p:txBody>
      </p:sp>
      <p:sp>
        <p:nvSpPr>
          <p:cNvPr id="41" name="Shape 39"/>
          <p:cNvSpPr/>
          <p:nvPr/>
        </p:nvSpPr>
        <p:spPr>
          <a:xfrm>
            <a:off x="4892040" y="3694176"/>
            <a:ext cx="4206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46904" y="3749040"/>
            <a:ext cx="4096512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Влияют на сроки запуска, себестоимость и качество материалов</a:t>
            </a:r>
            <a:endParaRPr lang="en-US" sz="1310" dirty="0"/>
          </a:p>
        </p:txBody>
      </p:sp>
      <p:sp>
        <p:nvSpPr>
          <p:cNvPr id="43" name="Shape 41"/>
          <p:cNvSpPr/>
          <p:nvPr/>
        </p:nvSpPr>
        <p:spPr>
          <a:xfrm>
            <a:off x="9098280" y="3694176"/>
            <a:ext cx="1828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53144" y="3749040"/>
            <a:ext cx="1719072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31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Средне-высокий</a:t>
            </a:r>
            <a:endParaRPr lang="en-US" sz="1310" dirty="0"/>
          </a:p>
        </p:txBody>
      </p:sp>
      <p:sp>
        <p:nvSpPr>
          <p:cNvPr id="45" name="Shape 43"/>
          <p:cNvSpPr/>
          <p:nvPr/>
        </p:nvSpPr>
        <p:spPr>
          <a:xfrm>
            <a:off x="502920" y="4334256"/>
            <a:ext cx="2057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7784" y="4389120"/>
            <a:ext cx="1947672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Банк / инвестор</a:t>
            </a:r>
            <a:endParaRPr lang="en-US" sz="1310" dirty="0"/>
          </a:p>
        </p:txBody>
      </p:sp>
      <p:sp>
        <p:nvSpPr>
          <p:cNvPr id="47" name="Shape 45"/>
          <p:cNvSpPr/>
          <p:nvPr/>
        </p:nvSpPr>
        <p:spPr>
          <a:xfrm>
            <a:off x="2560320" y="4334256"/>
            <a:ext cx="23317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15184" y="4389120"/>
            <a:ext cx="2221992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Возврат средств и</a:t>
            </a:r>
            <a:endParaRPr lang="en-US" sz="1310" dirty="0"/>
          </a:p>
          <a:p>
            <a:pPr marL="0" indent="0" algn="l">
              <a:buNone/>
            </a:pPr>
            <a:r>
              <a:rPr lang="en-US" sz="131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прогнозируемый поток</a:t>
            </a:r>
            <a:endParaRPr lang="en-US" sz="1310" dirty="0"/>
          </a:p>
        </p:txBody>
      </p:sp>
      <p:sp>
        <p:nvSpPr>
          <p:cNvPr id="49" name="Shape 47"/>
          <p:cNvSpPr/>
          <p:nvPr/>
        </p:nvSpPr>
        <p:spPr>
          <a:xfrm>
            <a:off x="4892040" y="4334256"/>
            <a:ext cx="4206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46904" y="4389120"/>
            <a:ext cx="4096512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Может обеспечить финансирование проекта или ограничить масштаб</a:t>
            </a:r>
            <a:endParaRPr lang="en-US" sz="1310" dirty="0"/>
          </a:p>
        </p:txBody>
      </p:sp>
      <p:sp>
        <p:nvSpPr>
          <p:cNvPr id="51" name="Shape 49"/>
          <p:cNvSpPr/>
          <p:nvPr/>
        </p:nvSpPr>
        <p:spPr>
          <a:xfrm>
            <a:off x="9098280" y="4334256"/>
            <a:ext cx="1828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153144" y="4389120"/>
            <a:ext cx="1719072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31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Средний</a:t>
            </a:r>
            <a:endParaRPr lang="en-US" sz="1310" dirty="0"/>
          </a:p>
        </p:txBody>
      </p:sp>
      <p:sp>
        <p:nvSpPr>
          <p:cNvPr id="53" name="Shape 51"/>
          <p:cNvSpPr/>
          <p:nvPr/>
        </p:nvSpPr>
        <p:spPr>
          <a:xfrm>
            <a:off x="502920" y="4974336"/>
            <a:ext cx="2057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57784" y="5029200"/>
            <a:ext cx="1947672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Регуляторы и</a:t>
            </a:r>
            <a:endParaRPr lang="en-US" sz="1310" dirty="0"/>
          </a:p>
          <a:p>
            <a:pPr marL="0" indent="0" algn="l">
              <a:buNone/>
            </a:pPr>
            <a:r>
              <a:rPr lang="en-US" sz="131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сертификация</a:t>
            </a:r>
            <a:endParaRPr lang="en-US" sz="1310" dirty="0"/>
          </a:p>
        </p:txBody>
      </p:sp>
      <p:sp>
        <p:nvSpPr>
          <p:cNvPr id="55" name="Shape 53"/>
          <p:cNvSpPr/>
          <p:nvPr/>
        </p:nvSpPr>
        <p:spPr>
          <a:xfrm>
            <a:off x="2560320" y="4974336"/>
            <a:ext cx="2331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615184" y="5029200"/>
            <a:ext cx="2221992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Соответствие нормам</a:t>
            </a:r>
            <a:endParaRPr lang="en-US" sz="1310" dirty="0"/>
          </a:p>
          <a:p>
            <a:pPr marL="0" indent="0" algn="l">
              <a:buNone/>
            </a:pPr>
            <a:r>
              <a:rPr lang="en-US" sz="131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безопасности</a:t>
            </a:r>
            <a:endParaRPr lang="en-US" sz="1310" dirty="0"/>
          </a:p>
        </p:txBody>
      </p:sp>
      <p:sp>
        <p:nvSpPr>
          <p:cNvPr id="57" name="Shape 55"/>
          <p:cNvSpPr/>
          <p:nvPr/>
        </p:nvSpPr>
        <p:spPr>
          <a:xfrm>
            <a:off x="4892040" y="4974336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46904" y="5029200"/>
            <a:ext cx="4096512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Определяют возможность выпуска новых видов упаковки</a:t>
            </a:r>
            <a:endParaRPr lang="en-US" sz="1310" dirty="0"/>
          </a:p>
        </p:txBody>
      </p:sp>
      <p:sp>
        <p:nvSpPr>
          <p:cNvPr id="59" name="Shape 57"/>
          <p:cNvSpPr/>
          <p:nvPr/>
        </p:nvSpPr>
        <p:spPr>
          <a:xfrm>
            <a:off x="9098280" y="4974336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153144" y="5029200"/>
            <a:ext cx="1719072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31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Средний</a:t>
            </a:r>
            <a:endParaRPr lang="en-US" sz="1310" dirty="0"/>
          </a:p>
        </p:txBody>
      </p:sp>
      <p:sp>
        <p:nvSpPr>
          <p:cNvPr id="61" name="Shape 59"/>
          <p:cNvSpPr/>
          <p:nvPr/>
        </p:nvSpPr>
        <p:spPr>
          <a:xfrm>
            <a:off x="502920" y="5650992"/>
            <a:ext cx="1046988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B9C7D8"/>
            </a:solidFill>
            <a:prstDash val="solid"/>
          </a:ln>
          <a:effectLst>
            <a:outerShdw blurRad="16510" dist="508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731520" y="5751576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Фокус взаимодействия</a:t>
            </a:r>
            <a:endParaRPr lang="en-US" sz="1320" dirty="0"/>
          </a:p>
        </p:txBody>
      </p:sp>
      <p:sp>
        <p:nvSpPr>
          <p:cNvPr id="64" name="Text 62"/>
          <p:cNvSpPr/>
          <p:nvPr/>
        </p:nvSpPr>
        <p:spPr>
          <a:xfrm>
            <a:off x="768096" y="6071616"/>
            <a:ext cx="1071676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Критическая группа для управления проектом: руководство + ключевые заказчики + производственный блок.</a:t>
            </a:r>
            <a:endParaRPr lang="en-US" sz="1430" dirty="0"/>
          </a:p>
        </p:txBody>
      </p:sp>
      <p:sp>
        <p:nvSpPr>
          <p:cNvPr id="6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656832"/>
            <a:ext cx="320040" cy="10972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4546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Проблема и цель управленческого решения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530352" y="877824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4B5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Формулировка в логике SMART / OKR</a:t>
            </a:r>
            <a:endParaRPr lang="en-US" sz="102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201400" cy="0"/>
          </a:xfrm>
          <a:prstGeom prst="line">
            <a:avLst/>
          </a:prstGeom>
          <a:noFill/>
          <a:ln w="12700">
            <a:solidFill>
              <a:srgbClr val="AFC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98448"/>
            <a:ext cx="539496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B9C7D8"/>
            </a:solidFill>
            <a:prstDash val="solid"/>
          </a:ln>
          <a:effectLst>
            <a:outerShdw blurRad="16510" dist="508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298448"/>
            <a:ext cx="5394960" cy="310896"/>
          </a:xfrm>
          <a:prstGeom prst="rect">
            <a:avLst/>
          </a:prstGeom>
          <a:solidFill>
            <a:srgbClr val="EAF2FB"/>
          </a:solidFill>
          <a:ln w="12700">
            <a:solidFill>
              <a:srgbClr val="EAF2F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362456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786384" y="1682496"/>
            <a:ext cx="5138928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Компания сохраняет сильную репутацию и клиентскую базу, но ее текущая специализация слишком узка для рынка с усиливающейся конкуренцией. При сохранении статус-кво растут ценовое давление и риск потери доли рынка.</a:t>
            </a:r>
            <a:endParaRPr lang="en-US" sz="1460" dirty="0"/>
          </a:p>
        </p:txBody>
      </p:sp>
      <p:sp>
        <p:nvSpPr>
          <p:cNvPr id="9" name="Shape 7"/>
          <p:cNvSpPr/>
          <p:nvPr/>
        </p:nvSpPr>
        <p:spPr>
          <a:xfrm>
            <a:off x="6199632" y="1298448"/>
            <a:ext cx="534924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B9C7D8"/>
            </a:solidFill>
            <a:prstDash val="solid"/>
          </a:ln>
          <a:effectLst>
            <a:outerShdw blurRad="16510" dist="508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298448"/>
            <a:ext cx="5349240" cy="310896"/>
          </a:xfrm>
          <a:prstGeom prst="rect">
            <a:avLst/>
          </a:prstGeom>
          <a:solidFill>
            <a:srgbClr val="F1ECFB"/>
          </a:solidFill>
          <a:ln w="12700">
            <a:solidFill>
              <a:srgbClr val="F1ECF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91072" y="1362456"/>
            <a:ext cx="5166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решения (SMART)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6327648" y="1682496"/>
            <a:ext cx="5093208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6 месяцев запустить диверсификацию линейки и связанных сервисов, чтобы повысить ценность предложения для текущих B2B-клиентов, обеспечить первые пилотные продажи и создать основу для роста выручки.</a:t>
            </a:r>
            <a:endParaRPr lang="en-US" sz="1460" dirty="0"/>
          </a:p>
        </p:txBody>
      </p:sp>
      <p:sp>
        <p:nvSpPr>
          <p:cNvPr id="13" name="Text 11"/>
          <p:cNvSpPr/>
          <p:nvPr/>
        </p:nvSpPr>
        <p:spPr>
          <a:xfrm>
            <a:off x="731520" y="34564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7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OKR проекта</a:t>
            </a:r>
            <a:endParaRPr lang="en-US" sz="1570" dirty="0"/>
          </a:p>
        </p:txBody>
      </p:sp>
      <p:sp>
        <p:nvSpPr>
          <p:cNvPr id="14" name="Shape 12"/>
          <p:cNvSpPr/>
          <p:nvPr/>
        </p:nvSpPr>
        <p:spPr>
          <a:xfrm>
            <a:off x="658368" y="3730752"/>
            <a:ext cx="361188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877056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EA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954780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O1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1527048" y="390448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Проверить спрос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822960" y="4334256"/>
            <a:ext cx="3246120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Провести 10+ интервью с клиентами и выбрать 2-3 наиболее перспективных направления.</a:t>
            </a:r>
            <a:endParaRPr lang="en-US" sz="1360" dirty="0"/>
          </a:p>
        </p:txBody>
      </p:sp>
      <p:sp>
        <p:nvSpPr>
          <p:cNvPr id="19" name="Shape 17"/>
          <p:cNvSpPr/>
          <p:nvPr/>
        </p:nvSpPr>
        <p:spPr>
          <a:xfrm>
            <a:off x="4471416" y="3730752"/>
            <a:ext cx="3611880" cy="1783080"/>
          </a:xfrm>
          <a:prstGeom prst="roundRect">
            <a:avLst>
              <a:gd name="adj" fmla="val 3077"/>
            </a:avLst>
          </a:prstGeom>
          <a:solidFill>
            <a:srgbClr val="F3EEFA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36008" y="3877056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B4A7D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27448" y="3954780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O2</a:t>
            </a:r>
            <a:endParaRPr lang="en-US" sz="1180" dirty="0"/>
          </a:p>
        </p:txBody>
      </p:sp>
      <p:sp>
        <p:nvSpPr>
          <p:cNvPr id="22" name="Text 20"/>
          <p:cNvSpPr/>
          <p:nvPr/>
        </p:nvSpPr>
        <p:spPr>
          <a:xfrm>
            <a:off x="5340096" y="390448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Запустить пилот</a:t>
            </a:r>
            <a:endParaRPr lang="en-US" sz="1420" dirty="0"/>
          </a:p>
        </p:txBody>
      </p:sp>
      <p:sp>
        <p:nvSpPr>
          <p:cNvPr id="23" name="Text 21"/>
          <p:cNvSpPr/>
          <p:nvPr/>
        </p:nvSpPr>
        <p:spPr>
          <a:xfrm>
            <a:off x="4636008" y="4334256"/>
            <a:ext cx="3246120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Подготовить новую линейку, настроить материалы и процессы, выполнить первые заказы.</a:t>
            </a:r>
            <a:endParaRPr lang="en-US" sz="1360" dirty="0"/>
          </a:p>
        </p:txBody>
      </p:sp>
      <p:sp>
        <p:nvSpPr>
          <p:cNvPr id="24" name="Shape 22"/>
          <p:cNvSpPr/>
          <p:nvPr/>
        </p:nvSpPr>
        <p:spPr>
          <a:xfrm>
            <a:off x="8284464" y="3730752"/>
            <a:ext cx="361188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49056" y="3877056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EA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40496" y="3954780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O3</a:t>
            </a:r>
            <a:endParaRPr lang="en-US" sz="1180" dirty="0"/>
          </a:p>
        </p:txBody>
      </p:sp>
      <p:sp>
        <p:nvSpPr>
          <p:cNvPr id="27" name="Text 25"/>
          <p:cNvSpPr/>
          <p:nvPr/>
        </p:nvSpPr>
        <p:spPr>
          <a:xfrm>
            <a:off x="9153144" y="390448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Закрепить эффект</a:t>
            </a:r>
            <a:endParaRPr lang="en-US" sz="1420" dirty="0"/>
          </a:p>
        </p:txBody>
      </p:sp>
      <p:sp>
        <p:nvSpPr>
          <p:cNvPr id="28" name="Text 26"/>
          <p:cNvSpPr/>
          <p:nvPr/>
        </p:nvSpPr>
        <p:spPr>
          <a:xfrm>
            <a:off x="8449056" y="4334256"/>
            <a:ext cx="3246120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Получить повторные заказы, сформировать пакет продаж и стандарты масштабирования.</a:t>
            </a:r>
            <a:endParaRPr lang="en-US" sz="136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656832"/>
            <a:ext cx="320040" cy="10972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4546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Альтернативы решения и их приоритизация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530352" y="877824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4B5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вариантов по эффекту, вложениям и риску</a:t>
            </a:r>
            <a:endParaRPr lang="en-US" sz="102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201400" cy="0"/>
          </a:xfrm>
          <a:prstGeom prst="line">
            <a:avLst/>
          </a:prstGeom>
          <a:noFill/>
          <a:ln w="12700">
            <a:solidFill>
              <a:srgbClr val="AFC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53312"/>
            <a:ext cx="1691640" cy="384048"/>
          </a:xfrm>
          <a:prstGeom prst="rect">
            <a:avLst/>
          </a:prstGeom>
          <a:solidFill>
            <a:srgbClr val="1F4E79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7784" y="1408176"/>
            <a:ext cx="1581912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Альтернатива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2194560" y="1353312"/>
            <a:ext cx="2606040" cy="384048"/>
          </a:xfrm>
          <a:prstGeom prst="rect">
            <a:avLst/>
          </a:prstGeom>
          <a:solidFill>
            <a:srgbClr val="1F4E79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49424" y="1408176"/>
            <a:ext cx="2496312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Краткое содержание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4800600" y="1353312"/>
            <a:ext cx="2560320" cy="384048"/>
          </a:xfrm>
          <a:prstGeom prst="rect">
            <a:avLst/>
          </a:prstGeom>
          <a:solidFill>
            <a:srgbClr val="1F4E79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55464" y="1408176"/>
            <a:ext cx="2450592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Плюсы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7360920" y="1353312"/>
            <a:ext cx="2788920" cy="384048"/>
          </a:xfrm>
          <a:prstGeom prst="rect">
            <a:avLst/>
          </a:prstGeom>
          <a:solidFill>
            <a:srgbClr val="1F4E79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15784" y="1408176"/>
            <a:ext cx="2679192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Риски / минусы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10149839" y="1353312"/>
            <a:ext cx="1218551" cy="384048"/>
          </a:xfrm>
          <a:prstGeom prst="rect">
            <a:avLst/>
          </a:prstGeom>
          <a:solidFill>
            <a:srgbClr val="1F4E79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04704" y="1408176"/>
            <a:ext cx="109883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Приоритет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502920" y="1737360"/>
            <a:ext cx="1691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" y="1792224"/>
            <a:ext cx="1581912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А1. Диверсификация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продукта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194560" y="1737360"/>
            <a:ext cx="2606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49424" y="1792224"/>
            <a:ext cx="2496312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Эко-упаковка, малые серии,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персонализированные этикетки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00600" y="1737360"/>
            <a:ext cx="25603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55464" y="1792224"/>
            <a:ext cx="2450592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Быстрый выход к текущим клиентам;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 среднего чека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60920" y="1737360"/>
            <a:ext cx="2788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15784" y="1792224"/>
            <a:ext cx="2679192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Нужны тесты материалов и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настройка процессов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149840" y="1737360"/>
            <a:ext cx="121855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04704" y="1792224"/>
            <a:ext cx="1098836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" y="2487168"/>
            <a:ext cx="1691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" y="2542032"/>
            <a:ext cx="1581912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А2. Смежные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сервисы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194560" y="2487168"/>
            <a:ext cx="2606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49424" y="2542032"/>
            <a:ext cx="2496312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Дизайн, предпечатная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подготовка, прототипирование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00600" y="2487168"/>
            <a:ext cx="25603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55464" y="2542032"/>
            <a:ext cx="2450592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Укрепляет отношения с клиентом;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повышает маржу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360920" y="2487168"/>
            <a:ext cx="2788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15784" y="2542032"/>
            <a:ext cx="2679192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Требуются компетенции и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стандарты сервиса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0149840" y="2487168"/>
            <a:ext cx="121855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04704" y="2542032"/>
            <a:ext cx="1098836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02920" y="3236976"/>
            <a:ext cx="1691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7784" y="3291840"/>
            <a:ext cx="1581912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А3. Сохранить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фокус и цену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194560" y="3236976"/>
            <a:ext cx="2606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49424" y="3291840"/>
            <a:ext cx="2496312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Остаться в текущем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ассортименте и снижать цену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800600" y="3236976"/>
            <a:ext cx="25603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5464" y="3291840"/>
            <a:ext cx="2450592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Минимум изменений и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быстрый старт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360920" y="3236976"/>
            <a:ext cx="2788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15784" y="3291840"/>
            <a:ext cx="2679192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Высокое ценовое давление и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слабый стратегический эффект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10149840" y="3236976"/>
            <a:ext cx="121855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204704" y="3291840"/>
            <a:ext cx="1098836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85800" y="4572000"/>
            <a:ext cx="10972800" cy="932688"/>
          </a:xfrm>
          <a:prstGeom prst="roundRect">
            <a:avLst>
              <a:gd name="adj" fmla="val 5882"/>
            </a:avLst>
          </a:prstGeom>
          <a:solidFill>
            <a:srgbClr val="FDF8E7"/>
          </a:solidFill>
          <a:ln w="12700">
            <a:solidFill>
              <a:srgbClr val="E9D78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4400" y="481888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7A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 команды</a:t>
            </a:r>
            <a:endParaRPr lang="en-US" sz="1480" dirty="0"/>
          </a:p>
        </p:txBody>
      </p:sp>
      <p:sp>
        <p:nvSpPr>
          <p:cNvPr id="47" name="Text 45"/>
          <p:cNvSpPr/>
          <p:nvPr/>
        </p:nvSpPr>
        <p:spPr>
          <a:xfrm>
            <a:off x="2852928" y="4745736"/>
            <a:ext cx="81838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7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Выбираем комбинированную стратегию А1 + А2: сначала запускаем новую продуктовую линейку для существующих клиентов, затем добавляем сервисы дизайна и предпечатной подготовки.</a:t>
            </a:r>
            <a:endParaRPr lang="en-US" sz="1370" dirty="0"/>
          </a:p>
        </p:txBody>
      </p:sp>
      <p:sp>
        <p:nvSpPr>
          <p:cNvPr id="48" name="Text 46"/>
          <p:cNvSpPr/>
          <p:nvPr/>
        </p:nvSpPr>
        <p:spPr>
          <a:xfrm>
            <a:off x="896112" y="612648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Приоритет проекта: А1 → А2 → отказ от А3</a:t>
            </a:r>
            <a:endParaRPr lang="en-US" sz="1420" dirty="0"/>
          </a:p>
        </p:txBody>
      </p:sp>
      <p:sp>
        <p:nvSpPr>
          <p:cNvPr id="5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656832"/>
            <a:ext cx="320040" cy="10972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4546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Рекомендуемое решение: проект диверсификации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530352" y="877824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4B5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Поэтапное внедрение с быстрым пилотом и масштабированием</a:t>
            </a:r>
            <a:endParaRPr lang="en-US" sz="102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201400" cy="0"/>
          </a:xfrm>
          <a:prstGeom prst="line">
            <a:avLst/>
          </a:prstGeom>
          <a:noFill/>
          <a:ln w="12700">
            <a:solidFill>
              <a:srgbClr val="AFC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2788920"/>
            <a:ext cx="9784080" cy="0"/>
          </a:xfrm>
          <a:prstGeom prst="line">
            <a:avLst/>
          </a:prstGeom>
          <a:noFill/>
          <a:ln w="12700">
            <a:solidFill>
              <a:srgbClr val="AFC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523744"/>
            <a:ext cx="566928" cy="566928"/>
          </a:xfrm>
          <a:prstGeom prst="ellipse">
            <a:avLst/>
          </a:prstGeom>
          <a:solidFill>
            <a:srgbClr val="F2CF5B"/>
          </a:solidFill>
          <a:ln w="12700">
            <a:solidFill>
              <a:srgbClr val="F2CF5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4712" y="2711196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1. Подготовка</a:t>
            </a:r>
            <a:endParaRPr lang="en-US" sz="1480" dirty="0"/>
          </a:p>
        </p:txBody>
      </p:sp>
      <p:sp>
        <p:nvSpPr>
          <p:cNvPr id="9" name="Text 7"/>
          <p:cNvSpPr/>
          <p:nvPr/>
        </p:nvSpPr>
        <p:spPr>
          <a:xfrm>
            <a:off x="402336" y="3346704"/>
            <a:ext cx="269748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4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спроса, выбор направлений, расчет экономики.</a:t>
            </a:r>
            <a:endParaRPr lang="en-US" sz="1340" dirty="0"/>
          </a:p>
        </p:txBody>
      </p:sp>
      <p:sp>
        <p:nvSpPr>
          <p:cNvPr id="10" name="Shape 8"/>
          <p:cNvSpPr/>
          <p:nvPr/>
        </p:nvSpPr>
        <p:spPr>
          <a:xfrm>
            <a:off x="3840480" y="2523744"/>
            <a:ext cx="566928" cy="566928"/>
          </a:xfrm>
          <a:prstGeom prst="ellipse">
            <a:avLst/>
          </a:prstGeom>
          <a:solidFill>
            <a:srgbClr val="B4A7D6"/>
          </a:solidFill>
          <a:ln w="12700">
            <a:solidFill>
              <a:srgbClr val="B4A7D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50792" y="2711196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11880" y="187452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2. Пилот</a:t>
            </a:r>
            <a:endParaRPr lang="en-US" sz="1480" dirty="0"/>
          </a:p>
        </p:txBody>
      </p:sp>
      <p:sp>
        <p:nvSpPr>
          <p:cNvPr id="13" name="Text 11"/>
          <p:cNvSpPr/>
          <p:nvPr/>
        </p:nvSpPr>
        <p:spPr>
          <a:xfrm>
            <a:off x="3328416" y="3346704"/>
            <a:ext cx="269748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4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 материалов, настройка предпечати, первые заказы.</a:t>
            </a:r>
            <a:endParaRPr lang="en-US" sz="1340" dirty="0"/>
          </a:p>
        </p:txBody>
      </p:sp>
      <p:sp>
        <p:nvSpPr>
          <p:cNvPr id="14" name="Shape 12"/>
          <p:cNvSpPr/>
          <p:nvPr/>
        </p:nvSpPr>
        <p:spPr>
          <a:xfrm>
            <a:off x="6766560" y="2523744"/>
            <a:ext cx="566928" cy="566928"/>
          </a:xfrm>
          <a:prstGeom prst="ellipse">
            <a:avLst/>
          </a:prstGeom>
          <a:solidFill>
            <a:srgbClr val="F2CF5B"/>
          </a:solidFill>
          <a:ln w="12700">
            <a:solidFill>
              <a:srgbClr val="F2CF5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76872" y="2711196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37960" y="187452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3. Масштабирование</a:t>
            </a:r>
            <a:endParaRPr lang="en-US" sz="1480" dirty="0"/>
          </a:p>
        </p:txBody>
      </p:sp>
      <p:sp>
        <p:nvSpPr>
          <p:cNvPr id="17" name="Text 15"/>
          <p:cNvSpPr/>
          <p:nvPr/>
        </p:nvSpPr>
        <p:spPr>
          <a:xfrm>
            <a:off x="6254496" y="3346704"/>
            <a:ext cx="269748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4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Коммерческий запуск, пакет сервисов, повторные продажи.</a:t>
            </a:r>
            <a:endParaRPr lang="en-US" sz="1340" dirty="0"/>
          </a:p>
        </p:txBody>
      </p:sp>
      <p:sp>
        <p:nvSpPr>
          <p:cNvPr id="18" name="Shape 16"/>
          <p:cNvSpPr/>
          <p:nvPr/>
        </p:nvSpPr>
        <p:spPr>
          <a:xfrm>
            <a:off x="685800" y="4407408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9C7D8"/>
            </a:solidFill>
            <a:prstDash val="solid"/>
          </a:ln>
          <a:effectLst>
            <a:outerShdw blurRad="16510" dist="508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4471416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меняем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813816" y="4791456"/>
            <a:ext cx="3401568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продуктовую линейку;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пакет сопутствующих услуг;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 коммуникацию с текущими клиентами.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498848" y="4407408"/>
            <a:ext cx="30632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9C7D8"/>
            </a:solidFill>
            <a:prstDash val="solid"/>
          </a:ln>
          <a:effectLst>
            <a:outerShdw blurRad="16510" dist="508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90288" y="4471416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Нужные ресурсы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4626864" y="4791456"/>
            <a:ext cx="2807208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Маркетинговая аналитика, тестовые материалы, настройка предпечати, обучение менеджеров продаж.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726680" y="4407408"/>
            <a:ext cx="37947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9C7D8"/>
            </a:solidFill>
            <a:prstDash val="solid"/>
          </a:ln>
          <a:effectLst>
            <a:outerShdw blurRad="16510" dist="508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818120" y="4471416"/>
            <a:ext cx="3611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Ожидаемый результат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7854696" y="4791456"/>
            <a:ext cx="3538728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Новые продажи без ценовой войны, рост среднего чека и повышение удержания ключевых заказчиков.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656832"/>
            <a:ext cx="320040" cy="10972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4546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График реализации проекта диверсификации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530352" y="877824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4B5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 приближена к образцу из методички (график Гантта)</a:t>
            </a:r>
            <a:endParaRPr lang="en-US" sz="102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201400" cy="0"/>
          </a:xfrm>
          <a:prstGeom prst="line">
            <a:avLst/>
          </a:prstGeom>
          <a:noFill/>
          <a:ln w="12700">
            <a:solidFill>
              <a:srgbClr val="AFC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25880"/>
            <a:ext cx="1056132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77640" y="1325880"/>
            <a:ext cx="7315200" cy="347472"/>
          </a:xfrm>
          <a:prstGeom prst="rect">
            <a:avLst/>
          </a:prstGeom>
          <a:solidFill>
            <a:srgbClr val="F1F3F8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77640" y="1408176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диверсификации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3977640" y="1673352"/>
            <a:ext cx="3657600" cy="310896"/>
          </a:xfrm>
          <a:prstGeom prst="rect">
            <a:avLst/>
          </a:prstGeom>
          <a:solidFill>
            <a:srgbClr val="E8D879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35240" y="1673352"/>
            <a:ext cx="3657600" cy="310896"/>
          </a:xfrm>
          <a:prstGeom prst="rect">
            <a:avLst/>
          </a:prstGeom>
          <a:solidFill>
            <a:srgbClr val="B4A7D6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77640" y="1773936"/>
            <a:ext cx="3657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Апрель</a:t>
            </a:r>
            <a:endParaRPr lang="en-US" sz="1040" dirty="0"/>
          </a:p>
        </p:txBody>
      </p:sp>
      <p:sp>
        <p:nvSpPr>
          <p:cNvPr id="11" name="Text 9"/>
          <p:cNvSpPr/>
          <p:nvPr/>
        </p:nvSpPr>
        <p:spPr>
          <a:xfrm>
            <a:off x="7635240" y="1773936"/>
            <a:ext cx="3657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Май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731520" y="1984248"/>
            <a:ext cx="914400" cy="384048"/>
          </a:xfrm>
          <a:prstGeom prst="rect">
            <a:avLst/>
          </a:prstGeom>
          <a:solidFill>
            <a:srgbClr val="F6F8FB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45920" y="1984248"/>
            <a:ext cx="2331720" cy="384048"/>
          </a:xfrm>
          <a:prstGeom prst="rect">
            <a:avLst/>
          </a:prstGeom>
          <a:solidFill>
            <a:srgbClr val="F6F8FB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2103120"/>
            <a:ext cx="69494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719072" y="2103120"/>
            <a:ext cx="215798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977640" y="1984248"/>
            <a:ext cx="914400" cy="384048"/>
          </a:xfrm>
          <a:prstGeom prst="rect">
            <a:avLst/>
          </a:prstGeom>
          <a:solidFill>
            <a:srgbClr val="F6F8FB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0" y="2103120"/>
            <a:ext cx="82296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1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4892040" y="1984248"/>
            <a:ext cx="914400" cy="384048"/>
          </a:xfrm>
          <a:prstGeom prst="rect">
            <a:avLst/>
          </a:prstGeom>
          <a:solidFill>
            <a:srgbClr val="F6F8FB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103120"/>
            <a:ext cx="82296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2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5806440" y="1984248"/>
            <a:ext cx="914400" cy="384048"/>
          </a:xfrm>
          <a:prstGeom prst="rect">
            <a:avLst/>
          </a:prstGeom>
          <a:solidFill>
            <a:srgbClr val="F6F8FB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0" y="2103120"/>
            <a:ext cx="82296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3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6720840" y="1984248"/>
            <a:ext cx="914400" cy="384048"/>
          </a:xfrm>
          <a:prstGeom prst="rect">
            <a:avLst/>
          </a:prstGeom>
          <a:solidFill>
            <a:srgbClr val="F6F8FB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2103120"/>
            <a:ext cx="82296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4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7635240" y="1984248"/>
            <a:ext cx="914400" cy="384048"/>
          </a:xfrm>
          <a:prstGeom prst="rect">
            <a:avLst/>
          </a:prstGeom>
          <a:solidFill>
            <a:srgbClr val="F6F8FB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0" y="2103120"/>
            <a:ext cx="82296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5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8549640" y="1984248"/>
            <a:ext cx="914400" cy="384048"/>
          </a:xfrm>
          <a:prstGeom prst="rect">
            <a:avLst/>
          </a:prstGeom>
          <a:solidFill>
            <a:srgbClr val="F6F8FB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0" y="2103120"/>
            <a:ext cx="82296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6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9464040" y="1984248"/>
            <a:ext cx="914400" cy="384048"/>
          </a:xfrm>
          <a:prstGeom prst="rect">
            <a:avLst/>
          </a:prstGeom>
          <a:solidFill>
            <a:srgbClr val="F6F8FB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09760" y="2103120"/>
            <a:ext cx="82296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7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10378440" y="1984248"/>
            <a:ext cx="914400" cy="384048"/>
          </a:xfrm>
          <a:prstGeom prst="rect">
            <a:avLst/>
          </a:prstGeom>
          <a:solidFill>
            <a:srgbClr val="F6F8FB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24160" y="2103120"/>
            <a:ext cx="82296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8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731520" y="2368296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645920" y="2368296"/>
            <a:ext cx="2331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6112" y="2487168"/>
            <a:ext cx="5029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1728216" y="243230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спроса и выбор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направлений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3977640" y="2368296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92040" y="2368296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06440" y="2368296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20840" y="2368296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35240" y="2368296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549640" y="2368296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464040" y="2368296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378440" y="2368296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032504" y="2450592"/>
            <a:ext cx="2084832" cy="201168"/>
          </a:xfrm>
          <a:prstGeom prst="rect">
            <a:avLst/>
          </a:prstGeom>
          <a:solidFill>
            <a:srgbClr val="F2CF5B"/>
          </a:solidFill>
          <a:ln w="12700">
            <a:solidFill>
              <a:srgbClr val="F2CF5B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31520" y="2752344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45920" y="2752344"/>
            <a:ext cx="2331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96112" y="2871216"/>
            <a:ext cx="5029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80" dirty="0"/>
          </a:p>
        </p:txBody>
      </p:sp>
      <p:sp>
        <p:nvSpPr>
          <p:cNvPr id="48" name="Text 46"/>
          <p:cNvSpPr/>
          <p:nvPr/>
        </p:nvSpPr>
        <p:spPr>
          <a:xfrm>
            <a:off x="1728216" y="281635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Расчет экономики и бюджета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проекта</a:t>
            </a:r>
            <a:endParaRPr lang="en-US" sz="940" dirty="0"/>
          </a:p>
        </p:txBody>
      </p:sp>
      <p:sp>
        <p:nvSpPr>
          <p:cNvPr id="49" name="Shape 47"/>
          <p:cNvSpPr/>
          <p:nvPr/>
        </p:nvSpPr>
        <p:spPr>
          <a:xfrm>
            <a:off x="3977640" y="2752344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92040" y="2752344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806440" y="2752344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720840" y="2752344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635240" y="2752344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549640" y="2752344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464040" y="2752344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378440" y="2752344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227064" y="2834640"/>
            <a:ext cx="987552" cy="201168"/>
          </a:xfrm>
          <a:prstGeom prst="rect">
            <a:avLst/>
          </a:prstGeom>
          <a:solidFill>
            <a:srgbClr val="F2CF5B"/>
          </a:solidFill>
          <a:ln w="12700">
            <a:solidFill>
              <a:srgbClr val="F2CF5B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31520" y="3136392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645920" y="3136392"/>
            <a:ext cx="2331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96112" y="3255264"/>
            <a:ext cx="5029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80" dirty="0"/>
          </a:p>
        </p:txBody>
      </p:sp>
      <p:sp>
        <p:nvSpPr>
          <p:cNvPr id="61" name="Text 59"/>
          <p:cNvSpPr/>
          <p:nvPr/>
        </p:nvSpPr>
        <p:spPr>
          <a:xfrm>
            <a:off x="1728216" y="32004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Подбор материалов и поставщиков</a:t>
            </a:r>
            <a:endParaRPr lang="en-US" sz="940" dirty="0"/>
          </a:p>
        </p:txBody>
      </p:sp>
      <p:sp>
        <p:nvSpPr>
          <p:cNvPr id="62" name="Shape 60"/>
          <p:cNvSpPr/>
          <p:nvPr/>
        </p:nvSpPr>
        <p:spPr>
          <a:xfrm>
            <a:off x="3977640" y="3136392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892040" y="3136392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806440" y="3136392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720840" y="3136392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635240" y="3136392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549640" y="3136392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464040" y="3136392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378440" y="3136392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324344" y="3218688"/>
            <a:ext cx="713232" cy="201168"/>
          </a:xfrm>
          <a:prstGeom prst="rect">
            <a:avLst/>
          </a:prstGeom>
          <a:solidFill>
            <a:srgbClr val="F2CF5B"/>
          </a:solidFill>
          <a:ln w="12700">
            <a:solidFill>
              <a:srgbClr val="F2CF5B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31520" y="3520440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645920" y="3520440"/>
            <a:ext cx="2331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96112" y="3639312"/>
            <a:ext cx="5029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80" dirty="0"/>
          </a:p>
        </p:txBody>
      </p:sp>
      <p:sp>
        <p:nvSpPr>
          <p:cNvPr id="74" name="Text 72"/>
          <p:cNvSpPr/>
          <p:nvPr/>
        </p:nvSpPr>
        <p:spPr>
          <a:xfrm>
            <a:off x="1728216" y="358444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Настройка предпечати и пилотных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процессов</a:t>
            </a:r>
            <a:endParaRPr lang="en-US" sz="940" dirty="0"/>
          </a:p>
        </p:txBody>
      </p:sp>
      <p:sp>
        <p:nvSpPr>
          <p:cNvPr id="75" name="Shape 73"/>
          <p:cNvSpPr/>
          <p:nvPr/>
        </p:nvSpPr>
        <p:spPr>
          <a:xfrm>
            <a:off x="3977640" y="3520440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892040" y="3520440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806440" y="3520440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720840" y="3520440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635240" y="3520440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549640" y="3520440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464040" y="3520440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378440" y="3520440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690104" y="3602736"/>
            <a:ext cx="2267712" cy="201168"/>
          </a:xfrm>
          <a:prstGeom prst="rect">
            <a:avLst/>
          </a:prstGeom>
          <a:solidFill>
            <a:srgbClr val="B4A7D6"/>
          </a:solidFill>
          <a:ln w="12700">
            <a:solidFill>
              <a:srgbClr val="B4A7D6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31520" y="3904488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645920" y="3904488"/>
            <a:ext cx="2331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96112" y="4023360"/>
            <a:ext cx="5029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80" dirty="0"/>
          </a:p>
        </p:txBody>
      </p:sp>
      <p:sp>
        <p:nvSpPr>
          <p:cNvPr id="87" name="Text 85"/>
          <p:cNvSpPr/>
          <p:nvPr/>
        </p:nvSpPr>
        <p:spPr>
          <a:xfrm>
            <a:off x="1728216" y="396849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Пилотные продажи ключевым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клиентам</a:t>
            </a:r>
            <a:endParaRPr lang="en-US" sz="940" dirty="0"/>
          </a:p>
        </p:txBody>
      </p:sp>
      <p:sp>
        <p:nvSpPr>
          <p:cNvPr id="88" name="Shape 86"/>
          <p:cNvSpPr/>
          <p:nvPr/>
        </p:nvSpPr>
        <p:spPr>
          <a:xfrm>
            <a:off x="3977640" y="3904488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892040" y="3904488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806440" y="3904488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720840" y="3904488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635240" y="3904488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549640" y="3904488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464040" y="3904488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0378440" y="3904488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604504" y="3986784"/>
            <a:ext cx="1810512" cy="201168"/>
          </a:xfrm>
          <a:prstGeom prst="rect">
            <a:avLst/>
          </a:prstGeom>
          <a:solidFill>
            <a:srgbClr val="B4A7D6"/>
          </a:solidFill>
          <a:ln w="12700">
            <a:solidFill>
              <a:srgbClr val="B4A7D6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31520" y="4288536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645920" y="4288536"/>
            <a:ext cx="2331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96112" y="4407408"/>
            <a:ext cx="5029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80" dirty="0"/>
          </a:p>
        </p:txBody>
      </p:sp>
      <p:sp>
        <p:nvSpPr>
          <p:cNvPr id="100" name="Text 98"/>
          <p:cNvSpPr/>
          <p:nvPr/>
        </p:nvSpPr>
        <p:spPr>
          <a:xfrm>
            <a:off x="1728216" y="435254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Коммерческий запуск и маркетинг</a:t>
            </a:r>
            <a:endParaRPr lang="en-US" sz="940" dirty="0"/>
          </a:p>
        </p:txBody>
      </p:sp>
      <p:sp>
        <p:nvSpPr>
          <p:cNvPr id="101" name="Shape 99"/>
          <p:cNvSpPr/>
          <p:nvPr/>
        </p:nvSpPr>
        <p:spPr>
          <a:xfrm>
            <a:off x="3977640" y="4288536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892040" y="4288536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806440" y="4288536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720840" y="4288536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635240" y="4288536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549640" y="4288536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9464040" y="4288536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0378440" y="4288536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E3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9701784" y="4370832"/>
            <a:ext cx="1261872" cy="201168"/>
          </a:xfrm>
          <a:prstGeom prst="rect">
            <a:avLst/>
          </a:prstGeom>
          <a:solidFill>
            <a:srgbClr val="B4A7D6"/>
          </a:solidFill>
          <a:ln w="12700">
            <a:solidFill>
              <a:srgbClr val="B4A7D6">
                <a:alpha val="0"/>
              </a:srgbClr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868680" y="6153912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i="1" dirty="0">
                <a:solidFill>
                  <a:srgbClr val="4B5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Логика графика: в 1-м месяце — анализ и подготовка; во 2-м месяце — пилот, продажи и коммерческий запуск.</a:t>
            </a:r>
            <a:endParaRPr lang="en-US" sz="1220" dirty="0"/>
          </a:p>
        </p:txBody>
      </p:sp>
      <p:sp>
        <p:nvSpPr>
          <p:cNvPr id="11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656832"/>
            <a:ext cx="320040" cy="10972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4546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</a:t>
            </a:r>
            <a:r>
              <a:rPr lang="en-US" sz="2050" b="1" dirty="0" err="1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</a:t>
            </a:r>
            <a:r>
              <a:rPr lang="ru-RU" sz="2050" b="1" dirty="0" err="1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овый</a:t>
            </a:r>
            <a:r>
              <a:rPr lang="ru-RU" sz="20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результат</a:t>
            </a:r>
            <a:endParaRPr lang="en-US" sz="20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201400" cy="0"/>
          </a:xfrm>
          <a:prstGeom prst="line">
            <a:avLst/>
          </a:prstGeom>
          <a:noFill/>
          <a:ln w="12700">
            <a:solidFill>
              <a:srgbClr val="AFC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261872"/>
            <a:ext cx="1097280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B9C7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901952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ru-RU" sz="1900" b="1" dirty="0">
                <a:solidFill>
                  <a:srgbClr val="273244"/>
                </a:solidFill>
                <a:latin typeface="Arial" pitchFamily="34" charset="0"/>
                <a:cs typeface="Arial" pitchFamily="34" charset="-120"/>
              </a:rPr>
              <a:t>Шаги выполненные в рамках проекта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69264" y="2761488"/>
            <a:ext cx="8412480" cy="2148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07518" indent="-207518">
              <a:buSzPct val="100000"/>
              <a:buChar char="•"/>
            </a:pPr>
            <a:r>
              <a:rPr lang="en-US" sz="172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выделение ключевых стейкхолдеров и оценка их влияния;</a:t>
            </a:r>
            <a:endParaRPr lang="en-US" sz="1720" dirty="0"/>
          </a:p>
          <a:p>
            <a:pPr marL="207518" indent="-207518">
              <a:buSzPct val="100000"/>
              <a:buChar char="•"/>
            </a:pPr>
            <a:r>
              <a:rPr lang="en-US" sz="172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формулирование проблемы, цели и проектных альтернатив;</a:t>
            </a:r>
            <a:endParaRPr lang="en-US" sz="1720" dirty="0"/>
          </a:p>
          <a:p>
            <a:pPr marL="207518" indent="-207518">
              <a:buSzPct val="100000"/>
              <a:buChar char="•"/>
            </a:pPr>
            <a:r>
              <a:rPr lang="en-US" sz="172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приоритизация решений по стратегическому эффекту и рискам;</a:t>
            </a:r>
            <a:endParaRPr lang="en-US" sz="1720" dirty="0"/>
          </a:p>
          <a:p>
            <a:pPr marL="207518" indent="-207518">
              <a:buSzPct val="100000"/>
              <a:buChar char="•"/>
            </a:pPr>
            <a:r>
              <a:rPr lang="en-US" sz="172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построение реалистичного плана-графика внедрения проекта;</a:t>
            </a:r>
            <a:endParaRPr lang="en-US" sz="1720" dirty="0"/>
          </a:p>
          <a:p>
            <a:pPr marL="207518" indent="-207518">
              <a:buSzPct val="100000"/>
              <a:buChar char="•"/>
            </a:pPr>
            <a:r>
              <a:rPr lang="en-US" sz="172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</a:t>
            </a:r>
            <a:r>
              <a:rPr lang="ru-RU" sz="1720" dirty="0" err="1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резентация</a:t>
            </a:r>
            <a:r>
              <a:rPr lang="ru-RU" sz="172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20" dirty="0" err="1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управленческого</a:t>
            </a:r>
            <a:r>
              <a:rPr lang="en-US" sz="1720" dirty="0">
                <a:solidFill>
                  <a:srgbClr val="27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решения.</a:t>
            </a:r>
            <a:endParaRPr lang="en-US" sz="1720" dirty="0"/>
          </a:p>
        </p:txBody>
      </p:sp>
      <p:sp>
        <p:nvSpPr>
          <p:cNvPr id="10" name="Text 8"/>
          <p:cNvSpPr/>
          <p:nvPr/>
        </p:nvSpPr>
        <p:spPr>
          <a:xfrm>
            <a:off x="8951976" y="4974336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Результат: готовый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решения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96112" y="62179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B5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 за внимание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656832"/>
            <a:ext cx="320040" cy="10972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4546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1047</Words>
  <Application>Microsoft Office PowerPoint</Application>
  <PresentationFormat>Широкоэкранный</PresentationFormat>
  <Paragraphs>210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 диверсификации малого полиграфического предприятия</dc:title>
  <dc:subject>Презентация по заданию 1</dc:subject>
  <dc:creator>OpenAI</dc:creator>
  <cp:lastModifiedBy>H4RD</cp:lastModifiedBy>
  <cp:revision>3</cp:revision>
  <dcterms:created xsi:type="dcterms:W3CDTF">2026-03-16T11:00:40Z</dcterms:created>
  <dcterms:modified xsi:type="dcterms:W3CDTF">2026-03-16T15:30:50Z</dcterms:modified>
</cp:coreProperties>
</file>