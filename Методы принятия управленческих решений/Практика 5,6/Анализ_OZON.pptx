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4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0813F-F2F5-41F1-B4BA-16524298804C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C871C-E3A6-429C-8978-C0473A92FB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283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C871C-E3A6-429C-8978-C0473A92FB6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451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1005840" cy="128016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4663440" cy="1737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PESTEL- и SWOT-анализ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компании Ozon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457200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Практическое задание 5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по дисциплине «Методы принятия управленческих решений»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49240"/>
            <a:ext cx="457200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E1EBFF"/>
                </a:solidFill>
                <a:latin typeface="Arial"/>
              </a:rPr>
              <a:t>Учебный проект: открытые источники + экспертная оценка команды</a:t>
            </a:r>
          </a:p>
        </p:txBody>
      </p:sp>
      <p:pic>
        <p:nvPicPr>
          <p:cNvPr id="7" name="Picture 6" descr="o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77240"/>
            <a:ext cx="2377440" cy="520065"/>
          </a:xfrm>
          <a:prstGeom prst="rect">
            <a:avLst/>
          </a:prstGeom>
        </p:spPr>
      </p:pic>
      <p:pic>
        <p:nvPicPr>
          <p:cNvPr id="8" name="Picture 7" descr="ozon_pvz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1. Что требует задание и почему выбран Ozon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8595" y="815163"/>
            <a:ext cx="4797765" cy="5082717"/>
          </a:xfrm>
          <a:prstGeom prst="roundRect">
            <a:avLst/>
          </a:prstGeom>
          <a:solidFill>
            <a:srgbClr val="F1F6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033272"/>
            <a:ext cx="444398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>
                <a:solidFill>
                  <a:srgbClr val="1A202C"/>
                </a:solidFill>
                <a:latin typeface="Arial"/>
              </a:rPr>
              <a:t>Требования из задания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128" y="1371600"/>
            <a:ext cx="4443984" cy="4434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выбрать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понятную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всем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участникам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организацию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распределить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роли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в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команде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(RACI);</a:t>
            </a: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выполнить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PEST(EL) и SWOT-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анализ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заполнить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рекомендуемые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формы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расчётные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таблицы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защитить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решение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в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формате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презентации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до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10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минут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итог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СДО —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презентация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в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формате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960120"/>
            <a:ext cx="6126480" cy="2331720"/>
          </a:xfrm>
          <a:prstGeom prst="roundRect">
            <a:avLst/>
          </a:prstGeom>
          <a:solidFill>
            <a:srgbClr val="F7F8FB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41848" y="1033272"/>
            <a:ext cx="590702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>
                <a:solidFill>
                  <a:srgbClr val="1A202C"/>
                </a:solidFill>
                <a:latin typeface="Arial"/>
              </a:rPr>
              <a:t>Почему Ozon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1848" y="1371600"/>
            <a:ext cx="5907024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57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млн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активных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покупателей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на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конец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2024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года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GMV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за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2024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год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превысил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2,8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трлн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руб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.;</a:t>
            </a: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Ozon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занимает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2-е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место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среди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крупнейших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интернет-магазинов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РФ в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рейтинге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Data Insight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за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2024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год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бизнес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понятен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PESTEL/SWOT: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логистика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,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селлеры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,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финтех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,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реклама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, ИТ и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регулирование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.</a:t>
            </a:r>
          </a:p>
        </p:txBody>
      </p:sp>
      <p:pic>
        <p:nvPicPr>
          <p:cNvPr id="11" name="Picture 10" descr="o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11880"/>
            <a:ext cx="1828800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26679" y="3611880"/>
            <a:ext cx="365760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 dirty="0" err="1">
                <a:solidFill>
                  <a:srgbClr val="1A202C"/>
                </a:solidFill>
                <a:latin typeface="Arial"/>
              </a:rPr>
              <a:t>Компания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—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один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из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лидеров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российского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e-commerce,</a:t>
            </a:r>
          </a:p>
          <a:p>
            <a:pPr algn="l"/>
            <a:r>
              <a:rPr sz="1500" b="0" dirty="0" err="1">
                <a:solidFill>
                  <a:srgbClr val="1A202C"/>
                </a:solidFill>
                <a:latin typeface="Arial"/>
              </a:rPr>
              <a:t>поэтому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хорошо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отражает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влияние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макросреды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500" b="0" dirty="0" err="1">
                <a:solidFill>
                  <a:srgbClr val="1A202C"/>
                </a:solidFill>
                <a:latin typeface="Arial"/>
              </a:rPr>
              <a:t>конкуренции</a:t>
            </a:r>
            <a:r>
              <a:rPr sz="1500" b="0" dirty="0">
                <a:solidFill>
                  <a:srgbClr val="1A202C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26480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 dirty="0" err="1">
                <a:solidFill>
                  <a:srgbClr val="667085"/>
                </a:solidFill>
                <a:latin typeface="Arial"/>
              </a:rPr>
              <a:t>Источники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: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задание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; Ozon FY2024; Data Insight «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Интернет-торговля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в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России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2024»; Data Insight Top-100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2. Распределение ролей команды (RACI)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498000"/>
              </p:ext>
            </p:extLst>
          </p:nvPr>
        </p:nvGraphicFramePr>
        <p:xfrm>
          <a:off x="548640" y="1137920"/>
          <a:ext cx="1106423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2755">
                  <a:extLst>
                    <a:ext uri="{9D8B030D-6E8A-4147-A177-3AD203B41FA5}">
                      <a16:colId xmlns:a16="http://schemas.microsoft.com/office/drawing/2014/main" val="1651219596"/>
                    </a:ext>
                  </a:extLst>
                </a:gridCol>
                <a:gridCol w="1622755">
                  <a:extLst>
                    <a:ext uri="{9D8B030D-6E8A-4147-A177-3AD203B41FA5}">
                      <a16:colId xmlns:a16="http://schemas.microsoft.com/office/drawing/2014/main" val="312557349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Задача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FFFFFF"/>
                          </a:solidFill>
                          <a:latin typeface="Arial"/>
                        </a:rPr>
                        <a:t>Зубарев</a:t>
                      </a:r>
                      <a:b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</a:br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В.С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Савченков</a:t>
                      </a:r>
                      <a:b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</a:br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К.В.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Белослудцев</a:t>
                      </a:r>
                      <a:b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</a:br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И.А.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Рыженин</a:t>
                      </a:r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b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</a:br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А.А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Тыртышный</a:t>
                      </a:r>
                      <a:b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</a:br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С.Д.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Хохлов</a:t>
                      </a:r>
                      <a:b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</a:br>
                      <a:r>
                        <a:rPr lang="ru-RU" sz="1400" b="1" dirty="0">
                          <a:solidFill>
                            <a:srgbClr val="FFFFFF"/>
                          </a:solidFill>
                          <a:latin typeface="Arial"/>
                        </a:rPr>
                        <a:t>А.И.</a:t>
                      </a:r>
                      <a:endParaRPr sz="1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Выбор компании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С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I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I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Сбор открытых источников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I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I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PESTEL-анализ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A/R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02C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A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02C"/>
                          </a:solidFill>
                          <a:latin typeface="Arial"/>
                        </a:rPr>
                        <a:t>SWOT и </a:t>
                      </a:r>
                      <a:r>
                        <a:rPr sz="1400" b="0" dirty="0" err="1">
                          <a:solidFill>
                            <a:srgbClr val="1A202C"/>
                          </a:solidFill>
                          <a:latin typeface="Arial"/>
                        </a:rPr>
                        <a:t>взвешенная</a:t>
                      </a:r>
                      <a:r>
                        <a:rPr sz="1400" b="0" dirty="0">
                          <a:solidFill>
                            <a:srgbClr val="1A202C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202C"/>
                          </a:solidFill>
                          <a:latin typeface="Arial"/>
                        </a:rPr>
                        <a:t>оценка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A/R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R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A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Слайды и визуализация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A202C"/>
                          </a:solidFill>
                          <a:latin typeface="Arial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02C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02C"/>
                          </a:solidFill>
                          <a:latin typeface="Arial"/>
                        </a:rPr>
                        <a:t>A/R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A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A202C"/>
                          </a:solidFill>
                          <a:latin typeface="Arial"/>
                        </a:rPr>
                        <a:t>R</a:t>
                      </a:r>
                      <a:endParaRPr sz="14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C258B8D-52D7-4FB2-B101-063F67D82000}"/>
              </a:ext>
            </a:extLst>
          </p:cNvPr>
          <p:cNvGrpSpPr/>
          <p:nvPr/>
        </p:nvGrpSpPr>
        <p:grpSpPr>
          <a:xfrm>
            <a:off x="731520" y="5262880"/>
            <a:ext cx="10789920" cy="457200"/>
            <a:chOff x="731520" y="4716461"/>
            <a:chExt cx="10789920" cy="457200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075F810A-44B6-40AA-9F5C-EB18C274DEEA}"/>
                </a:ext>
              </a:extLst>
            </p:cNvPr>
            <p:cNvGrpSpPr/>
            <p:nvPr/>
          </p:nvGrpSpPr>
          <p:grpSpPr>
            <a:xfrm>
              <a:off x="731520" y="4716461"/>
              <a:ext cx="2560320" cy="457200"/>
              <a:chOff x="731520" y="4716461"/>
              <a:chExt cx="2560320" cy="4572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731520" y="4716461"/>
                <a:ext cx="2560320" cy="457200"/>
              </a:xfrm>
              <a:prstGeom prst="roundRect">
                <a:avLst/>
              </a:prstGeom>
              <a:solidFill>
                <a:srgbClr val="DFF5E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22960" y="4780469"/>
                <a:ext cx="2377440" cy="332399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/>
                <a:r>
                  <a:rPr sz="1200" b="1" dirty="0">
                    <a:solidFill>
                      <a:srgbClr val="1A202C"/>
                    </a:solidFill>
                    <a:latin typeface="Arial"/>
                  </a:rPr>
                  <a:t>R — </a:t>
                </a:r>
                <a:r>
                  <a:rPr lang="ru-RU" sz="1200" b="1" dirty="0">
                    <a:solidFill>
                      <a:srgbClr val="1A202C"/>
                    </a:solidFill>
                    <a:latin typeface="Arial"/>
                  </a:rPr>
                  <a:t>Ответственность</a:t>
                </a:r>
                <a:endParaRPr sz="1200" b="1" dirty="0">
                  <a:solidFill>
                    <a:srgbClr val="1A202C"/>
                  </a:solidFill>
                  <a:latin typeface="Arial"/>
                </a:endParaRPr>
              </a:p>
            </p:txBody>
          </p:sp>
        </p:grpSp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BD94B827-7222-4FC0-A6F9-5AFA79BFD84C}"/>
                </a:ext>
              </a:extLst>
            </p:cNvPr>
            <p:cNvGrpSpPr/>
            <p:nvPr/>
          </p:nvGrpSpPr>
          <p:grpSpPr>
            <a:xfrm>
              <a:off x="3474720" y="4716461"/>
              <a:ext cx="2560320" cy="457200"/>
              <a:chOff x="3474720" y="4716461"/>
              <a:chExt cx="2560320" cy="457200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3474720" y="4716461"/>
                <a:ext cx="2560320" cy="457200"/>
              </a:xfrm>
              <a:prstGeom prst="roundRect">
                <a:avLst/>
              </a:prstGeom>
              <a:solidFill>
                <a:srgbClr val="E8F0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566160" y="4780469"/>
                <a:ext cx="2377440" cy="332399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/>
                <a:r>
                  <a:rPr sz="1200" b="1" dirty="0">
                    <a:solidFill>
                      <a:srgbClr val="1A202C"/>
                    </a:solidFill>
                    <a:latin typeface="Arial"/>
                  </a:rPr>
                  <a:t>A — </a:t>
                </a:r>
                <a:r>
                  <a:rPr lang="ru-RU" sz="1200" b="1" dirty="0">
                    <a:solidFill>
                      <a:srgbClr val="1A202C"/>
                    </a:solidFill>
                    <a:latin typeface="Arial"/>
                  </a:rPr>
                  <a:t>Формирование отчетов</a:t>
                </a:r>
                <a:endParaRPr sz="1200" b="1" dirty="0">
                  <a:solidFill>
                    <a:srgbClr val="1A202C"/>
                  </a:solidFill>
                  <a:latin typeface="Arial"/>
                </a:endParaRPr>
              </a:p>
            </p:txBody>
          </p:sp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83EC0FCB-ECEE-4AE1-872D-006CA5A0E210}"/>
                </a:ext>
              </a:extLst>
            </p:cNvPr>
            <p:cNvGrpSpPr/>
            <p:nvPr/>
          </p:nvGrpSpPr>
          <p:grpSpPr>
            <a:xfrm>
              <a:off x="6217920" y="4716461"/>
              <a:ext cx="2560320" cy="457200"/>
              <a:chOff x="6217920" y="4716461"/>
              <a:chExt cx="2560320" cy="457200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6217920" y="4716461"/>
                <a:ext cx="2560320" cy="457200"/>
              </a:xfrm>
              <a:prstGeom prst="roundRect">
                <a:avLst/>
              </a:prstGeom>
              <a:solidFill>
                <a:srgbClr val="FFF7D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309360" y="4780469"/>
                <a:ext cx="2377440" cy="332399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/>
                <a:r>
                  <a:rPr sz="1200" b="1" dirty="0">
                    <a:solidFill>
                      <a:srgbClr val="1A202C"/>
                    </a:solidFill>
                    <a:latin typeface="Arial"/>
                  </a:rPr>
                  <a:t>C — </a:t>
                </a:r>
                <a:r>
                  <a:rPr lang="ru-RU" sz="1200" b="1" dirty="0">
                    <a:solidFill>
                      <a:srgbClr val="1A202C"/>
                    </a:solidFill>
                    <a:latin typeface="Arial"/>
                  </a:rPr>
                  <a:t>Консультация</a:t>
                </a:r>
                <a:endParaRPr sz="1200" b="1" dirty="0">
                  <a:solidFill>
                    <a:srgbClr val="1A202C"/>
                  </a:solidFill>
                  <a:latin typeface="Arial"/>
                </a:endParaRPr>
              </a:p>
            </p:txBody>
          </p:sp>
        </p:grp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134FB02F-DF66-4C04-AAEA-06E853A378A6}"/>
                </a:ext>
              </a:extLst>
            </p:cNvPr>
            <p:cNvGrpSpPr/>
            <p:nvPr/>
          </p:nvGrpSpPr>
          <p:grpSpPr>
            <a:xfrm>
              <a:off x="8961120" y="4716461"/>
              <a:ext cx="2560320" cy="457200"/>
              <a:chOff x="8961120" y="4716461"/>
              <a:chExt cx="2560320" cy="457200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8961120" y="4716461"/>
                <a:ext cx="2560320" cy="457200"/>
              </a:xfrm>
              <a:prstGeom prst="round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9052560" y="4780469"/>
                <a:ext cx="2377440" cy="332399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/>
                <a:r>
                  <a:rPr sz="1200" b="1" dirty="0">
                    <a:solidFill>
                      <a:srgbClr val="1A202C"/>
                    </a:solidFill>
                    <a:latin typeface="Arial"/>
                  </a:rPr>
                  <a:t>I — </a:t>
                </a:r>
                <a:r>
                  <a:rPr lang="ru-RU" sz="1200" b="1" dirty="0">
                    <a:solidFill>
                      <a:srgbClr val="1A202C"/>
                    </a:solidFill>
                    <a:latin typeface="Arial"/>
                  </a:rPr>
                  <a:t>Информирование</a:t>
                </a:r>
                <a:endParaRPr sz="1200" b="1" dirty="0">
                  <a:solidFill>
                    <a:srgbClr val="1A202C"/>
                  </a:solidFill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3. Стандартная PESTEL-матрица Ozon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154680" cy="1920240"/>
          </a:xfrm>
          <a:prstGeom prst="roundRect">
            <a:avLst/>
          </a:prstGeom>
          <a:solidFill>
            <a:srgbClr val="E6F0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2935224" cy="401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 dirty="0" err="1">
                <a:solidFill>
                  <a:srgbClr val="1A202C"/>
                </a:solidFill>
                <a:latin typeface="Arial"/>
              </a:rPr>
              <a:t>Политические</a:t>
            </a:r>
            <a:r>
              <a:rPr lang="en-US" sz="1650" b="1" dirty="0">
                <a:solidFill>
                  <a:srgbClr val="1A202C"/>
                </a:solidFill>
                <a:latin typeface="Arial"/>
              </a:rPr>
              <a:t> (P)</a:t>
            </a:r>
            <a:endParaRPr sz="16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644236"/>
            <a:ext cx="2953512" cy="67864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289‑ФЗ о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платформенной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экономике</a:t>
            </a:r>
            <a:endParaRPr sz="1150" b="0" dirty="0">
              <a:solidFill>
                <a:srgbClr val="1A202C"/>
              </a:solidFill>
              <a:latin typeface="Arial"/>
            </a:endParaRPr>
          </a:p>
          <a:p>
            <a:pPr algn="l"/>
            <a:r>
              <a:rPr sz="115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господдержка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цифровизации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логистики</a:t>
            </a:r>
            <a:endParaRPr sz="1150" b="0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60520" y="1097280"/>
            <a:ext cx="3154680" cy="1920240"/>
          </a:xfrm>
          <a:prstGeom prst="roundRect">
            <a:avLst/>
          </a:prstGeom>
          <a:solidFill>
            <a:srgbClr val="E8FAE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70248" y="1170432"/>
            <a:ext cx="2935224" cy="401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 dirty="0" err="1">
                <a:solidFill>
                  <a:srgbClr val="1A202C"/>
                </a:solidFill>
                <a:latin typeface="Arial"/>
              </a:rPr>
              <a:t>Экономические</a:t>
            </a:r>
            <a:r>
              <a:rPr lang="en-US" sz="1650" b="1" dirty="0">
                <a:solidFill>
                  <a:srgbClr val="1A202C"/>
                </a:solidFill>
                <a:latin typeface="Arial"/>
              </a:rPr>
              <a:t> (E)</a:t>
            </a:r>
            <a:endParaRPr sz="16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70248" y="1508760"/>
            <a:ext cx="2935224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рост e-commerce</a:t>
            </a:r>
          </a:p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давление на маржу из-за последней мили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3154680" cy="1920240"/>
          </a:xfrm>
          <a:prstGeom prst="roundRect">
            <a:avLst/>
          </a:prstGeom>
          <a:solidFill>
            <a:srgbClr val="EEF7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0688" y="1170432"/>
            <a:ext cx="2935224" cy="401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 dirty="0" err="1">
                <a:solidFill>
                  <a:srgbClr val="1A202C"/>
                </a:solidFill>
                <a:latin typeface="Arial"/>
              </a:rPr>
              <a:t>Социальн</a:t>
            </a:r>
            <a:r>
              <a:rPr lang="en-US" sz="1650" b="1" dirty="0">
                <a:solidFill>
                  <a:srgbClr val="1A202C"/>
                </a:solidFill>
                <a:latin typeface="Arial"/>
              </a:rPr>
              <a:t> (S)</a:t>
            </a:r>
            <a:endParaRPr sz="16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90688" y="1508760"/>
            <a:ext cx="2935224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привычка к ПВЗ и быстрой доставке</a:t>
            </a:r>
          </a:p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высокая чувствительность к цене и отзывам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3154680" cy="1920240"/>
          </a:xfrm>
          <a:prstGeom prst="roundRect">
            <a:avLst/>
          </a:prstGeom>
          <a:solidFill>
            <a:srgbClr val="FFF1E1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730752"/>
            <a:ext cx="2935224" cy="401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 dirty="0" err="1">
                <a:solidFill>
                  <a:srgbClr val="1A202C"/>
                </a:solidFill>
                <a:latin typeface="Arial"/>
              </a:rPr>
              <a:t>Технологические</a:t>
            </a:r>
            <a:r>
              <a:rPr lang="en-US" sz="1650" b="1" dirty="0">
                <a:solidFill>
                  <a:srgbClr val="1A202C"/>
                </a:solidFill>
                <a:latin typeface="Arial"/>
              </a:rPr>
              <a:t> (T)</a:t>
            </a:r>
            <a:endParaRPr sz="16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4069080"/>
            <a:ext cx="2935224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AI/ML в поиске и прогнозировании</a:t>
            </a:r>
          </a:p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кибербезопасность и antifraud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657600"/>
            <a:ext cx="3154680" cy="1920240"/>
          </a:xfrm>
          <a:prstGeom prst="roundRect">
            <a:avLst/>
          </a:prstGeom>
          <a:solidFill>
            <a:srgbClr val="EDFAE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0248" y="3730752"/>
            <a:ext cx="2935224" cy="401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 dirty="0" err="1">
                <a:solidFill>
                  <a:srgbClr val="1A202C"/>
                </a:solidFill>
                <a:latin typeface="Arial"/>
              </a:rPr>
              <a:t>Экологические</a:t>
            </a:r>
            <a:r>
              <a:rPr lang="en-US" sz="1650" b="1" dirty="0">
                <a:solidFill>
                  <a:srgbClr val="1A202C"/>
                </a:solidFill>
                <a:latin typeface="Arial"/>
              </a:rPr>
              <a:t> (</a:t>
            </a:r>
            <a:r>
              <a:rPr lang="en-US" sz="1650" b="1" dirty="0" err="1">
                <a:solidFill>
                  <a:srgbClr val="1A202C"/>
                </a:solidFill>
                <a:latin typeface="Arial"/>
              </a:rPr>
              <a:t>Ec</a:t>
            </a:r>
            <a:r>
              <a:rPr lang="en-US" sz="1650" b="1" dirty="0">
                <a:solidFill>
                  <a:srgbClr val="1A202C"/>
                </a:solidFill>
                <a:latin typeface="Arial"/>
              </a:rPr>
              <a:t>)</a:t>
            </a:r>
            <a:endParaRPr sz="16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0248" y="4069080"/>
            <a:ext cx="2935224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упаковка и углеродный след</a:t>
            </a:r>
          </a:p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энергоэффективность складов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657600"/>
            <a:ext cx="3154680" cy="1920240"/>
          </a:xfrm>
          <a:prstGeom prst="roundRect">
            <a:avLst/>
          </a:prstGeom>
          <a:solidFill>
            <a:srgbClr val="FFF5F7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0688" y="3730752"/>
            <a:ext cx="2935224" cy="401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 dirty="0" err="1">
                <a:solidFill>
                  <a:srgbClr val="1A202C"/>
                </a:solidFill>
                <a:latin typeface="Arial"/>
              </a:rPr>
              <a:t>Правовые</a:t>
            </a:r>
            <a:r>
              <a:rPr lang="en-US" sz="1650" b="1" dirty="0">
                <a:solidFill>
                  <a:srgbClr val="1A202C"/>
                </a:solidFill>
                <a:latin typeface="Arial"/>
              </a:rPr>
              <a:t> (L)</a:t>
            </a:r>
            <a:endParaRPr sz="16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90688" y="4069080"/>
            <a:ext cx="2935224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маркировка и сертификация</a:t>
            </a:r>
          </a:p>
          <a:p>
            <a:pPr algn="l"/>
            <a:r>
              <a:rPr sz="1150" b="0">
                <a:solidFill>
                  <a:srgbClr val="1A202C"/>
                </a:solidFill>
                <a:latin typeface="Arial"/>
              </a:rPr>
              <a:t>• защита прав потребителей и dispute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4. Форма 1 PESTEL: характеристика факторов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972728"/>
              </p:ext>
            </p:extLst>
          </p:nvPr>
        </p:nvGraphicFramePr>
        <p:xfrm>
          <a:off x="320040" y="914400"/>
          <a:ext cx="9242175" cy="536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9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6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629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Гр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Фактор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Тип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Время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Динамика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Значимость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Закон о платформенной экономике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289-ФЗ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Очень важн.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Господдержка цифровой экономики и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логистики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Н/Б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Важный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62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Рост рынка e-commerce в РФ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Н/Б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Крит.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Рост стоимости логистики и ценовая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чувствительность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Н/Б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Очень важн.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Привычка покупателей к ПВЗ и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удобной доставке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Н/Б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Очень важн.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Рост чувствительности к цене и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отзывам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Важный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A202C"/>
                          </a:solidFill>
                          <a:latin typeface="Arial"/>
                        </a:rPr>
                        <a:t>AI/ML в </a:t>
                      </a:r>
                      <a:r>
                        <a:rPr sz="1100" b="0" dirty="0" err="1">
                          <a:solidFill>
                            <a:srgbClr val="1A202C"/>
                          </a:solidFill>
                          <a:latin typeface="Arial"/>
                        </a:rPr>
                        <a:t>поиске</a:t>
                      </a:r>
                      <a:r>
                        <a:rPr sz="1100" b="0" dirty="0">
                          <a:solidFill>
                            <a:srgbClr val="1A202C"/>
                          </a:solidFill>
                          <a:latin typeface="Arial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A202C"/>
                          </a:solidFill>
                          <a:latin typeface="Arial"/>
                        </a:rPr>
                        <a:t>персонализации</a:t>
                      </a:r>
                      <a:r>
                        <a:rPr sz="1100" b="0" dirty="0">
                          <a:solidFill>
                            <a:srgbClr val="1A202C"/>
                          </a:solidFill>
                          <a:latin typeface="Arial"/>
                        </a:rPr>
                        <a:t> и</a:t>
                      </a:r>
                    </a:p>
                    <a:p>
                      <a:pPr algn="l"/>
                      <a:r>
                        <a:rPr sz="1100" b="0" dirty="0" err="1">
                          <a:solidFill>
                            <a:srgbClr val="1A202C"/>
                          </a:solidFill>
                          <a:latin typeface="Arial"/>
                        </a:rPr>
                        <a:t>прогнозировании</a:t>
                      </a:r>
                      <a:endParaRPr sz="11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Н/Б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Очень важн.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Киберриски и требования к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устойчивости платформ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Н/Б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Очень важн.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Давление на упаковку и углеродный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след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Н/Б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Существенный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Энергоэффективность складов и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маршрутов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Существенный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Ужесточение маркировки и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сертификации товаров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Очень важн.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00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Рост требований к защите прав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потребителей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A202C"/>
                          </a:solidFill>
                          <a:latin typeface="Arial"/>
                        </a:rPr>
                        <a:t>Важный</a:t>
                      </a:r>
                      <a:endParaRPr sz="1100" b="0" dirty="0">
                        <a:solidFill>
                          <a:srgbClr val="1A202C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88941CF2-616D-410E-93AB-572BFCC75E89}"/>
              </a:ext>
            </a:extLst>
          </p:cNvPr>
          <p:cNvGrpSpPr/>
          <p:nvPr/>
        </p:nvGrpSpPr>
        <p:grpSpPr>
          <a:xfrm>
            <a:off x="9661452" y="2899499"/>
            <a:ext cx="2409741" cy="1059002"/>
            <a:chOff x="9778761" y="1909323"/>
            <a:chExt cx="2093199" cy="472370"/>
          </a:xfrm>
        </p:grpSpPr>
        <p:sp>
          <p:nvSpPr>
            <p:cNvPr id="6" name="Rounded Rectangle 5"/>
            <p:cNvSpPr/>
            <p:nvPr/>
          </p:nvSpPr>
          <p:spPr>
            <a:xfrm>
              <a:off x="9778761" y="1909323"/>
              <a:ext cx="2093199" cy="472370"/>
            </a:xfrm>
            <a:prstGeom prst="roundRect">
              <a:avLst/>
            </a:prstGeom>
            <a:solidFill>
              <a:srgbClr val="F4F6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78761" y="1957895"/>
              <a:ext cx="2093199" cy="363521"/>
            </a:xfrm>
            <a:prstGeom prst="rect">
              <a:avLst/>
            </a:prstGeom>
            <a:noFill/>
          </p:spPr>
          <p:txBody>
            <a:bodyPr wrap="square" lIns="73152" tIns="73152" rIns="73152" bIns="73152" anchor="t">
              <a:spAutoFit/>
            </a:bodyPr>
            <a:lstStyle/>
            <a:p>
              <a:pPr algn="l"/>
              <a:r>
                <a:rPr sz="1200" b="0" dirty="0">
                  <a:solidFill>
                    <a:srgbClr val="667085"/>
                  </a:solidFill>
                  <a:latin typeface="Arial"/>
                </a:rPr>
                <a:t>Н/Б — </a:t>
              </a:r>
              <a:r>
                <a:rPr sz="1200" b="0" dirty="0" err="1">
                  <a:solidFill>
                    <a:srgbClr val="667085"/>
                  </a:solidFill>
                  <a:latin typeface="Arial"/>
                </a:rPr>
                <a:t>влияет</a:t>
              </a:r>
              <a:r>
                <a:rPr sz="1200" b="0" dirty="0">
                  <a:solidFill>
                    <a:srgbClr val="667085"/>
                  </a:solidFill>
                  <a:latin typeface="Arial"/>
                </a:rPr>
                <a:t> </a:t>
              </a:r>
              <a:r>
                <a:rPr sz="1200" b="0" dirty="0" err="1">
                  <a:solidFill>
                    <a:srgbClr val="667085"/>
                  </a:solidFill>
                  <a:latin typeface="Arial"/>
                </a:rPr>
                <a:t>сейчас</a:t>
              </a:r>
              <a:r>
                <a:rPr sz="1200" b="0" dirty="0">
                  <a:solidFill>
                    <a:srgbClr val="667085"/>
                  </a:solidFill>
                  <a:latin typeface="Arial"/>
                </a:rPr>
                <a:t> и </a:t>
              </a:r>
              <a:r>
                <a:rPr sz="1200" b="0" dirty="0" err="1">
                  <a:solidFill>
                    <a:srgbClr val="667085"/>
                  </a:solidFill>
                  <a:latin typeface="Arial"/>
                </a:rPr>
                <a:t>более</a:t>
              </a:r>
              <a:r>
                <a:rPr sz="1200" b="0" dirty="0">
                  <a:solidFill>
                    <a:srgbClr val="667085"/>
                  </a:solidFill>
                  <a:latin typeface="Arial"/>
                </a:rPr>
                <a:t> 12 </a:t>
              </a:r>
              <a:r>
                <a:rPr sz="1200" b="0" dirty="0" err="1">
                  <a:solidFill>
                    <a:srgbClr val="667085"/>
                  </a:solidFill>
                  <a:latin typeface="Arial"/>
                </a:rPr>
                <a:t>мес</a:t>
              </a:r>
              <a:r>
                <a:rPr sz="1200" b="0" dirty="0">
                  <a:solidFill>
                    <a:srgbClr val="667085"/>
                  </a:solidFill>
                  <a:latin typeface="Arial"/>
                </a:rPr>
                <a:t>.; </a:t>
              </a:r>
              <a:endParaRPr lang="en-US" sz="1200" b="0" dirty="0">
                <a:solidFill>
                  <a:srgbClr val="667085"/>
                </a:solidFill>
                <a:latin typeface="Arial"/>
              </a:endParaRPr>
            </a:p>
            <a:p>
              <a:pPr algn="l"/>
              <a:r>
                <a:rPr sz="1200" b="0" dirty="0">
                  <a:solidFill>
                    <a:srgbClr val="667085"/>
                  </a:solidFill>
                  <a:latin typeface="Arial"/>
                </a:rPr>
                <a:t>Б — </a:t>
              </a:r>
              <a:r>
                <a:rPr sz="1200" b="0" dirty="0" err="1">
                  <a:solidFill>
                    <a:srgbClr val="667085"/>
                  </a:solidFill>
                  <a:latin typeface="Arial"/>
                </a:rPr>
                <a:t>будет</a:t>
              </a:r>
              <a:r>
                <a:rPr sz="1200" b="0" dirty="0">
                  <a:solidFill>
                    <a:srgbClr val="667085"/>
                  </a:solidFill>
                  <a:latin typeface="Arial"/>
                </a:rPr>
                <a:t> </a:t>
              </a:r>
              <a:r>
                <a:rPr sz="1200" b="0" dirty="0" err="1">
                  <a:solidFill>
                    <a:srgbClr val="667085"/>
                  </a:solidFill>
                  <a:latin typeface="Arial"/>
                </a:rPr>
                <a:t>влиять</a:t>
              </a:r>
              <a:endParaRPr sz="1200" b="0" dirty="0">
                <a:solidFill>
                  <a:srgbClr val="667085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5. Формы 2–3 PESTEL: экспертная оценка и приоритет действий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es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70" y="1678595"/>
            <a:ext cx="6296247" cy="324180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828577"/>
              </p:ext>
            </p:extLst>
          </p:nvPr>
        </p:nvGraphicFramePr>
        <p:xfrm>
          <a:off x="6720840" y="960120"/>
          <a:ext cx="49834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Фактор</a:t>
                      </a:r>
                      <a:endParaRPr sz="10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Интегр.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Решение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Рост рынка e-commerce в РФ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0.535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Ускорять рост в регионах и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категориях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Закон о платформенной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экономике 289-ФЗ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0.457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Усилить compliance и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контроль карточек/селлеров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Ужесточение маркировки и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сертификации товаров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0.457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Встроить pre-check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маркировки в онбординг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Рост стоимости логистики и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ценовая чувствительность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0.443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Автоматизировать маршруты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и промо‑политику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Привычка покупателей к ПВЗ и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удобной доставке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0.411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Расширять сеть ПВЗ и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экспресс‑сценарии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AI/ML в поиске,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персонализации и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прогнозировании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202C"/>
                          </a:solidFill>
                          <a:latin typeface="Arial"/>
                        </a:rPr>
                        <a:t>0.399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1A202C"/>
                          </a:solidFill>
                          <a:latin typeface="Arial"/>
                        </a:rPr>
                        <a:t>Инвестировать</a:t>
                      </a:r>
                      <a:r>
                        <a:rPr sz="1050" b="0" dirty="0">
                          <a:solidFill>
                            <a:srgbClr val="1A202C"/>
                          </a:solidFill>
                          <a:latin typeface="Arial"/>
                        </a:rPr>
                        <a:t> в</a:t>
                      </a:r>
                    </a:p>
                    <a:p>
                      <a:pPr algn="ctr"/>
                      <a:r>
                        <a:rPr sz="1050" b="0" dirty="0">
                          <a:solidFill>
                            <a:srgbClr val="1A202C"/>
                          </a:solidFill>
                          <a:latin typeface="Arial"/>
                        </a:rPr>
                        <a:t>AI‑</a:t>
                      </a:r>
                      <a:r>
                        <a:rPr sz="1050" b="0" dirty="0" err="1">
                          <a:solidFill>
                            <a:srgbClr val="1A202C"/>
                          </a:solidFill>
                          <a:latin typeface="Arial"/>
                        </a:rPr>
                        <a:t>сценарии</a:t>
                      </a:r>
                      <a:r>
                        <a:rPr sz="1050" b="0" dirty="0">
                          <a:solidFill>
                            <a:srgbClr val="1A202C"/>
                          </a:solidFill>
                          <a:latin typeface="Arial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202C"/>
                          </a:solidFill>
                          <a:latin typeface="Arial"/>
                        </a:rPr>
                        <a:t>поиска</a:t>
                      </a:r>
                      <a:r>
                        <a:rPr sz="1050" b="0" dirty="0">
                          <a:solidFill>
                            <a:srgbClr val="1A202C"/>
                          </a:solidFill>
                          <a:latin typeface="Arial"/>
                        </a:rPr>
                        <a:t> и</a:t>
                      </a:r>
                    </a:p>
                    <a:p>
                      <a:pPr algn="ctr"/>
                      <a:r>
                        <a:rPr sz="1050" b="0" dirty="0">
                          <a:solidFill>
                            <a:srgbClr val="1A202C"/>
                          </a:solidFill>
                          <a:latin typeface="Arial"/>
                        </a:rPr>
                        <a:t>demand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486400"/>
            <a:ext cx="109728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50" b="1" dirty="0" err="1">
                <a:solidFill>
                  <a:srgbClr val="1A202C"/>
                </a:solidFill>
                <a:latin typeface="Arial"/>
              </a:rPr>
              <a:t>Вывод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по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PESTEL: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драйверы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роста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Ozon —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рынок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сеть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ПВЗ и AI;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основные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ограничения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—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регулирование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маркировка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стоимость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1A202C"/>
                </a:solidFill>
                <a:latin typeface="Arial"/>
              </a:rPr>
              <a:t>логистики</a:t>
            </a:r>
            <a:r>
              <a:rPr sz="1450" b="1" dirty="0">
                <a:solidFill>
                  <a:srgbClr val="1A202C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6046540"/>
            <a:ext cx="10972800" cy="2939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 dirty="0" err="1">
                <a:solidFill>
                  <a:srgbClr val="667085"/>
                </a:solidFill>
                <a:latin typeface="Arial"/>
              </a:rPr>
              <a:t>Экспертная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оценка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сформирована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на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основе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открытых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источников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и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нормирования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коэффициентов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важности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667085"/>
                </a:solidFill>
                <a:latin typeface="Arial"/>
              </a:rPr>
              <a:t>ΣKv</a:t>
            </a:r>
            <a:r>
              <a:rPr sz="950" b="0" dirty="0">
                <a:solidFill>
                  <a:srgbClr val="667085"/>
                </a:solidFill>
                <a:latin typeface="Arial"/>
              </a:rPr>
              <a:t> =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6. Стандартная SWOT-матрица компании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5074920" cy="2103120"/>
          </a:xfrm>
          <a:prstGeom prst="roundRect">
            <a:avLst/>
          </a:prstGeom>
          <a:solidFill>
            <a:srgbClr val="E8F6E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170432"/>
            <a:ext cx="4754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Arial"/>
              </a:rPr>
              <a:t>S Сильные стороны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466344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масштаб клиентской базы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логистика и сеть ПВЗ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широкий ассортимент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финтех и реклама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данные и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074920" cy="2103120"/>
          </a:xfrm>
          <a:prstGeom prst="roundRect">
            <a:avLst/>
          </a:prstGeom>
          <a:solidFill>
            <a:srgbClr val="FFF5F7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70432"/>
            <a:ext cx="4754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Arial"/>
              </a:rPr>
              <a:t>W Слабые стороны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481328"/>
            <a:ext cx="466344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волатильность маржи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контрафакт / качество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сложность операций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регуляторная чувствительность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5074920" cy="2103120"/>
          </a:xfrm>
          <a:prstGeom prst="roundRect">
            <a:avLst/>
          </a:prstGeom>
          <a:solidFill>
            <a:srgbClr val="EBF3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3730752"/>
            <a:ext cx="4754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Arial"/>
              </a:rPr>
              <a:t>O Возможности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041648"/>
            <a:ext cx="466344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рост e-commerce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монетизация B2B/ads/fintech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экспансия в регионы и СНГ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AI-автоматизация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57600"/>
            <a:ext cx="5074920" cy="2103120"/>
          </a:xfrm>
          <a:prstGeom prst="roundRect">
            <a:avLst/>
          </a:prstGeom>
          <a:solidFill>
            <a:srgbClr val="FFF5E6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3730752"/>
            <a:ext cx="4754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A202C"/>
                </a:solidFill>
                <a:latin typeface="Arial"/>
              </a:rPr>
              <a:t>T Угрозы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041648"/>
            <a:ext cx="466344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конкуренция маркетплейсов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новый закон и compliance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киберриски</a:t>
            </a:r>
          </a:p>
          <a:p>
            <a:pPr algn="l"/>
            <a:r>
              <a:rPr sz="1250" b="0">
                <a:solidFill>
                  <a:srgbClr val="1A202C"/>
                </a:solidFill>
                <a:latin typeface="Arial"/>
              </a:rPr>
              <a:t>• рост стоимости последней мили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7. Взвешенная балльная оценка SWOT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14400"/>
          <a:ext cx="534923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S1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S2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S3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S4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0.16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S5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0.16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E8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5217"/>
            <a:ext cx="31089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1" dirty="0" err="1">
                <a:solidFill>
                  <a:srgbClr val="1A202C"/>
                </a:solidFill>
                <a:latin typeface="Arial"/>
              </a:rPr>
              <a:t>Сильные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стороны</a:t>
            </a:r>
            <a:endParaRPr sz="1250" b="1" dirty="0">
              <a:solidFill>
                <a:srgbClr val="1A202C"/>
              </a:solidFill>
              <a:latin typeface="Arial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914400"/>
          <a:ext cx="5349237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0.32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0.26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0.21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O4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0.21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594360"/>
            <a:ext cx="31089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1" dirty="0" err="1">
                <a:solidFill>
                  <a:srgbClr val="1A202C"/>
                </a:solidFill>
                <a:latin typeface="Arial"/>
              </a:rPr>
              <a:t>Возможности</a:t>
            </a:r>
            <a:endParaRPr sz="1250" b="1" dirty="0">
              <a:solidFill>
                <a:srgbClr val="1A202C"/>
              </a:solidFill>
              <a:latin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703320"/>
          <a:ext cx="5349237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W1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0.29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W2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0.29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W3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0.24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W4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0.18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337560"/>
            <a:ext cx="31089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1" dirty="0" err="1">
                <a:solidFill>
                  <a:srgbClr val="1A202C"/>
                </a:solidFill>
                <a:latin typeface="Arial"/>
              </a:rPr>
              <a:t>Слабые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стороны</a:t>
            </a:r>
            <a:endParaRPr sz="1250" b="1" dirty="0">
              <a:solidFill>
                <a:srgbClr val="1A202C"/>
              </a:solidFill>
              <a:latin typeface="Arial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3703320"/>
          <a:ext cx="5349237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anchor="ctr">
                    <a:solidFill>
                      <a:srgbClr val="005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T1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0.26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0.32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T3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0.16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T4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0.26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02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anchor="ctr">
                    <a:solidFill>
                      <a:srgbClr val="FF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26480" y="3341032"/>
            <a:ext cx="31089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1" dirty="0" err="1">
                <a:solidFill>
                  <a:srgbClr val="1A202C"/>
                </a:solidFill>
                <a:latin typeface="Arial"/>
              </a:rPr>
              <a:t>Угрозы</a:t>
            </a:r>
            <a:endParaRPr sz="12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 dirty="0" err="1">
                <a:solidFill>
                  <a:srgbClr val="667085"/>
                </a:solidFill>
                <a:latin typeface="Arial"/>
              </a:rPr>
              <a:t>Наиболее</a:t>
            </a:r>
            <a:r>
              <a:rPr sz="11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7085"/>
                </a:solidFill>
                <a:latin typeface="Arial"/>
              </a:rPr>
              <a:t>весомые</a:t>
            </a:r>
            <a:r>
              <a:rPr sz="11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7085"/>
                </a:solidFill>
                <a:latin typeface="Arial"/>
              </a:rPr>
              <a:t>элементы</a:t>
            </a:r>
            <a:r>
              <a:rPr sz="1100" b="0" dirty="0">
                <a:solidFill>
                  <a:srgbClr val="667085"/>
                </a:solidFill>
                <a:latin typeface="Arial"/>
              </a:rPr>
              <a:t>: S1/S2, O1/O2 и </a:t>
            </a:r>
            <a:r>
              <a:rPr sz="1100" b="0" dirty="0" err="1">
                <a:solidFill>
                  <a:srgbClr val="667085"/>
                </a:solidFill>
                <a:latin typeface="Arial"/>
              </a:rPr>
              <a:t>угроза</a:t>
            </a:r>
            <a:r>
              <a:rPr sz="1100" b="0" dirty="0">
                <a:solidFill>
                  <a:srgbClr val="667085"/>
                </a:solidFill>
                <a:latin typeface="Arial"/>
              </a:rPr>
              <a:t> T2 — </a:t>
            </a:r>
            <a:r>
              <a:rPr sz="1100" b="0" dirty="0" err="1">
                <a:solidFill>
                  <a:srgbClr val="667085"/>
                </a:solidFill>
                <a:latin typeface="Arial"/>
              </a:rPr>
              <a:t>новый</a:t>
            </a:r>
            <a:r>
              <a:rPr sz="1100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7085"/>
                </a:solidFill>
                <a:latin typeface="Arial"/>
              </a:rPr>
              <a:t>закон</a:t>
            </a:r>
            <a:r>
              <a:rPr sz="1100" b="0" dirty="0">
                <a:solidFill>
                  <a:srgbClr val="667085"/>
                </a:solidFill>
                <a:latin typeface="Arial"/>
              </a:rPr>
              <a:t> и </a:t>
            </a:r>
            <a:r>
              <a:rPr sz="1100" b="0" dirty="0" err="1">
                <a:solidFill>
                  <a:srgbClr val="667085"/>
                </a:solidFill>
                <a:latin typeface="Arial"/>
              </a:rPr>
              <a:t>усиление</a:t>
            </a:r>
            <a:r>
              <a:rPr sz="1100" b="0" dirty="0">
                <a:solidFill>
                  <a:srgbClr val="667085"/>
                </a:solidFill>
                <a:latin typeface="Arial"/>
              </a:rPr>
              <a:t>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8. Сводная оценка: потенциал факторов и позиция в матрице Мак-Кинзи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566160" cy="914400"/>
          </a:xfrm>
          <a:prstGeom prst="roundRect">
            <a:avLst/>
          </a:prstGeom>
          <a:solidFill>
            <a:srgbClr val="E8F6E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069848"/>
            <a:ext cx="31089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>
                <a:solidFill>
                  <a:srgbClr val="1A202C"/>
                </a:solidFill>
                <a:latin typeface="Arial"/>
              </a:rPr>
              <a:t>Положительный потенциал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71600"/>
            <a:ext cx="310896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60" b="0">
                <a:solidFill>
                  <a:srgbClr val="1A202C"/>
                </a:solidFill>
                <a:latin typeface="Arial"/>
              </a:rPr>
              <a:t>ΣP(S)+ΣR(O) = 0,80 + 0,74 = 1,54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3566160" cy="914400"/>
          </a:xfrm>
          <a:prstGeom prst="roundRect">
            <a:avLst/>
          </a:prstGeom>
          <a:solidFill>
            <a:srgbClr val="FFF5E6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258568"/>
            <a:ext cx="31089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>
                <a:solidFill>
                  <a:srgbClr val="1A202C"/>
                </a:solidFill>
                <a:latin typeface="Arial"/>
              </a:rPr>
              <a:t>Отрицательное давление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310896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60" b="0">
                <a:solidFill>
                  <a:srgbClr val="1A202C"/>
                </a:solidFill>
                <a:latin typeface="Arial"/>
              </a:rPr>
              <a:t>ΣP(W)+ΣR(T) = 0,74 + 0,74 = 1,48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401568"/>
            <a:ext cx="3566160" cy="1325880"/>
          </a:xfrm>
          <a:prstGeom prst="roundRect">
            <a:avLst/>
          </a:prstGeom>
          <a:solidFill>
            <a:srgbClr val="F1F6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511296"/>
            <a:ext cx="31089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>
                <a:solidFill>
                  <a:srgbClr val="1A202C"/>
                </a:solidFill>
                <a:latin typeface="Arial"/>
              </a:rPr>
              <a:t>Вывод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813048"/>
            <a:ext cx="3108960" cy="850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60" b="0">
                <a:solidFill>
                  <a:srgbClr val="1A202C"/>
                </a:solidFill>
                <a:latin typeface="Arial"/>
              </a:rPr>
              <a:t>Положительный потенциал немного выше отрицательного,</a:t>
            </a:r>
          </a:p>
          <a:p>
            <a:pPr algn="l"/>
            <a:r>
              <a:rPr sz="1260" b="0">
                <a:solidFill>
                  <a:srgbClr val="1A202C"/>
                </a:solidFill>
                <a:latin typeface="Arial"/>
              </a:rPr>
              <a:t>но компания остаётся в зоне «неустойчивого успеха».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914400"/>
            <a:ext cx="2270760" cy="1661160"/>
          </a:xfrm>
          <a:prstGeom prst="rect">
            <a:avLst/>
          </a:prstGeom>
          <a:solidFill>
            <a:srgbClr val="F8E6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102412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Провал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5640" y="914400"/>
            <a:ext cx="2270760" cy="1661160"/>
          </a:xfrm>
          <a:prstGeom prst="rect">
            <a:avLst/>
          </a:prstGeom>
          <a:solidFill>
            <a:srgbClr val="F8E6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5368" y="102412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Провал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6400" y="914400"/>
            <a:ext cx="2270760" cy="1661160"/>
          </a:xfrm>
          <a:prstGeom prst="rect">
            <a:avLst/>
          </a:prstGeom>
          <a:solidFill>
            <a:srgbClr val="F7F1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06128" y="102412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Зона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неопределённости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575560"/>
            <a:ext cx="2270760" cy="1661160"/>
          </a:xfrm>
          <a:prstGeom prst="rect">
            <a:avLst/>
          </a:prstGeom>
          <a:solidFill>
            <a:srgbClr val="F8E6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64608" y="268528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Провал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5640" y="2575560"/>
            <a:ext cx="2270760" cy="1661160"/>
          </a:xfrm>
          <a:prstGeom prst="rect">
            <a:avLst/>
          </a:prstGeom>
          <a:solidFill>
            <a:srgbClr val="FFF8E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5368" y="268528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A202C"/>
                </a:solidFill>
                <a:latin typeface="Arial"/>
              </a:rPr>
              <a:t>Нестабильный</a:t>
            </a:r>
          </a:p>
          <a:p>
            <a:pPr algn="ctr"/>
            <a:r>
              <a:rPr sz="1400" b="1">
                <a:solidFill>
                  <a:srgbClr val="1A202C"/>
                </a:solidFill>
                <a:latin typeface="Arial"/>
              </a:rPr>
              <a:t>успех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6400" y="2575560"/>
            <a:ext cx="2270760" cy="1661160"/>
          </a:xfrm>
          <a:prstGeom prst="rect">
            <a:avLst/>
          </a:prstGeom>
          <a:solidFill>
            <a:srgbClr val="E8F6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6128" y="268528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Успех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4236720"/>
            <a:ext cx="2270760" cy="1661160"/>
          </a:xfrm>
          <a:prstGeom prst="rect">
            <a:avLst/>
          </a:prstGeom>
          <a:solidFill>
            <a:srgbClr val="F7F1D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8" y="434644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Зона</a:t>
            </a:r>
          </a:p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неопределённости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25640" y="4236720"/>
            <a:ext cx="2270760" cy="1661160"/>
          </a:xfrm>
          <a:prstGeom prst="rect">
            <a:avLst/>
          </a:prstGeom>
          <a:solidFill>
            <a:srgbClr val="E8F6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5368" y="434644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Успех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96400" y="4236720"/>
            <a:ext cx="2270760" cy="1661160"/>
          </a:xfrm>
          <a:prstGeom prst="rect">
            <a:avLst/>
          </a:prstGeom>
          <a:solidFill>
            <a:srgbClr val="E8F6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06128" y="4346448"/>
            <a:ext cx="2051304" cy="14417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1A202C"/>
                </a:solidFill>
                <a:latin typeface="Arial"/>
              </a:rPr>
              <a:t>Успех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685800"/>
            <a:ext cx="68122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/>
              </a:rPr>
              <a:t>Положительные факторы (возможности + сильные стороны)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2240280"/>
            <a:ext cx="41148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Отрицательные</a:t>
            </a:r>
          </a:p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факторы</a:t>
            </a:r>
          </a:p>
        </p:txBody>
      </p:sp>
      <p:sp>
        <p:nvSpPr>
          <p:cNvPr id="34" name="Oval 33"/>
          <p:cNvSpPr/>
          <p:nvPr/>
        </p:nvSpPr>
        <p:spPr>
          <a:xfrm>
            <a:off x="7267879" y="3944264"/>
            <a:ext cx="219456" cy="219456"/>
          </a:xfrm>
          <a:prstGeom prst="ellipse">
            <a:avLst/>
          </a:prstGeom>
          <a:solidFill>
            <a:srgbClr val="005B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87335" y="3962552"/>
            <a:ext cx="18288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1">
                <a:solidFill>
                  <a:srgbClr val="1A202C"/>
                </a:solidFill>
                <a:latin typeface="Arial"/>
              </a:rPr>
              <a:t>Ozon (1,54; 1,48)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577840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 dirty="0" err="1">
                <a:solidFill>
                  <a:srgbClr val="1A202C"/>
                </a:solidFill>
                <a:latin typeface="Arial"/>
              </a:rPr>
              <a:t>Главная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угроза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по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взвешенной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оценке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— T2: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новый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закон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усиление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compliance (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ранг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0,32).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Далее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идут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T1 и T4 —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конкуренция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стоимость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последней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1A202C"/>
                </a:solidFill>
                <a:latin typeface="Arial"/>
              </a:rPr>
              <a:t>мили</a:t>
            </a:r>
            <a:r>
              <a:rPr sz="1150" b="0" dirty="0">
                <a:solidFill>
                  <a:srgbClr val="1A202C"/>
                </a:solidFill>
                <a:latin typeface="Arial"/>
              </a:rPr>
              <a:t>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8. Сводная оценка и матрица Мак-Кинзи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4528" y="2011680"/>
            <a:ext cx="502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9. TOWS: стратегические альтернативы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005840"/>
            <a:ext cx="5440680" cy="2011680"/>
          </a:xfrm>
          <a:prstGeom prst="roundRect">
            <a:avLst/>
          </a:prstGeom>
          <a:solidFill>
            <a:srgbClr val="E8F6E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078992"/>
            <a:ext cx="522122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>
                <a:solidFill>
                  <a:srgbClr val="1A202C"/>
                </a:solidFill>
                <a:latin typeface="Arial"/>
              </a:rPr>
              <a:t>SO — использовать сильные стороны для реализации возможностей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1970"/>
            <a:ext cx="5221224" cy="10095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наращивать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GMV в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регионах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за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счёт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ПВЗ + AI‑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персонализации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монетизировать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экосистему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через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рекламу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финтех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и B2B‑сервисы.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05840"/>
            <a:ext cx="5440680" cy="2011680"/>
          </a:xfrm>
          <a:prstGeom prst="roundRect">
            <a:avLst/>
          </a:prstGeom>
          <a:solidFill>
            <a:srgbClr val="EBF3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6208" y="1078992"/>
            <a:ext cx="522122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 dirty="0">
                <a:solidFill>
                  <a:srgbClr val="1A202C"/>
                </a:solidFill>
                <a:latin typeface="Arial"/>
              </a:rPr>
              <a:t>ST —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использовать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сильные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стороны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нейтрализации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угроз</a:t>
            </a:r>
            <a:endParaRPr sz="16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36208" y="1641970"/>
            <a:ext cx="5221224" cy="794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усилить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контроль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карточек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маркировки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контрафакта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использовать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масштаб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логистики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сдерживания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ценовой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конкуренции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.</a:t>
            </a:r>
            <a:r>
              <a:rPr lang="en-US" sz="1400" b="0" dirty="0">
                <a:solidFill>
                  <a:srgbClr val="1A202C"/>
                </a:solidFill>
                <a:latin typeface="Arial"/>
              </a:rPr>
              <a:t>  </a:t>
            </a:r>
            <a:endParaRPr sz="1400" b="0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3657600"/>
            <a:ext cx="5440680" cy="2011680"/>
          </a:xfrm>
          <a:prstGeom prst="roundRect">
            <a:avLst/>
          </a:prstGeom>
          <a:solidFill>
            <a:srgbClr val="FFF5F7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3730752"/>
            <a:ext cx="522122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 dirty="0">
                <a:solidFill>
                  <a:srgbClr val="1A202C"/>
                </a:solidFill>
                <a:latin typeface="Arial"/>
              </a:rPr>
              <a:t>WO —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использовать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возможности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снижения</a:t>
            </a:r>
            <a:r>
              <a:rPr sz="16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1A202C"/>
                </a:solidFill>
                <a:latin typeface="Arial"/>
              </a:rPr>
              <a:t>слабостей</a:t>
            </a:r>
            <a:endParaRPr sz="1650" b="1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4261104"/>
            <a:ext cx="5221224" cy="113261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1A202C"/>
                </a:solidFill>
                <a:latin typeface="Arial"/>
              </a:rPr>
              <a:t>автоматизировать</a:t>
            </a:r>
            <a:r>
              <a:rPr sz="1600" b="0" dirty="0">
                <a:solidFill>
                  <a:srgbClr val="1A202C"/>
                </a:solidFill>
                <a:latin typeface="Arial"/>
              </a:rPr>
              <a:t> last mile и </a:t>
            </a:r>
            <a:r>
              <a:rPr sz="1600" b="0" dirty="0" err="1">
                <a:solidFill>
                  <a:srgbClr val="1A202C"/>
                </a:solidFill>
                <a:latin typeface="Arial"/>
              </a:rPr>
              <a:t>складские</a:t>
            </a:r>
            <a:r>
              <a:rPr sz="16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202C"/>
                </a:solidFill>
                <a:latin typeface="Arial"/>
              </a:rPr>
              <a:t>операции</a:t>
            </a:r>
            <a:r>
              <a:rPr sz="16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6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202C"/>
                </a:solidFill>
                <a:latin typeface="Arial"/>
              </a:rPr>
              <a:t>улучшения</a:t>
            </a:r>
            <a:r>
              <a:rPr sz="1600" b="0" dirty="0">
                <a:solidFill>
                  <a:srgbClr val="1A202C"/>
                </a:solidFill>
                <a:latin typeface="Arial"/>
              </a:rPr>
              <a:t> unit economics;</a:t>
            </a:r>
          </a:p>
          <a:p>
            <a:pPr algn="l"/>
            <a:r>
              <a:rPr sz="160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1A202C"/>
                </a:solidFill>
                <a:latin typeface="Arial"/>
              </a:rPr>
              <a:t>стандартизировать</a:t>
            </a:r>
            <a:r>
              <a:rPr sz="16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202C"/>
                </a:solidFill>
                <a:latin typeface="Arial"/>
              </a:rPr>
              <a:t>сервис</a:t>
            </a:r>
            <a:r>
              <a:rPr sz="16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A202C"/>
                </a:solidFill>
                <a:latin typeface="Arial"/>
              </a:rPr>
              <a:t>селлеров</a:t>
            </a:r>
            <a:r>
              <a:rPr sz="1600" b="0" dirty="0">
                <a:solidFill>
                  <a:srgbClr val="1A202C"/>
                </a:solidFill>
                <a:latin typeface="Arial"/>
              </a:rPr>
              <a:t> и customer care.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657600"/>
            <a:ext cx="5440680" cy="2011680"/>
          </a:xfrm>
          <a:prstGeom prst="roundRect">
            <a:avLst/>
          </a:prstGeom>
          <a:solidFill>
            <a:srgbClr val="FFF5E6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3730752"/>
            <a:ext cx="522122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>
                <a:solidFill>
                  <a:srgbClr val="1A202C"/>
                </a:solidFill>
                <a:latin typeface="Arial"/>
              </a:rPr>
              <a:t>WT — минимизировать слабости и угрозы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261104"/>
            <a:ext cx="5221224" cy="10095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приоритизировать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прибыльные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категории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дисциплину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промо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•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встроить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pre-check compliance и risk scoring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селлеров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/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товаров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.</a:t>
            </a:r>
            <a:r>
              <a:rPr lang="en-US" sz="1400" dirty="0">
                <a:solidFill>
                  <a:srgbClr val="1A202C"/>
                </a:solidFill>
                <a:latin typeface="Arial"/>
              </a:rPr>
              <a:t> </a:t>
            </a:r>
            <a:endParaRPr sz="1400" b="0" dirty="0">
              <a:solidFill>
                <a:srgbClr val="1A202C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5925312"/>
            <a:ext cx="109728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Оптимальная линия поведения: стратегия SO/ST с акцентом на прибыльный рост и предсказуемый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10. Итоговое управленческое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836428"/>
            <a:ext cx="4846320" cy="4558532"/>
          </a:xfrm>
          <a:prstGeom prst="roundRect">
            <a:avLst/>
          </a:prstGeom>
          <a:solidFill>
            <a:srgbClr val="F1F6FF"/>
          </a:solidFill>
          <a:ln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987552"/>
            <a:ext cx="4535424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50" b="1">
                <a:solidFill>
                  <a:srgbClr val="1A202C"/>
                </a:solidFill>
                <a:latin typeface="Arial"/>
              </a:rPr>
              <a:t>Решение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689574"/>
            <a:ext cx="4535424" cy="29484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 dirty="0" err="1">
                <a:solidFill>
                  <a:srgbClr val="1A202C"/>
                </a:solidFill>
                <a:latin typeface="Arial"/>
              </a:rPr>
              <a:t>Рекомендуется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стратегия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«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контролируемого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прибыльного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роста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»:</a:t>
            </a:r>
          </a:p>
          <a:p>
            <a:pPr algn="l"/>
            <a:endParaRPr sz="1400" b="0" dirty="0">
              <a:solidFill>
                <a:srgbClr val="1A202C"/>
              </a:solidFill>
              <a:latin typeface="Arial"/>
            </a:endParaRPr>
          </a:p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1)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ускорить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рост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в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регионах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категориях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с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высокой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частотой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заказа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2)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поднять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эффективность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last mile и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складов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через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автоматизацию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3)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сделать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compliance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конкурентным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преимуществом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4)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усилить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контроль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качества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селлеров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отзывов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карточек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;</a:t>
            </a:r>
          </a:p>
          <a:p>
            <a:pPr algn="l"/>
            <a:r>
              <a:rPr sz="1400" b="0" dirty="0">
                <a:solidFill>
                  <a:srgbClr val="1A202C"/>
                </a:solidFill>
                <a:latin typeface="Arial"/>
              </a:rPr>
              <a:t>5)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увеличивать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долю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высокомаржинальных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сервисов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 —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реклама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A202C"/>
                </a:solidFill>
                <a:latin typeface="Arial"/>
              </a:rPr>
              <a:t>финтех</a:t>
            </a:r>
            <a:r>
              <a:rPr sz="1400" b="0" dirty="0">
                <a:solidFill>
                  <a:srgbClr val="1A202C"/>
                </a:solidFill>
                <a:latin typeface="Arial"/>
              </a:rPr>
              <a:t>, B2B.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005840"/>
            <a:ext cx="5669280" cy="868680"/>
          </a:xfrm>
          <a:prstGeom prst="round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25312" y="1115568"/>
            <a:ext cx="1143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  <a:latin typeface="Arial"/>
              </a:rPr>
              <a:t>0–3 мес.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115568"/>
            <a:ext cx="42519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аудит compliance, риск‑карта, pre-check маркировки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029968"/>
            <a:ext cx="5669280" cy="868680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25312" y="2139696"/>
            <a:ext cx="1143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  <a:latin typeface="Arial"/>
              </a:rPr>
              <a:t>3–6 мес.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39696"/>
            <a:ext cx="42519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оптимизация маршрутов, SLA ПВЗ, antifraud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054096"/>
            <a:ext cx="5669280" cy="868680"/>
          </a:xfrm>
          <a:prstGeom prst="round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25312" y="3163824"/>
            <a:ext cx="1143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  <a:latin typeface="Arial"/>
              </a:rPr>
              <a:t>6–12 мес.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63824"/>
            <a:ext cx="42519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Arial"/>
              </a:rPr>
              <a:t>масштабирование AI‑сценариев и роста рекламы/финтеха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4078224"/>
            <a:ext cx="5669280" cy="868680"/>
          </a:xfrm>
          <a:prstGeom prst="round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25312" y="4187952"/>
            <a:ext cx="1143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A202C"/>
                </a:solidFill>
                <a:latin typeface="Arial"/>
              </a:rPr>
              <a:t>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187952"/>
            <a:ext cx="42519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 dirty="0">
                <a:solidFill>
                  <a:srgbClr val="1A202C"/>
                </a:solidFill>
                <a:latin typeface="Arial"/>
              </a:rPr>
              <a:t>GMV, </a:t>
            </a:r>
            <a:r>
              <a:rPr sz="1300" b="0" dirty="0" err="1">
                <a:solidFill>
                  <a:srgbClr val="1A202C"/>
                </a:solidFill>
                <a:latin typeface="Arial"/>
              </a:rPr>
              <a:t>вкладная</a:t>
            </a:r>
            <a:r>
              <a:rPr sz="13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A202C"/>
                </a:solidFill>
                <a:latin typeface="Arial"/>
              </a:rPr>
              <a:t>маржа</a:t>
            </a:r>
            <a:r>
              <a:rPr sz="1300" b="0" dirty="0">
                <a:solidFill>
                  <a:srgbClr val="1A202C"/>
                </a:solidFill>
                <a:latin typeface="Arial"/>
              </a:rPr>
              <a:t>, NPS, </a:t>
            </a:r>
            <a:r>
              <a:rPr sz="1300" b="0" dirty="0" err="1">
                <a:solidFill>
                  <a:srgbClr val="1A202C"/>
                </a:solidFill>
                <a:latin typeface="Arial"/>
              </a:rPr>
              <a:t>доля</a:t>
            </a:r>
            <a:r>
              <a:rPr sz="13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A202C"/>
                </a:solidFill>
                <a:latin typeface="Arial"/>
              </a:rPr>
              <a:t>проблемных</a:t>
            </a:r>
            <a:r>
              <a:rPr sz="13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A202C"/>
                </a:solidFill>
                <a:latin typeface="Arial"/>
              </a:rPr>
              <a:t>карточек</a:t>
            </a:r>
            <a:r>
              <a:rPr sz="1300" b="0" dirty="0">
                <a:solidFill>
                  <a:srgbClr val="1A202C"/>
                </a:solidFill>
                <a:latin typeface="Arial"/>
              </a:rPr>
              <a:t>, cost/order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257800"/>
            <a:ext cx="5669280" cy="72481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50" b="1" dirty="0" err="1">
                <a:solidFill>
                  <a:srgbClr val="1A202C"/>
                </a:solidFill>
                <a:latin typeface="Arial"/>
              </a:rPr>
              <a:t>Ключевая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идея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: Ozon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должен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использовать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масштаб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и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технологии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не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только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роста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,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но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и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снижения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регуляторного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и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операционного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1A202C"/>
                </a:solidFill>
                <a:latin typeface="Arial"/>
              </a:rPr>
              <a:t>риска</a:t>
            </a:r>
            <a:r>
              <a:rPr sz="1250" b="1" dirty="0">
                <a:solidFill>
                  <a:srgbClr val="1A202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11. Источники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291772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 dirty="0">
                <a:solidFill>
                  <a:srgbClr val="1A202C"/>
                </a:solidFill>
                <a:latin typeface="Arial"/>
              </a:rPr>
              <a:t>1.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Практическое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задание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5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по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дисциплине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«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Методы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принятия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управленческих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решений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» (RTU MIREA, 2025).</a:t>
            </a:r>
          </a:p>
          <a:p>
            <a:pPr algn="l"/>
            <a:r>
              <a:rPr sz="2000" b="0" dirty="0">
                <a:solidFill>
                  <a:srgbClr val="1A202C"/>
                </a:solidFill>
                <a:latin typeface="Arial"/>
              </a:rPr>
              <a:t>2. Ozon Investor Relations — FY 2024 Financial Results, 27.02.2025.</a:t>
            </a:r>
          </a:p>
          <a:p>
            <a:pPr algn="l"/>
            <a:r>
              <a:rPr sz="2000" b="0" dirty="0">
                <a:solidFill>
                  <a:srgbClr val="1A202C"/>
                </a:solidFill>
                <a:latin typeface="Arial"/>
              </a:rPr>
              <a:t>3. Ozon corporate site — about the company.</a:t>
            </a:r>
          </a:p>
          <a:p>
            <a:pPr algn="l"/>
            <a:r>
              <a:rPr sz="2000" b="0" dirty="0">
                <a:solidFill>
                  <a:srgbClr val="1A202C"/>
                </a:solidFill>
                <a:latin typeface="Arial"/>
              </a:rPr>
              <a:t>4. Data Insight — «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Интернет-торговля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в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России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2024», 03.05.2024.</a:t>
            </a:r>
          </a:p>
          <a:p>
            <a:pPr algn="l"/>
            <a:r>
              <a:rPr sz="2000" b="0" dirty="0">
                <a:solidFill>
                  <a:srgbClr val="1A202C"/>
                </a:solidFill>
                <a:latin typeface="Arial"/>
              </a:rPr>
              <a:t>5. Data Insight — «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Рейтинг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крупнейших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интернет-магазинов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Топ-100 2024», 21.04.2025.</a:t>
            </a:r>
          </a:p>
          <a:p>
            <a:pPr algn="l"/>
            <a:r>
              <a:rPr sz="2000" b="0" dirty="0">
                <a:solidFill>
                  <a:srgbClr val="1A202C"/>
                </a:solidFill>
                <a:latin typeface="Arial"/>
              </a:rPr>
              <a:t>6.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Закон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№ 289-ФЗ «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Об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отдельных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вопросах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регулирования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платформенной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экономики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в РФ», 31.07.2025.</a:t>
            </a:r>
          </a:p>
          <a:p>
            <a:pPr algn="l"/>
            <a:r>
              <a:rPr sz="2000" b="0" dirty="0">
                <a:solidFill>
                  <a:srgbClr val="1A202C"/>
                </a:solidFill>
                <a:latin typeface="Arial"/>
              </a:rPr>
              <a:t>7. Ozon Help —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принципы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работы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поиска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и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аналитические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инструменты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для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A202C"/>
                </a:solidFill>
                <a:latin typeface="Arial"/>
              </a:rPr>
              <a:t>селлеров</a:t>
            </a:r>
            <a:r>
              <a:rPr sz="2000" b="0" dirty="0">
                <a:solidFill>
                  <a:srgbClr val="1A202C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1444</Words>
  <Application>Microsoft Office PowerPoint</Application>
  <PresentationFormat>Широкоэкранный</PresentationFormat>
  <Paragraphs>428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H4RD</cp:lastModifiedBy>
  <cp:revision>4</cp:revision>
  <dcterms:created xsi:type="dcterms:W3CDTF">2013-01-27T09:14:16Z</dcterms:created>
  <dcterms:modified xsi:type="dcterms:W3CDTF">2026-04-22T15:15:59Z</dcterms:modified>
  <cp:category/>
</cp:coreProperties>
</file>