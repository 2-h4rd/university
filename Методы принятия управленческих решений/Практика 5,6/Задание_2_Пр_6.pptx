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74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B8D1A0-7CD3-4B59-B506-BDCC13CFF41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515EDB-04BB-48CD-9B96-831DE5E933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649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15EDB-04BB-48CD-9B96-831DE5E9334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219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164592" cy="685800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Практическое
задание 6</a:t>
            </a:r>
          </a:p>
          <a:p>
            <a:r>
              <a:rPr sz="1800">
                <a:solidFill>
                  <a:srgbClr val="E2E8F0"/>
                </a:solidFill>
                <a:latin typeface="Calibri"/>
              </a:rPr>
              <a:t>Методы принятия
управленческих решений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731520"/>
            <a:ext cx="7223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 err="1">
                <a:solidFill>
                  <a:srgbClr val="111827"/>
                </a:solidFill>
                <a:latin typeface="Calibri"/>
              </a:rPr>
              <a:t>Комплексное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решение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по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трем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заданиям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: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дерево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решений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,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фокальные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объекты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,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морфологическая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таблица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 и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мозговой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штурм</a:t>
            </a:r>
            <a:endParaRPr sz="2400" b="1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43400" y="1965960"/>
            <a:ext cx="7132320" cy="2656722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700" b="0" dirty="0" err="1">
                <a:solidFill>
                  <a:srgbClr val="111827"/>
                </a:solidFill>
                <a:latin typeface="Calibri"/>
              </a:rPr>
              <a:t>Состав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команды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 и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роли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
1.</a:t>
            </a:r>
            <a:r>
              <a:rPr lang="ru-RU" sz="1700" b="0">
                <a:solidFill>
                  <a:srgbClr val="111827"/>
                </a:solidFill>
                <a:latin typeface="Calibri"/>
              </a:rPr>
              <a:t> </a:t>
            </a:r>
            <a:r>
              <a:rPr lang="ru-RU" sz="1700">
                <a:solidFill>
                  <a:srgbClr val="111827"/>
                </a:solidFill>
                <a:latin typeface="Calibri"/>
              </a:rPr>
              <a:t>Зубарев </a:t>
            </a:r>
            <a:r>
              <a:rPr lang="ru-RU" sz="1700" dirty="0">
                <a:solidFill>
                  <a:srgbClr val="111827"/>
                </a:solidFill>
                <a:latin typeface="Calibri"/>
              </a:rPr>
              <a:t>В.С.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—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руководитель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проектной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группы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
2.</a:t>
            </a:r>
            <a:r>
              <a:rPr lang="ru-RU" sz="1700" b="0" dirty="0">
                <a:solidFill>
                  <a:srgbClr val="111827"/>
                </a:solidFill>
                <a:latin typeface="Calibri"/>
              </a:rPr>
              <a:t> Хохлов А.И.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—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куратор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группы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
3.</a:t>
            </a:r>
            <a:r>
              <a:rPr lang="ru-RU" sz="17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lang="ru-RU" sz="1700" dirty="0" err="1">
                <a:solidFill>
                  <a:srgbClr val="111827"/>
                </a:solidFill>
                <a:latin typeface="Calibri"/>
              </a:rPr>
              <a:t>Рыженин</a:t>
            </a:r>
            <a:r>
              <a:rPr lang="ru-RU" sz="1700" dirty="0">
                <a:solidFill>
                  <a:srgbClr val="111827"/>
                </a:solidFill>
                <a:latin typeface="Calibri"/>
              </a:rPr>
              <a:t> А.А.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—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методолог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
4.</a:t>
            </a:r>
            <a:r>
              <a:rPr lang="ru-RU" sz="17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lang="ru-RU" sz="1700" b="0" dirty="0" err="1">
                <a:solidFill>
                  <a:srgbClr val="111827"/>
                </a:solidFill>
                <a:latin typeface="Calibri"/>
              </a:rPr>
              <a:t>Тыртышный</a:t>
            </a:r>
            <a:r>
              <a:rPr lang="ru-RU" sz="1700" b="0" dirty="0">
                <a:solidFill>
                  <a:srgbClr val="111827"/>
                </a:solidFill>
                <a:latin typeface="Calibri"/>
              </a:rPr>
              <a:t> С.Д.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—</a:t>
            </a:r>
            <a:r>
              <a:rPr lang="ru-RU" sz="1700" b="0" dirty="0">
                <a:solidFill>
                  <a:srgbClr val="111827"/>
                </a:solidFill>
                <a:latin typeface="Calibri"/>
              </a:rPr>
              <a:t>аналитик данных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
5.</a:t>
            </a:r>
            <a:r>
              <a:rPr lang="ru-RU" sz="17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lang="ru-RU" sz="1700" dirty="0" err="1">
                <a:solidFill>
                  <a:srgbClr val="111827"/>
                </a:solidFill>
                <a:latin typeface="Calibri"/>
              </a:rPr>
              <a:t>Белослудцев</a:t>
            </a:r>
            <a:r>
              <a:rPr lang="ru-RU" sz="1700" dirty="0">
                <a:solidFill>
                  <a:srgbClr val="111827"/>
                </a:solidFill>
                <a:latin typeface="Calibri"/>
              </a:rPr>
              <a:t> И.А.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—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аналитик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данных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
6. </a:t>
            </a:r>
            <a:r>
              <a:rPr lang="ru-RU" sz="1700" b="0" dirty="0">
                <a:solidFill>
                  <a:srgbClr val="111827"/>
                </a:solidFill>
                <a:latin typeface="Calibri"/>
              </a:rPr>
              <a:t>Савченков К.В.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—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дизайнер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презентации</a:t>
            </a:r>
            <a:endParaRPr sz="1700" b="0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43400" y="4983480"/>
            <a:ext cx="2121408" cy="1051560"/>
          </a:xfrm>
          <a:prstGeom prst="roundRect">
            <a:avLst/>
          </a:prstGeom>
          <a:solidFill>
            <a:srgbClr val="CCFBF1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300" b="0">
                <a:solidFill>
                  <a:srgbClr val="111827"/>
                </a:solidFill>
                <a:latin typeface="Calibri"/>
              </a:rPr>
              <a:t>Задание 1
Дерево решений
по повышению вовлеченности студентов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4736592"/>
            <a:ext cx="1051560" cy="29260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Задание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2552" y="4983480"/>
            <a:ext cx="2121408" cy="105156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300" b="0">
                <a:solidFill>
                  <a:srgbClr val="111827"/>
                </a:solidFill>
                <a:latin typeface="Calibri"/>
              </a:rPr>
              <a:t>Задание 2
Совершенствование бытового прибора
методом фокальных объектов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93992" y="4736592"/>
            <a:ext cx="105156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Задание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1704" y="4983480"/>
            <a:ext cx="2121408" cy="1051560"/>
          </a:xfrm>
          <a:prstGeom prst="roundRect">
            <a:avLst/>
          </a:prstGeom>
          <a:solidFill>
            <a:srgbClr val="EDE9FE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300" b="0">
                <a:solidFill>
                  <a:srgbClr val="111827"/>
                </a:solidFill>
                <a:latin typeface="Calibri"/>
              </a:rPr>
              <a:t>Задание 3
Мозговой штурм
по улучшению контента дисциплины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53144" y="4736592"/>
            <a:ext cx="1051560" cy="2926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Задание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6455664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Слайд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19088"/>
            <a:ext cx="38404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Calibri"/>
              </a:rPr>
              <a:t>Докладчик: Вся команда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621426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 err="1">
                <a:solidFill>
                  <a:srgbClr val="111827"/>
                </a:solidFill>
                <a:latin typeface="Calibri"/>
              </a:rPr>
              <a:t>Команда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,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роли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 и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логика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выполнения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работы</a:t>
            </a:r>
            <a:endParaRPr sz="2400" b="1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645920" cy="502920"/>
          </a:xfrm>
          <a:prstGeom prst="round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У1: ГПР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41448" y="1051560"/>
            <a:ext cx="1645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У2: Куратор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5" y="1051560"/>
            <a:ext cx="1645920" cy="502920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У3: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Методолог</a:t>
            </a:r>
            <a:endParaRPr sz="1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27063" y="1051560"/>
            <a:ext cx="1645920" cy="5029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У4: </a:t>
            </a:r>
            <a:r>
              <a:rPr lang="ru-RU" sz="1200" b="1" dirty="0">
                <a:solidFill>
                  <a:srgbClr val="FFFFFF"/>
                </a:solidFill>
                <a:latin typeface="Calibri"/>
              </a:rPr>
              <a:t>Аналитик</a:t>
            </a:r>
            <a:endParaRPr sz="1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119871" y="1051560"/>
            <a:ext cx="1645920" cy="50292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У5: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Аналитик</a:t>
            </a:r>
            <a:endParaRPr sz="1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0012680" y="1051560"/>
            <a:ext cx="1645920" cy="50292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У6: Секретарь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253144"/>
              </p:ext>
            </p:extLst>
          </p:nvPr>
        </p:nvGraphicFramePr>
        <p:xfrm>
          <a:off x="502920" y="1783080"/>
          <a:ext cx="6885432" cy="4433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38904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Блок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6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работы</a:t>
                      </a:r>
                      <a:endParaRPr sz="16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У1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У2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У3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У4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У5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У6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90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Постановка проблемы и цели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90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Дерево решений и оценка альтернатив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90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Фокальные объекты и идея продукта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111827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90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Морфологическая таблица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890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Мозговой штурм и оценка идей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111827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635240" y="1783080"/>
            <a:ext cx="3977639" cy="1051560"/>
          </a:xfrm>
          <a:prstGeom prst="roundRect">
            <a:avLst/>
          </a:prstGeom>
          <a:solidFill>
            <a:srgbClr val="D1FAE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400" b="0" dirty="0">
                <a:solidFill>
                  <a:srgbClr val="111827"/>
                </a:solidFill>
                <a:latin typeface="Calibri"/>
              </a:rPr>
              <a:t>R —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исполняет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
A —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отвечает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за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результат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
C —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консультирует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
I —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информируется</a:t>
            </a:r>
            <a:endParaRPr sz="1400" b="0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635240" y="3017520"/>
            <a:ext cx="3977639" cy="319898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400" b="0" dirty="0" err="1">
                <a:solidFill>
                  <a:srgbClr val="111827"/>
                </a:solidFill>
                <a:latin typeface="Calibri"/>
              </a:rPr>
              <a:t>Алгоритм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работы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команды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
1)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Сначала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формулируем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проблему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и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критерии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выбора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.
2)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Затем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строим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альтернативы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и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оцениваем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их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.
3)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После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этого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генерируем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продуктовую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идею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творческими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методами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.
4) В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финале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проводим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мозговой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штурм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и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ранжируем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идеи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по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реализуемости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.
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Итог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все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три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задания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объединены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в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одну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логику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принятия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решений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6455664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Слайд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Calibri"/>
              </a:rPr>
              <a:t>Задание 1. Постановка проблемы, цели и альтернатив</a:t>
            </a:r>
          </a:p>
          <a:p>
            <a:r>
              <a:rPr sz="1100">
                <a:solidFill>
                  <a:srgbClr val="6B7280"/>
                </a:solidFill>
                <a:latin typeface="Calibri"/>
              </a:rPr>
              <a:t>Бизнес-контекст задания: повышение вовлеченности студентов и снижение академических задолженностей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520440" cy="1941151"/>
          </a:xfrm>
          <a:prstGeom prst="round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600" b="0" dirty="0" err="1">
                <a:solidFill>
                  <a:srgbClr val="111827"/>
                </a:solidFill>
                <a:latin typeface="Calibri"/>
              </a:rPr>
              <a:t>Проблема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
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Часть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студентов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теряет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интерес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к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дисциплине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отстает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от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графика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получает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академические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долги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и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испытывает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эмоциональную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перегрузку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1234440"/>
            <a:ext cx="3520440" cy="1941151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600" b="0" dirty="0" err="1">
                <a:solidFill>
                  <a:srgbClr val="111827"/>
                </a:solidFill>
                <a:latin typeface="Calibri"/>
              </a:rPr>
              <a:t>Причины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
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Низкая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практическая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наглядность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материала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поздняя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обратная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связь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перегрузка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длинными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блоками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контента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слабая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персонализация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поддержки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0456" y="1234440"/>
            <a:ext cx="3520440" cy="1941151"/>
          </a:xfrm>
          <a:prstGeom prst="roundRect">
            <a:avLst/>
          </a:prstGeom>
          <a:solidFill>
            <a:srgbClr val="D1FAE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600" b="0" dirty="0" err="1">
                <a:solidFill>
                  <a:srgbClr val="111827"/>
                </a:solidFill>
                <a:latin typeface="Calibri"/>
              </a:rPr>
              <a:t>Цель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решения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
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Повысить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вовлеченность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в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освоение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дисциплины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сократить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число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задолженностей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и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сделать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траекторию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обучения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более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управляемой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83280"/>
            <a:ext cx="3840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500" b="0" dirty="0" err="1">
                <a:solidFill>
                  <a:srgbClr val="111827"/>
                </a:solidFill>
                <a:latin typeface="Calibri"/>
              </a:rPr>
              <a:t>Критерии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выбора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альтернатив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
•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ожидаемый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рост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вовлеченности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
•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скорость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внедрения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
•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потребность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в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ресурсах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
•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устойчивость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эффекта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
•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удобство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масштабирования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на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поток</a:t>
            </a:r>
            <a:endParaRPr sz="1500" b="0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26280" y="3383280"/>
            <a:ext cx="70408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500" b="0" dirty="0" err="1">
                <a:solidFill>
                  <a:srgbClr val="111827"/>
                </a:solidFill>
                <a:latin typeface="Calibri"/>
              </a:rPr>
              <a:t>Альтернативы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
A1.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Раннее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выявление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риска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+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персональные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консультации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куратора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
A2.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Адаптивная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цифровая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траектория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микромодули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промежуточные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чек-пойнты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дашборд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прогресса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
A3.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Геймификация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и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система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peer-to-peer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поддержки</a:t>
            </a:r>
            <a:endParaRPr sz="1500" b="0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5598751"/>
            <a:ext cx="2942029" cy="4051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  <a:latin typeface="Calibri"/>
              </a:rPr>
              <a:t>Ключевая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Calibri"/>
              </a:rPr>
              <a:t>идея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sz="1100" b="1" dirty="0" err="1">
                <a:solidFill>
                  <a:srgbClr val="FFFFFF"/>
                </a:solidFill>
                <a:latin typeface="Calibri"/>
              </a:rPr>
              <a:t>выбирать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Calibri"/>
              </a:rPr>
              <a:t>по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Calibri"/>
              </a:rPr>
              <a:t>ожидаемому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Calibri"/>
              </a:rPr>
              <a:t>эффекту</a:t>
            </a:r>
            <a:endParaRPr sz="11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378440" y="6455664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Слайд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653217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 err="1">
                <a:solidFill>
                  <a:srgbClr val="111827"/>
                </a:solidFill>
                <a:latin typeface="Calibri"/>
              </a:rPr>
              <a:t>Дерево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решений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: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выбор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лучшей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альтернативы</a:t>
            </a:r>
            <a:endParaRPr sz="2400" b="1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707" y="3392324"/>
            <a:ext cx="1772093" cy="758952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600" b="1" dirty="0" err="1">
                <a:solidFill>
                  <a:srgbClr val="111827"/>
                </a:solidFill>
                <a:latin typeface="Calibri"/>
              </a:rPr>
              <a:t>Решение</a:t>
            </a:r>
            <a:r>
              <a:rPr sz="1600" b="1" dirty="0">
                <a:solidFill>
                  <a:srgbClr val="111827"/>
                </a:solidFill>
                <a:latin typeface="Calibri"/>
              </a:rPr>
              <a:t>
</a:t>
            </a:r>
            <a:r>
              <a:rPr sz="1600" b="1" dirty="0" err="1">
                <a:solidFill>
                  <a:srgbClr val="111827"/>
                </a:solidFill>
                <a:latin typeface="Calibri"/>
              </a:rPr>
              <a:t>Как</a:t>
            </a:r>
            <a:r>
              <a:rPr sz="16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Calibri"/>
              </a:rPr>
              <a:t>повысить</a:t>
            </a:r>
            <a:r>
              <a:rPr sz="1600" b="1" dirty="0">
                <a:solidFill>
                  <a:srgbClr val="111827"/>
                </a:solidFill>
                <a:latin typeface="Calibri"/>
              </a:rPr>
              <a:t>
</a:t>
            </a:r>
            <a:r>
              <a:rPr sz="1600" b="1" dirty="0" err="1">
                <a:solidFill>
                  <a:srgbClr val="111827"/>
                </a:solidFill>
                <a:latin typeface="Calibri"/>
              </a:rPr>
              <a:t>вовлеченность</a:t>
            </a:r>
            <a:r>
              <a:rPr sz="1600" b="1" dirty="0">
                <a:solidFill>
                  <a:srgbClr val="111827"/>
                </a:solidFill>
                <a:latin typeface="Calibri"/>
              </a:rPr>
              <a:t>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1788" y="1476003"/>
            <a:ext cx="1911095" cy="941832"/>
          </a:xfrm>
          <a:prstGeom prst="round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Calibri"/>
              </a:rPr>
              <a:t>A1
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Куратор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+
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ранняя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диагностика</a:t>
            </a:r>
            <a:endParaRPr sz="1500" b="1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7" name="Connector 6"/>
          <p:cNvCxnSpPr>
            <a:cxnSpLocks/>
            <a:stCxn id="5" idx="3"/>
            <a:endCxn id="6" idx="1"/>
          </p:cNvCxnSpPr>
          <p:nvPr/>
        </p:nvCxnSpPr>
        <p:spPr>
          <a:xfrm flipV="1">
            <a:off x="1828800" y="1946919"/>
            <a:ext cx="412988" cy="1824881"/>
          </a:xfrm>
          <a:prstGeom prst="line">
            <a:avLst/>
          </a:prstGeom>
          <a:ln w="254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0A626D3B-DE92-48A2-AD4F-AD4D0422E669}"/>
              </a:ext>
            </a:extLst>
          </p:cNvPr>
          <p:cNvGrpSpPr/>
          <p:nvPr/>
        </p:nvGrpSpPr>
        <p:grpSpPr>
          <a:xfrm>
            <a:off x="4251960" y="1397339"/>
            <a:ext cx="4572000" cy="1170432"/>
            <a:chOff x="4251960" y="1194139"/>
            <a:chExt cx="4572000" cy="1170432"/>
          </a:xfrm>
        </p:grpSpPr>
        <p:sp>
          <p:nvSpPr>
            <p:cNvPr id="8" name="Oval 7"/>
            <p:cNvSpPr/>
            <p:nvPr/>
          </p:nvSpPr>
          <p:spPr>
            <a:xfrm>
              <a:off x="4251960" y="1459315"/>
              <a:ext cx="384048" cy="384048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EA5A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892040" y="1194139"/>
              <a:ext cx="2423160" cy="34747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0EA5A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l"/>
              <a:r>
                <a:rPr sz="1100" b="0" dirty="0" err="1">
                  <a:solidFill>
                    <a:srgbClr val="111827"/>
                  </a:solidFill>
                  <a:latin typeface="Calibri"/>
                </a:rPr>
                <a:t>Высокий</a:t>
              </a:r>
              <a:r>
                <a:rPr sz="1100" b="0" dirty="0">
                  <a:solidFill>
                    <a:srgbClr val="111827"/>
                  </a:solidFill>
                  <a:latin typeface="Calibri"/>
                </a:rPr>
                <a:t> 0,45 × 8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 flipV="1">
              <a:off x="4636008" y="1367875"/>
              <a:ext cx="256032" cy="283464"/>
            </a:xfrm>
            <a:prstGeom prst="line">
              <a:avLst/>
            </a:prstGeom>
            <a:ln w="19050">
              <a:solidFill>
                <a:srgbClr val="0EA5A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ounded Rectangle 10"/>
            <p:cNvSpPr/>
            <p:nvPr/>
          </p:nvSpPr>
          <p:spPr>
            <a:xfrm>
              <a:off x="4892040" y="1605619"/>
              <a:ext cx="2423160" cy="34747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0EA5A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l"/>
              <a:r>
                <a:rPr sz="1100" b="0">
                  <a:solidFill>
                    <a:srgbClr val="111827"/>
                  </a:solidFill>
                  <a:latin typeface="Calibri"/>
                </a:rPr>
                <a:t>Средний 0,40 × 5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4636008" y="1651339"/>
              <a:ext cx="256032" cy="128016"/>
            </a:xfrm>
            <a:prstGeom prst="line">
              <a:avLst/>
            </a:prstGeom>
            <a:ln w="19050">
              <a:solidFill>
                <a:srgbClr val="0EA5A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4892040" y="2017099"/>
              <a:ext cx="2423160" cy="34747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0EA5A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l"/>
              <a:r>
                <a:rPr sz="1100" b="0">
                  <a:solidFill>
                    <a:srgbClr val="111827"/>
                  </a:solidFill>
                  <a:latin typeface="Calibri"/>
                </a:rPr>
                <a:t>Низкий 0,15 × 2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4636008" y="1651339"/>
              <a:ext cx="256032" cy="539496"/>
            </a:xfrm>
            <a:prstGeom prst="line">
              <a:avLst/>
            </a:prstGeom>
            <a:ln w="19050">
              <a:solidFill>
                <a:srgbClr val="0EA5A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7589520" y="1413595"/>
              <a:ext cx="1234440" cy="43891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0EA5A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ctr"/>
              <a:r>
                <a:rPr sz="1400" b="1">
                  <a:solidFill>
                    <a:srgbClr val="111827"/>
                  </a:solidFill>
                  <a:latin typeface="Calibri"/>
                </a:rPr>
                <a:t>E = 5,9</a:t>
              </a:r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2241788" y="3300884"/>
            <a:ext cx="1911095" cy="941833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Calibri"/>
              </a:rPr>
              <a:t>A2
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Адаптивная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
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цифровая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траектория</a:t>
            </a:r>
            <a:endParaRPr sz="1500" b="1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7" name="Connector 16"/>
          <p:cNvCxnSpPr>
            <a:cxnSpLocks/>
            <a:stCxn id="5" idx="3"/>
            <a:endCxn id="16" idx="1"/>
          </p:cNvCxnSpPr>
          <p:nvPr/>
        </p:nvCxnSpPr>
        <p:spPr>
          <a:xfrm>
            <a:off x="1828800" y="3771800"/>
            <a:ext cx="412988" cy="1"/>
          </a:xfrm>
          <a:prstGeom prst="line">
            <a:avLst/>
          </a:prstGeom>
          <a:ln w="254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7875781B-746C-4016-837E-EB607BABDCDB}"/>
              </a:ext>
            </a:extLst>
          </p:cNvPr>
          <p:cNvGrpSpPr/>
          <p:nvPr/>
        </p:nvGrpSpPr>
        <p:grpSpPr>
          <a:xfrm>
            <a:off x="4251960" y="3192773"/>
            <a:ext cx="4572000" cy="1170432"/>
            <a:chOff x="4251960" y="3022939"/>
            <a:chExt cx="4572000" cy="1170432"/>
          </a:xfrm>
        </p:grpSpPr>
        <p:sp>
          <p:nvSpPr>
            <p:cNvPr id="18" name="Oval 17"/>
            <p:cNvSpPr/>
            <p:nvPr/>
          </p:nvSpPr>
          <p:spPr>
            <a:xfrm>
              <a:off x="4251960" y="3288115"/>
              <a:ext cx="384048" cy="384048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10B9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892040" y="3022939"/>
              <a:ext cx="2423160" cy="34747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10B9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l"/>
              <a:r>
                <a:rPr sz="1100" b="0">
                  <a:solidFill>
                    <a:srgbClr val="111827"/>
                  </a:solidFill>
                  <a:latin typeface="Calibri"/>
                </a:rPr>
                <a:t>Высокий 0,50 × 9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 flipV="1">
              <a:off x="4636008" y="3196675"/>
              <a:ext cx="256032" cy="283464"/>
            </a:xfrm>
            <a:prstGeom prst="line">
              <a:avLst/>
            </a:prstGeom>
            <a:ln w="19050">
              <a:solidFill>
                <a:srgbClr val="10B98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4892040" y="3434419"/>
              <a:ext cx="2423160" cy="34747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10B9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l"/>
              <a:r>
                <a:rPr sz="1100" b="0" dirty="0" err="1">
                  <a:solidFill>
                    <a:srgbClr val="111827"/>
                  </a:solidFill>
                  <a:latin typeface="Calibri"/>
                </a:rPr>
                <a:t>Средний</a:t>
              </a:r>
              <a:r>
                <a:rPr sz="1100" b="0" dirty="0">
                  <a:solidFill>
                    <a:srgbClr val="111827"/>
                  </a:solidFill>
                  <a:latin typeface="Calibri"/>
                </a:rPr>
                <a:t> 0,35 × 6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4636008" y="3480139"/>
              <a:ext cx="256032" cy="128016"/>
            </a:xfrm>
            <a:prstGeom prst="line">
              <a:avLst/>
            </a:prstGeom>
            <a:ln w="19050">
              <a:solidFill>
                <a:srgbClr val="10B98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ounded Rectangle 22"/>
            <p:cNvSpPr/>
            <p:nvPr/>
          </p:nvSpPr>
          <p:spPr>
            <a:xfrm>
              <a:off x="4892040" y="3845899"/>
              <a:ext cx="2423160" cy="34747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10B9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l"/>
              <a:r>
                <a:rPr sz="1100" b="0">
                  <a:solidFill>
                    <a:srgbClr val="111827"/>
                  </a:solidFill>
                  <a:latin typeface="Calibri"/>
                </a:rPr>
                <a:t>Низкий 0,15 × 2</a:t>
              </a:r>
            </a:p>
          </p:txBody>
        </p:sp>
        <p:cxnSp>
          <p:nvCxnSpPr>
            <p:cNvPr id="24" name="Connector 23"/>
            <p:cNvCxnSpPr/>
            <p:nvPr/>
          </p:nvCxnSpPr>
          <p:spPr>
            <a:xfrm>
              <a:off x="4636008" y="3480139"/>
              <a:ext cx="256032" cy="539496"/>
            </a:xfrm>
            <a:prstGeom prst="line">
              <a:avLst/>
            </a:prstGeom>
            <a:ln w="19050">
              <a:solidFill>
                <a:srgbClr val="10B98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ounded Rectangle 24"/>
            <p:cNvSpPr/>
            <p:nvPr/>
          </p:nvSpPr>
          <p:spPr>
            <a:xfrm>
              <a:off x="7589520" y="3242395"/>
              <a:ext cx="1234440" cy="438912"/>
            </a:xfrm>
            <a:prstGeom prst="roundRect">
              <a:avLst/>
            </a:prstGeom>
            <a:solidFill>
              <a:srgbClr val="D1FAE5"/>
            </a:solidFill>
            <a:ln>
              <a:solidFill>
                <a:srgbClr val="10B9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ctr"/>
              <a:r>
                <a:rPr sz="1400" b="1">
                  <a:solidFill>
                    <a:srgbClr val="111827"/>
                  </a:solidFill>
                  <a:latin typeface="Calibri"/>
                </a:rPr>
                <a:t>E = 6,9</a:t>
              </a:r>
            </a:p>
          </p:txBody>
        </p:sp>
      </p:grpSp>
      <p:sp>
        <p:nvSpPr>
          <p:cNvPr id="26" name="Rounded Rectangle 25"/>
          <p:cNvSpPr/>
          <p:nvPr/>
        </p:nvSpPr>
        <p:spPr>
          <a:xfrm>
            <a:off x="2284799" y="5125767"/>
            <a:ext cx="1874519" cy="86868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Calibri"/>
              </a:rPr>
              <a:t>A3
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Геймификация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+
peer support</a:t>
            </a:r>
          </a:p>
        </p:txBody>
      </p:sp>
      <p:cxnSp>
        <p:nvCxnSpPr>
          <p:cNvPr id="27" name="Connector 26"/>
          <p:cNvCxnSpPr>
            <a:cxnSpLocks/>
            <a:stCxn id="5" idx="3"/>
            <a:endCxn id="26" idx="1"/>
          </p:cNvCxnSpPr>
          <p:nvPr/>
        </p:nvCxnSpPr>
        <p:spPr>
          <a:xfrm>
            <a:off x="1828800" y="3771800"/>
            <a:ext cx="455999" cy="1788307"/>
          </a:xfrm>
          <a:prstGeom prst="line">
            <a:avLst/>
          </a:prstGeom>
          <a:ln w="254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99AC84DE-C632-4F51-A3A0-CE08B7F5B000}"/>
              </a:ext>
            </a:extLst>
          </p:cNvPr>
          <p:cNvGrpSpPr/>
          <p:nvPr/>
        </p:nvGrpSpPr>
        <p:grpSpPr>
          <a:xfrm>
            <a:off x="4251960" y="4971126"/>
            <a:ext cx="4572000" cy="1170432"/>
            <a:chOff x="4251960" y="4851739"/>
            <a:chExt cx="4572000" cy="1170432"/>
          </a:xfrm>
        </p:grpSpPr>
        <p:sp>
          <p:nvSpPr>
            <p:cNvPr id="28" name="Oval 27"/>
            <p:cNvSpPr/>
            <p:nvPr/>
          </p:nvSpPr>
          <p:spPr>
            <a:xfrm>
              <a:off x="4251960" y="5116915"/>
              <a:ext cx="384048" cy="384048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F59E0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4892040" y="4851739"/>
              <a:ext cx="2423160" cy="34747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59E0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l"/>
              <a:r>
                <a:rPr sz="1100" b="0">
                  <a:solidFill>
                    <a:srgbClr val="111827"/>
                  </a:solidFill>
                  <a:latin typeface="Calibri"/>
                </a:rPr>
                <a:t>Высокий 0,40 × 7</a:t>
              </a:r>
            </a:p>
          </p:txBody>
        </p:sp>
        <p:cxnSp>
          <p:nvCxnSpPr>
            <p:cNvPr id="30" name="Connector 29"/>
            <p:cNvCxnSpPr/>
            <p:nvPr/>
          </p:nvCxnSpPr>
          <p:spPr>
            <a:xfrm flipV="1">
              <a:off x="4636008" y="5025475"/>
              <a:ext cx="256032" cy="283464"/>
            </a:xfrm>
            <a:prstGeom prst="line">
              <a:avLst/>
            </a:prstGeom>
            <a:ln w="19050">
              <a:solidFill>
                <a:srgbClr val="F59E0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ounded Rectangle 30"/>
            <p:cNvSpPr/>
            <p:nvPr/>
          </p:nvSpPr>
          <p:spPr>
            <a:xfrm>
              <a:off x="4892040" y="5263219"/>
              <a:ext cx="2423160" cy="34747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59E0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l"/>
              <a:r>
                <a:rPr sz="1100" b="0">
                  <a:solidFill>
                    <a:srgbClr val="111827"/>
                  </a:solidFill>
                  <a:latin typeface="Calibri"/>
                </a:rPr>
                <a:t>Средний 0,40 × 5</a:t>
              </a:r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4636008" y="5308939"/>
              <a:ext cx="256032" cy="128016"/>
            </a:xfrm>
            <a:prstGeom prst="line">
              <a:avLst/>
            </a:prstGeom>
            <a:ln w="19050">
              <a:solidFill>
                <a:srgbClr val="F59E0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ounded Rectangle 32"/>
            <p:cNvSpPr/>
            <p:nvPr/>
          </p:nvSpPr>
          <p:spPr>
            <a:xfrm>
              <a:off x="4892040" y="5674699"/>
              <a:ext cx="2423160" cy="34747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59E0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l"/>
              <a:r>
                <a:rPr sz="1100" b="0">
                  <a:solidFill>
                    <a:srgbClr val="111827"/>
                  </a:solidFill>
                  <a:latin typeface="Calibri"/>
                </a:rPr>
                <a:t>Низкий 0,20 × 1</a:t>
              </a:r>
            </a:p>
          </p:txBody>
        </p:sp>
        <p:cxnSp>
          <p:nvCxnSpPr>
            <p:cNvPr id="34" name="Connector 33"/>
            <p:cNvCxnSpPr/>
            <p:nvPr/>
          </p:nvCxnSpPr>
          <p:spPr>
            <a:xfrm>
              <a:off x="4636008" y="5308939"/>
              <a:ext cx="256032" cy="539496"/>
            </a:xfrm>
            <a:prstGeom prst="line">
              <a:avLst/>
            </a:prstGeom>
            <a:ln w="19050">
              <a:solidFill>
                <a:srgbClr val="F59E0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ounded Rectangle 34"/>
            <p:cNvSpPr/>
            <p:nvPr/>
          </p:nvSpPr>
          <p:spPr>
            <a:xfrm>
              <a:off x="7589520" y="5071195"/>
              <a:ext cx="1234440" cy="43891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59E0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ctr"/>
              <a:r>
                <a:rPr sz="1400" b="1">
                  <a:solidFill>
                    <a:srgbClr val="111827"/>
                  </a:solidFill>
                  <a:latin typeface="Calibri"/>
                </a:rPr>
                <a:t>E = 5,0</a:t>
              </a:r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9342474" y="1503727"/>
            <a:ext cx="2565990" cy="2199593"/>
          </a:xfrm>
          <a:prstGeom prst="roundRect">
            <a:avLst/>
          </a:prstGeom>
          <a:solidFill>
            <a:srgbClr val="D1FAE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500" b="0" dirty="0" err="1">
                <a:solidFill>
                  <a:srgbClr val="111827"/>
                </a:solidFill>
                <a:latin typeface="Calibri"/>
              </a:rPr>
              <a:t>Выбор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команды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
A2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дает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наибольший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ожидаемый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эффект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.
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Решение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сочетает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высокий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потенциал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влияния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и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приемлемые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затраты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на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внедрение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4983480"/>
            <a:ext cx="2514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300" b="0" dirty="0" err="1">
                <a:solidFill>
                  <a:srgbClr val="111827"/>
                </a:solidFill>
                <a:latin typeface="Calibri"/>
              </a:rPr>
              <a:t>Примечание</a:t>
            </a:r>
            <a:r>
              <a:rPr sz="1300" b="0" dirty="0">
                <a:solidFill>
                  <a:srgbClr val="111827"/>
                </a:solidFill>
                <a:latin typeface="Calibri"/>
              </a:rPr>
              <a:t>
E — </a:t>
            </a:r>
            <a:r>
              <a:rPr sz="1300" b="0" dirty="0" err="1">
                <a:solidFill>
                  <a:srgbClr val="111827"/>
                </a:solidFill>
                <a:latin typeface="Calibri"/>
              </a:rPr>
              <a:t>ожидаемое</a:t>
            </a:r>
            <a:r>
              <a:rPr sz="13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11827"/>
                </a:solidFill>
                <a:latin typeface="Calibri"/>
              </a:rPr>
              <a:t>значение</a:t>
            </a:r>
            <a:r>
              <a:rPr sz="13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11827"/>
                </a:solidFill>
                <a:latin typeface="Calibri"/>
              </a:rPr>
              <a:t>эффекта</a:t>
            </a:r>
            <a:r>
              <a:rPr sz="13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11827"/>
                </a:solidFill>
                <a:latin typeface="Calibri"/>
              </a:rPr>
              <a:t>альтернативы</a:t>
            </a:r>
            <a:r>
              <a:rPr sz="13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78440" y="6455664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Слайд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419088"/>
            <a:ext cx="423224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900" dirty="0">
                <a:solidFill>
                  <a:srgbClr val="6B7280"/>
                </a:solidFill>
                <a:latin typeface="Calibri"/>
              </a:rPr>
              <a:t>Оценка проведена по ожидаемому эффекту (0-10) с учетом вероятностей исходов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 err="1">
                <a:solidFill>
                  <a:srgbClr val="111827"/>
                </a:solidFill>
                <a:latin typeface="Calibri"/>
              </a:rPr>
              <a:t>Рекомендуемое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решение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по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заданию</a:t>
            </a:r>
            <a:r>
              <a:rPr sz="2400" b="1" dirty="0">
                <a:solidFill>
                  <a:srgbClr val="111827"/>
                </a:solidFill>
                <a:latin typeface="Calibri"/>
              </a:rPr>
              <a:t> 1</a:t>
            </a:r>
          </a:p>
          <a:p>
            <a:r>
              <a:rPr sz="1100" dirty="0" err="1">
                <a:solidFill>
                  <a:srgbClr val="6B7280"/>
                </a:solidFill>
                <a:latin typeface="Calibri"/>
              </a:rPr>
              <a:t>Выбранная</a:t>
            </a:r>
            <a:r>
              <a:rPr sz="1100" dirty="0">
                <a:solidFill>
                  <a:srgbClr val="6B7280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Calibri"/>
              </a:rPr>
              <a:t>альтернатива</a:t>
            </a:r>
            <a:r>
              <a:rPr sz="1100" dirty="0">
                <a:solidFill>
                  <a:srgbClr val="6B7280"/>
                </a:solidFill>
                <a:latin typeface="Calibri"/>
              </a:rPr>
              <a:t>: </a:t>
            </a:r>
            <a:r>
              <a:rPr sz="1100" dirty="0" err="1">
                <a:solidFill>
                  <a:srgbClr val="6B7280"/>
                </a:solidFill>
                <a:latin typeface="Calibri"/>
              </a:rPr>
              <a:t>адаптивная</a:t>
            </a:r>
            <a:r>
              <a:rPr sz="1100" dirty="0">
                <a:solidFill>
                  <a:srgbClr val="6B7280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Calibri"/>
              </a:rPr>
              <a:t>цифровая</a:t>
            </a:r>
            <a:r>
              <a:rPr sz="1100" dirty="0">
                <a:solidFill>
                  <a:srgbClr val="6B7280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Calibri"/>
              </a:rPr>
              <a:t>траектория</a:t>
            </a:r>
            <a:r>
              <a:rPr sz="1100" dirty="0">
                <a:solidFill>
                  <a:srgbClr val="6B7280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Calibri"/>
              </a:rPr>
              <a:t>обучения</a:t>
            </a:r>
            <a:endParaRPr sz="110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500" b="0" dirty="0" err="1">
                <a:solidFill>
                  <a:srgbClr val="111827"/>
                </a:solidFill>
                <a:latin typeface="Calibri"/>
              </a:rPr>
              <a:t>Этап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1.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Диагностика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
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Определяем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группы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риска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точки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провала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темы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с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наибольшими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затруднениями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500" b="0" dirty="0" err="1">
                <a:solidFill>
                  <a:srgbClr val="111827"/>
                </a:solidFill>
                <a:latin typeface="Calibri"/>
              </a:rPr>
              <a:t>Этап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2.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Перестройка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контента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
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Делим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материал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на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микромодули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10–15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минут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добавляем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чек-пойнты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и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быстрые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тесты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23444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500" b="0">
                <a:solidFill>
                  <a:srgbClr val="111827"/>
                </a:solidFill>
                <a:latin typeface="Calibri"/>
              </a:rPr>
              <a:t>Этап 3. Поддержка и контроль
Запускаем дашборд прогресса, сигналы отставания и короткую обратную связь.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088792"/>
              </p:ext>
            </p:extLst>
          </p:nvPr>
        </p:nvGraphicFramePr>
        <p:xfrm>
          <a:off x="457200" y="3154679"/>
          <a:ext cx="5943600" cy="27946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197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Показатель</a:t>
                      </a:r>
                      <a:endParaRPr sz="16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Текущее состояние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Целевой ориентир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197">
                <a:tc>
                  <a:txBody>
                    <a:bodyPr/>
                    <a:lstStyle/>
                    <a:p>
                      <a:pPr algn="l"/>
                      <a:r>
                        <a:rPr sz="1600" dirty="0" err="1">
                          <a:solidFill>
                            <a:srgbClr val="111827"/>
                          </a:solidFill>
                          <a:latin typeface="Calibri"/>
                        </a:rPr>
                        <a:t>Вовлеченность</a:t>
                      </a:r>
                      <a:endParaRPr sz="1600" dirty="0">
                        <a:solidFill>
                          <a:srgbClr val="111827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11827"/>
                          </a:solidFill>
                          <a:latin typeface="Calibri"/>
                        </a:rPr>
                        <a:t>неравномерная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11827"/>
                          </a:solidFill>
                          <a:latin typeface="Calibri"/>
                        </a:rPr>
                        <a:t>рост активности на занятиях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197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11827"/>
                          </a:solidFill>
                          <a:latin typeface="Calibri"/>
                        </a:rPr>
                        <a:t>Академические долги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11827"/>
                          </a:solidFill>
                          <a:latin typeface="Calibri"/>
                        </a:rPr>
                        <a:t>выше желаемого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11827"/>
                          </a:solidFill>
                          <a:latin typeface="Calibri"/>
                        </a:rPr>
                        <a:t>снижение доли задолженностей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197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11827"/>
                          </a:solidFill>
                          <a:latin typeface="Calibri"/>
                        </a:rPr>
                        <a:t>Скорость обратной связи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11827"/>
                          </a:solidFill>
                          <a:latin typeface="Calibri"/>
                        </a:rPr>
                        <a:t>запоздалая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11827"/>
                          </a:solidFill>
                          <a:latin typeface="Calibri"/>
                        </a:rPr>
                        <a:t>до 1 учебной недели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197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11827"/>
                          </a:solidFill>
                          <a:latin typeface="Calibri"/>
                        </a:rPr>
                        <a:t>Прозрачность прогресса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11827"/>
                          </a:solidFill>
                          <a:latin typeface="Calibri"/>
                        </a:rPr>
                        <a:t>низкая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 err="1">
                          <a:solidFill>
                            <a:srgbClr val="111827"/>
                          </a:solidFill>
                          <a:latin typeface="Calibri"/>
                        </a:rPr>
                        <a:t>дашборд</a:t>
                      </a:r>
                      <a:r>
                        <a:rPr sz="1600" dirty="0">
                          <a:solidFill>
                            <a:srgbClr val="111827"/>
                          </a:solidFill>
                          <a:latin typeface="Calibri"/>
                        </a:rPr>
                        <a:t> </a:t>
                      </a:r>
                      <a:r>
                        <a:rPr sz="1600" dirty="0" err="1">
                          <a:solidFill>
                            <a:srgbClr val="111827"/>
                          </a:solidFill>
                          <a:latin typeface="Calibri"/>
                        </a:rPr>
                        <a:t>для</a:t>
                      </a:r>
                      <a:r>
                        <a:rPr sz="1600" dirty="0">
                          <a:solidFill>
                            <a:srgbClr val="111827"/>
                          </a:solidFill>
                          <a:latin typeface="Calibri"/>
                        </a:rPr>
                        <a:t> </a:t>
                      </a:r>
                      <a:r>
                        <a:rPr sz="1600" dirty="0" err="1">
                          <a:solidFill>
                            <a:srgbClr val="111827"/>
                          </a:solidFill>
                          <a:latin typeface="Calibri"/>
                        </a:rPr>
                        <a:t>студента</a:t>
                      </a:r>
                      <a:r>
                        <a:rPr sz="1600" dirty="0">
                          <a:solidFill>
                            <a:srgbClr val="111827"/>
                          </a:solidFill>
                          <a:latin typeface="Calibri"/>
                        </a:rPr>
                        <a:t> и </a:t>
                      </a:r>
                      <a:r>
                        <a:rPr sz="1600" dirty="0" err="1">
                          <a:solidFill>
                            <a:srgbClr val="111827"/>
                          </a:solidFill>
                          <a:latin typeface="Calibri"/>
                        </a:rPr>
                        <a:t>куратора</a:t>
                      </a:r>
                      <a:endParaRPr sz="1600" dirty="0">
                        <a:solidFill>
                          <a:srgbClr val="111827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720840" y="3154680"/>
            <a:ext cx="4892040" cy="2390984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400" b="0" dirty="0" err="1">
                <a:solidFill>
                  <a:srgbClr val="111827"/>
                </a:solidFill>
                <a:latin typeface="Calibri"/>
              </a:rPr>
              <a:t>Риски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и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меры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снижения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
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•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Перегрузка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преподавателя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→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шаблоны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микромодулей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и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единый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формат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обратной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связи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.
•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Низкая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дисциплина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студентов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→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напоминания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и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визуализация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прогресса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.
•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Сопротивление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изменениям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→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пилот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на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1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модуле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и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сбор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обратной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связи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455664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Слайд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Calibri"/>
              </a:rPr>
              <a:t>Задание 2. Метод фокальных объектов</a:t>
            </a:r>
          </a:p>
          <a:p>
            <a:r>
              <a:rPr sz="1100">
                <a:solidFill>
                  <a:srgbClr val="6B7280"/>
                </a:solidFill>
                <a:latin typeface="Calibri"/>
              </a:rPr>
              <a:t>Совершенствуемый объект: робот-пылесос для малогабаритных квартир и общежитий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8000" y="3014980"/>
            <a:ext cx="2926080" cy="100584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Фокальный объект
Робот-пылесос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Смарт-часы
компактные
отслеживающие
уведомляющие</a:t>
            </a:r>
          </a:p>
        </p:txBody>
      </p:sp>
      <p:cxnSp>
        <p:nvCxnSpPr>
          <p:cNvPr id="7" name="Connector 6"/>
          <p:cNvCxnSpPr>
            <a:cxnSpLocks/>
            <a:stCxn id="6" idx="3"/>
            <a:endCxn id="5" idx="1"/>
          </p:cNvCxnSpPr>
          <p:nvPr/>
        </p:nvCxnSpPr>
        <p:spPr>
          <a:xfrm>
            <a:off x="2697480" y="2080260"/>
            <a:ext cx="1620520" cy="143764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6353" y="3520440"/>
            <a:ext cx="2470573" cy="1726184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ctr"/>
            <a:r>
              <a:rPr sz="1500" b="0" dirty="0" err="1">
                <a:solidFill>
                  <a:srgbClr val="111827"/>
                </a:solidFill>
                <a:latin typeface="Calibri"/>
              </a:rPr>
              <a:t>Швейцарский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нож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
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модульный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
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многофункциональный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
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складной</a:t>
            </a:r>
            <a:endParaRPr sz="1500" b="0" dirty="0">
              <a:solidFill>
                <a:srgbClr val="111827"/>
              </a:solidFill>
              <a:latin typeface="Calibri"/>
            </a:endParaRPr>
          </a:p>
        </p:txBody>
      </p:sp>
      <p:cxnSp>
        <p:nvCxnSpPr>
          <p:cNvPr id="9" name="Connector 8"/>
          <p:cNvCxnSpPr>
            <a:cxnSpLocks/>
            <a:stCxn id="8" idx="3"/>
            <a:endCxn id="5" idx="1"/>
          </p:cNvCxnSpPr>
          <p:nvPr/>
        </p:nvCxnSpPr>
        <p:spPr>
          <a:xfrm flipV="1">
            <a:off x="2926926" y="3517900"/>
            <a:ext cx="1391074" cy="865632"/>
          </a:xfrm>
          <a:prstGeom prst="line">
            <a:avLst/>
          </a:prstGeom>
          <a:ln w="2286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972973" y="2788920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Аромадиффузор
тихий
ароматизирующий
домашний</a:t>
            </a:r>
          </a:p>
        </p:txBody>
      </p:sp>
      <p:cxnSp>
        <p:nvCxnSpPr>
          <p:cNvPr id="11" name="Connector 10"/>
          <p:cNvCxnSpPr>
            <a:cxnSpLocks/>
            <a:stCxn id="10" idx="1"/>
            <a:endCxn id="5" idx="3"/>
          </p:cNvCxnSpPr>
          <p:nvPr/>
        </p:nvCxnSpPr>
        <p:spPr>
          <a:xfrm flipH="1">
            <a:off x="7244080" y="3497580"/>
            <a:ext cx="1728893" cy="20320"/>
          </a:xfrm>
          <a:prstGeom prst="line">
            <a:avLst/>
          </a:prstGeom>
          <a:ln w="2286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07080" y="4638040"/>
            <a:ext cx="7767320" cy="1051560"/>
          </a:xfrm>
          <a:prstGeom prst="roundRect">
            <a:avLst/>
          </a:prstGeom>
          <a:solidFill>
            <a:srgbClr val="CCFBF1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600" b="0" dirty="0" err="1">
                <a:solidFill>
                  <a:srgbClr val="111827"/>
                </a:solidFill>
                <a:latin typeface="Calibri"/>
              </a:rPr>
              <a:t>Полученные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сочетания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признаков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
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Модульная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конструкция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+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тихий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режим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+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уведомления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в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приложении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+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ароматизация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помещения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+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самодиагностика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расходников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6455664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Слайд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Calibri"/>
              </a:rPr>
              <a:t>Морфологическая комбинационная таблица</a:t>
            </a:r>
          </a:p>
          <a:p>
            <a:r>
              <a:rPr sz="1100">
                <a:solidFill>
                  <a:srgbClr val="6B7280"/>
                </a:solidFill>
                <a:latin typeface="Calibri"/>
              </a:rPr>
              <a:t>Выделены характеристики и варианты решений для выбора лучшей конфигурации продукта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619196"/>
              </p:ext>
            </p:extLst>
          </p:nvPr>
        </p:nvGraphicFramePr>
        <p:xfrm>
          <a:off x="457200" y="1143000"/>
          <a:ext cx="1115568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0485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Характеристика</a:t>
                      </a:r>
                      <a:endParaRPr sz="16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Вариант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Вариант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Вариант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Навигация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LiDAR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Камера + AI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Маяки помещения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Модуль уборки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Сухая уборка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Влажная уборка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UV + влажная уборка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База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Обычная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Автоочистка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Автоочистка + долив воды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Питание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Стандартная батарея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Быстрая зарядка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Сменный аккумулятор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Управление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Кнопки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Приложение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Голос + сценарии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49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11827"/>
                          </a:solidFill>
                          <a:latin typeface="Calibri"/>
                        </a:rPr>
                        <a:t>Корпус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Круглый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D-образный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Низкопрофильный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модульный</a:t>
                      </a:r>
                      <a:endParaRPr sz="1600" b="0" dirty="0">
                        <a:solidFill>
                          <a:srgbClr val="111827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" y="5669280"/>
            <a:ext cx="10561320" cy="594360"/>
          </a:xfrm>
          <a:prstGeom prst="roundRect">
            <a:avLst/>
          </a:prstGeom>
          <a:solidFill>
            <a:srgbClr val="D1FAE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400" b="0">
                <a:solidFill>
                  <a:srgbClr val="111827"/>
                </a:solidFill>
                <a:latin typeface="Calibri"/>
              </a:rPr>
              <a:t>Выбранная конфигурация: камера + AI; UV/влажная уборка; база с автоочисткой и доливом воды; быстрая зарядка; голосовые сценарии; низкопрофильный модульный корпус.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455664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Слайд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Calibri"/>
              </a:rPr>
              <a:t>Итоговая бизнес-идея по заданию 2</a:t>
            </a:r>
          </a:p>
          <a:p>
            <a:r>
              <a:rPr sz="1100">
                <a:solidFill>
                  <a:srgbClr val="6B7280"/>
                </a:solidFill>
                <a:latin typeface="Calibri"/>
              </a:rPr>
              <a:t>Продуктовая концепция сформирована на основе сочетания наиболее интересных признаков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3657600" cy="960120"/>
          </a:xfrm>
          <a:prstGeom prst="roundRect">
            <a:avLst/>
          </a:prstGeom>
          <a:solidFill>
            <a:srgbClr val="D1FAE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2200" b="1">
                <a:solidFill>
                  <a:srgbClr val="111827"/>
                </a:solidFill>
                <a:latin typeface="Calibri"/>
              </a:rPr>
              <a:t>RoboClean Flex
робот-пылесос для небольших квартир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377440"/>
            <a:ext cx="3611880" cy="114300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Ценность для клиента
Тихая уборка, работа в труднодоступных зонах, минимум ручного обслуживания.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377440"/>
            <a:ext cx="3611880" cy="114300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Целевая аудитория
Студенты, молодые специалисты, владельцы небольших квартир и студий.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794760"/>
            <a:ext cx="3611880" cy="1285240"/>
          </a:xfrm>
          <a:prstGeom prst="roundRect">
            <a:avLst/>
          </a:prstGeom>
          <a:solidFill>
            <a:srgbClr val="EDE9FE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400" b="0" dirty="0">
                <a:solidFill>
                  <a:srgbClr val="111827"/>
                </a:solidFill>
                <a:latin typeface="Calibri"/>
              </a:rPr>
              <a:t>УТП
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Модульный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корпус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+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сценарии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уборки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+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уведомления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+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опциональная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ароматизация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794760"/>
            <a:ext cx="3611880" cy="1285240"/>
          </a:xfrm>
          <a:prstGeom prst="roundRect">
            <a:avLst/>
          </a:prstGeom>
          <a:solidFill>
            <a:srgbClr val="CCFBF1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400" b="0" dirty="0" err="1">
                <a:solidFill>
                  <a:srgbClr val="111827"/>
                </a:solidFill>
                <a:latin typeface="Calibri"/>
              </a:rPr>
              <a:t>Монетизация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
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Продажа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устройства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расходники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расширенная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гарантия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сервисные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подписки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280160"/>
            <a:ext cx="29260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500" b="0">
                <a:solidFill>
                  <a:srgbClr val="111827"/>
                </a:solidFill>
                <a:latin typeface="Calibri"/>
              </a:rPr>
              <a:t>Почему идея перспективна
• закрывает боль маленьких помещений
• ориентирована на понятный сегмент
• масштабируется через линейку модулей
• сочетает функциональность и сервис
Решение может быть представлено как оригинальная бизнес-идея в рамках задания.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455664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Слайд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Calibri"/>
              </a:rPr>
              <a:t>Задание 3. Подготовка мозгового штурма</a:t>
            </a:r>
          </a:p>
          <a:p>
            <a:r>
              <a:rPr sz="1100">
                <a:solidFill>
                  <a:srgbClr val="6B7280"/>
                </a:solidFill>
                <a:latin typeface="Calibri"/>
              </a:rPr>
              <a:t>Тема: как улучшить контент дисциплины «Методы принятия управленческих решений»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4754880" cy="1188720"/>
          </a:xfrm>
          <a:prstGeom prst="round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800" b="0">
                <a:solidFill>
                  <a:srgbClr val="111827"/>
                </a:solidFill>
                <a:latin typeface="Calibri"/>
              </a:rPr>
              <a:t>Формулировка проблемы
Контент дисциплины недостаточно интерактивен и прикладен для устойчивого вовлечения студентов.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4754880" cy="1005840"/>
          </a:xfrm>
          <a:prstGeom prst="roundRect">
            <a:avLst/>
          </a:prstGeom>
          <a:solidFill>
            <a:srgbClr val="D1FAE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800" b="0">
                <a:solidFill>
                  <a:srgbClr val="111827"/>
                </a:solidFill>
                <a:latin typeface="Calibri"/>
              </a:rPr>
              <a:t>Цель
Сделать курс понятнее, практичнее и удобнее для самостоятельного освоения.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886200"/>
            <a:ext cx="1417320" cy="329184"/>
          </a:xfrm>
          <a:prstGeom prst="round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У1 — ГПР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67128" y="3886200"/>
            <a:ext cx="1417320" cy="32918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У2 — Куратор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39896" y="3886200"/>
            <a:ext cx="1417320" cy="329184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У3 — Методолог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343400"/>
            <a:ext cx="1417320" cy="329184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Calibri"/>
              </a:rPr>
              <a:t>У4 — </a:t>
            </a:r>
            <a:r>
              <a:rPr lang="ru-RU" sz="1000" b="1" dirty="0">
                <a:solidFill>
                  <a:srgbClr val="FFFFFF"/>
                </a:solidFill>
                <a:latin typeface="Calibri"/>
              </a:rPr>
              <a:t>Аналитик</a:t>
            </a:r>
            <a:endParaRPr sz="1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167128" y="4343400"/>
            <a:ext cx="1417320" cy="329184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Calibri"/>
              </a:rPr>
              <a:t>У5 — </a:t>
            </a:r>
            <a:r>
              <a:rPr sz="1000" b="1" dirty="0" err="1">
                <a:solidFill>
                  <a:srgbClr val="FFFFFF"/>
                </a:solidFill>
                <a:latin typeface="Calibri"/>
              </a:rPr>
              <a:t>Аналитик</a:t>
            </a:r>
            <a:endParaRPr sz="1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39896" y="4343400"/>
            <a:ext cx="1417320" cy="329184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У6 — Секретарь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1097280"/>
            <a:ext cx="58064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600" b="0">
                <a:solidFill>
                  <a:srgbClr val="111827"/>
                </a:solidFill>
                <a:latin typeface="Calibri"/>
              </a:rPr>
              <a:t>Структура мозгового штурма
Раунд 1. Генерация без критики
— собираем максимум идей по изменению курса.
Раунд 2. Комбинирование и уточнение
— объединяем близкие предложения, усиливаем лучшие.
Раунд 3. Отбор и подготовка shortlist
— оставляем идеи с наибольшей полезностью и реализуемостью.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6455664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Слайд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390448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Calibri"/>
              </a:rPr>
              <a:t>Фиксация идей по раундам</a:t>
            </a:r>
          </a:p>
          <a:p>
            <a:r>
              <a:rPr sz="1100">
                <a:solidFill>
                  <a:srgbClr val="6B7280"/>
                </a:solidFill>
                <a:latin typeface="Calibri"/>
              </a:rPr>
              <a:t>Для наглядности идеи сгруппированы по этапам штурма</a:t>
            </a:r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AC4CD5B7-715C-4E4B-AE49-04215CD9F644}"/>
              </a:ext>
            </a:extLst>
          </p:cNvPr>
          <p:cNvGrpSpPr/>
          <p:nvPr/>
        </p:nvGrpSpPr>
        <p:grpSpPr>
          <a:xfrm>
            <a:off x="594360" y="1143000"/>
            <a:ext cx="2971800" cy="5120640"/>
            <a:chOff x="594360" y="914400"/>
            <a:chExt cx="2971800" cy="5349240"/>
          </a:xfrm>
        </p:grpSpPr>
        <p:sp>
          <p:nvSpPr>
            <p:cNvPr id="5" name="Rounded Rectangle 4"/>
            <p:cNvSpPr/>
            <p:nvPr/>
          </p:nvSpPr>
          <p:spPr>
            <a:xfrm>
              <a:off x="594360" y="1143000"/>
              <a:ext cx="2971800" cy="51206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04088" y="914400"/>
              <a:ext cx="1554480" cy="292608"/>
            </a:xfrm>
            <a:prstGeom prst="roundRect">
              <a:avLst/>
            </a:prstGeom>
            <a:solidFill>
              <a:srgbClr val="8B5C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Calibri"/>
                </a:rPr>
                <a:t>Раунд 1. Сбор идей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22960" y="1554480"/>
              <a:ext cx="1143000" cy="731520"/>
            </a:xfrm>
            <a:prstGeom prst="roundRect">
              <a:avLst/>
            </a:prstGeom>
            <a:solidFill>
              <a:srgbClr val="DBEAFE"/>
            </a:solidFill>
            <a:ln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ctr"/>
              <a:r>
                <a:rPr sz="1300" b="0">
                  <a:solidFill>
                    <a:srgbClr val="111827"/>
                  </a:solidFill>
                  <a:latin typeface="Calibri"/>
                </a:rPr>
                <a:t>Микровидео
по темам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194560" y="1600201"/>
              <a:ext cx="1143000" cy="731520"/>
            </a:xfrm>
            <a:prstGeom prst="roundRect">
              <a:avLst/>
            </a:prstGeom>
            <a:solidFill>
              <a:srgbClr val="FEF3C7"/>
            </a:solidFill>
            <a:ln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ctr"/>
              <a:r>
                <a:rPr sz="1300" b="0" dirty="0" err="1">
                  <a:solidFill>
                    <a:srgbClr val="111827"/>
                  </a:solidFill>
                  <a:latin typeface="Calibri"/>
                </a:rPr>
                <a:t>Банк</a:t>
              </a:r>
              <a:r>
                <a:rPr sz="1300" b="0" dirty="0">
                  <a:solidFill>
                    <a:srgbClr val="111827"/>
                  </a:solidFill>
                  <a:latin typeface="Calibri"/>
                </a:rPr>
                <a:t> </a:t>
              </a:r>
              <a:r>
                <a:rPr sz="1300" b="0" dirty="0" err="1">
                  <a:solidFill>
                    <a:srgbClr val="111827"/>
                  </a:solidFill>
                  <a:latin typeface="Calibri"/>
                </a:rPr>
                <a:t>кейсов</a:t>
              </a:r>
              <a:r>
                <a:rPr sz="1300" b="0" dirty="0">
                  <a:solidFill>
                    <a:srgbClr val="111827"/>
                  </a:solidFill>
                  <a:latin typeface="Calibri"/>
                </a:rPr>
                <a:t>
</a:t>
              </a:r>
              <a:r>
                <a:rPr sz="1300" b="0" dirty="0" err="1">
                  <a:solidFill>
                    <a:srgbClr val="111827"/>
                  </a:solidFill>
                  <a:latin typeface="Calibri"/>
                </a:rPr>
                <a:t>реальных</a:t>
              </a:r>
              <a:r>
                <a:rPr sz="1300" b="0" dirty="0">
                  <a:solidFill>
                    <a:srgbClr val="111827"/>
                  </a:solidFill>
                  <a:latin typeface="Calibri"/>
                </a:rPr>
                <a:t> </a:t>
              </a:r>
              <a:r>
                <a:rPr sz="1300" b="0" dirty="0" err="1">
                  <a:solidFill>
                    <a:srgbClr val="111827"/>
                  </a:solidFill>
                  <a:latin typeface="Calibri"/>
                </a:rPr>
                <a:t>компаний</a:t>
              </a:r>
              <a:endParaRPr sz="1300" b="0" dirty="0">
                <a:solidFill>
                  <a:srgbClr val="111827"/>
                </a:solidFill>
                <a:latin typeface="Calibri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28040" y="2774359"/>
              <a:ext cx="1143000" cy="731520"/>
            </a:xfrm>
            <a:prstGeom prst="roundRect">
              <a:avLst/>
            </a:prstGeom>
            <a:solidFill>
              <a:srgbClr val="FEF9C3"/>
            </a:solidFill>
            <a:ln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ctr"/>
              <a:r>
                <a:rPr sz="1300" b="0" dirty="0" err="1">
                  <a:solidFill>
                    <a:srgbClr val="111827"/>
                  </a:solidFill>
                  <a:latin typeface="Calibri"/>
                </a:rPr>
                <a:t>Симулятор</a:t>
              </a:r>
              <a:r>
                <a:rPr sz="1300" b="0" dirty="0">
                  <a:solidFill>
                    <a:srgbClr val="111827"/>
                  </a:solidFill>
                  <a:latin typeface="Calibri"/>
                </a:rPr>
                <a:t>
</a:t>
              </a:r>
              <a:r>
                <a:rPr sz="1300" b="0" dirty="0" err="1">
                  <a:solidFill>
                    <a:srgbClr val="111827"/>
                  </a:solidFill>
                  <a:latin typeface="Calibri"/>
                </a:rPr>
                <a:t>дерева</a:t>
              </a:r>
              <a:r>
                <a:rPr sz="1300" b="0" dirty="0">
                  <a:solidFill>
                    <a:srgbClr val="111827"/>
                  </a:solidFill>
                  <a:latin typeface="Calibri"/>
                </a:rPr>
                <a:t> </a:t>
              </a:r>
              <a:r>
                <a:rPr sz="1300" b="0" dirty="0" err="1">
                  <a:solidFill>
                    <a:srgbClr val="111827"/>
                  </a:solidFill>
                  <a:latin typeface="Calibri"/>
                </a:rPr>
                <a:t>решений</a:t>
              </a:r>
              <a:endParaRPr sz="1300" b="0" dirty="0">
                <a:solidFill>
                  <a:srgbClr val="111827"/>
                </a:solidFill>
                <a:latin typeface="Calibri"/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2217420" y="2788920"/>
              <a:ext cx="1143000" cy="731520"/>
            </a:xfrm>
            <a:prstGeom prst="roundRect">
              <a:avLst/>
            </a:prstGeom>
            <a:solidFill>
              <a:srgbClr val="FBCFE8"/>
            </a:solidFill>
            <a:ln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ctr"/>
              <a:r>
                <a:rPr sz="1300" b="0" dirty="0" err="1">
                  <a:solidFill>
                    <a:srgbClr val="111827"/>
                  </a:solidFill>
                  <a:latin typeface="Calibri"/>
                </a:rPr>
                <a:t>Чат-бот</a:t>
              </a:r>
              <a:r>
                <a:rPr sz="1300" b="0" dirty="0">
                  <a:solidFill>
                    <a:srgbClr val="111827"/>
                  </a:solidFill>
                  <a:latin typeface="Calibri"/>
                </a:rPr>
                <a:t>
</a:t>
              </a:r>
              <a:r>
                <a:rPr sz="1300" b="0" dirty="0" err="1">
                  <a:solidFill>
                    <a:srgbClr val="111827"/>
                  </a:solidFill>
                  <a:latin typeface="Calibri"/>
                </a:rPr>
                <a:t>по</a:t>
              </a:r>
              <a:r>
                <a:rPr sz="1300" b="0" dirty="0">
                  <a:solidFill>
                    <a:srgbClr val="111827"/>
                  </a:solidFill>
                  <a:latin typeface="Calibri"/>
                </a:rPr>
                <a:t> </a:t>
              </a:r>
              <a:r>
                <a:rPr sz="1300" b="0" dirty="0" err="1">
                  <a:solidFill>
                    <a:srgbClr val="111827"/>
                  </a:solidFill>
                  <a:latin typeface="Calibri"/>
                </a:rPr>
                <a:t>вопросам</a:t>
              </a:r>
              <a:r>
                <a:rPr sz="1300" b="0" dirty="0">
                  <a:solidFill>
                    <a:srgbClr val="111827"/>
                  </a:solidFill>
                  <a:latin typeface="Calibri"/>
                </a:rPr>
                <a:t> </a:t>
              </a:r>
              <a:r>
                <a:rPr sz="1300" b="0" dirty="0" err="1">
                  <a:solidFill>
                    <a:srgbClr val="111827"/>
                  </a:solidFill>
                  <a:latin typeface="Calibri"/>
                </a:rPr>
                <a:t>курса</a:t>
              </a:r>
              <a:endParaRPr sz="1300" b="0" dirty="0">
                <a:solidFill>
                  <a:srgbClr val="111827"/>
                </a:solidFill>
                <a:latin typeface="Calibri"/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828040" y="3994239"/>
              <a:ext cx="1143000" cy="731520"/>
            </a:xfrm>
            <a:prstGeom prst="roundRect">
              <a:avLst/>
            </a:prstGeom>
            <a:solidFill>
              <a:srgbClr val="DCFCE7"/>
            </a:solidFill>
            <a:ln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ctr"/>
              <a:r>
                <a:rPr sz="1300" b="0" dirty="0" err="1">
                  <a:solidFill>
                    <a:srgbClr val="111827"/>
                  </a:solidFill>
                  <a:latin typeface="Calibri"/>
                </a:rPr>
                <a:t>Прозрачные</a:t>
              </a:r>
              <a:r>
                <a:rPr sz="1300" b="0" dirty="0">
                  <a:solidFill>
                    <a:srgbClr val="111827"/>
                  </a:solidFill>
                  <a:latin typeface="Calibri"/>
                </a:rPr>
                <a:t>
</a:t>
              </a:r>
              <a:r>
                <a:rPr sz="1300" b="0" dirty="0" err="1">
                  <a:solidFill>
                    <a:srgbClr val="111827"/>
                  </a:solidFill>
                  <a:latin typeface="Calibri"/>
                </a:rPr>
                <a:t>рубрикаторы</a:t>
              </a:r>
              <a:endParaRPr sz="1300" b="0" dirty="0">
                <a:solidFill>
                  <a:srgbClr val="111827"/>
                </a:solidFill>
                <a:latin typeface="Calibri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180167" y="3977639"/>
              <a:ext cx="1143000" cy="731520"/>
            </a:xfrm>
            <a:prstGeom prst="roundRect">
              <a:avLst/>
            </a:prstGeom>
            <a:solidFill>
              <a:srgbClr val="FEF9C3"/>
            </a:solidFill>
            <a:ln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ctr"/>
              <a:r>
                <a:rPr sz="1300" b="0" dirty="0">
                  <a:solidFill>
                    <a:srgbClr val="111827"/>
                  </a:solidFill>
                  <a:latin typeface="Calibri"/>
                </a:rPr>
                <a:t>Peer-review
</a:t>
              </a:r>
              <a:r>
                <a:rPr sz="1300" b="0" dirty="0" err="1">
                  <a:solidFill>
                    <a:srgbClr val="111827"/>
                  </a:solidFill>
                  <a:latin typeface="Calibri"/>
                </a:rPr>
                <a:t>мини-проектов</a:t>
              </a:r>
              <a:endParaRPr sz="1300" b="0" dirty="0">
                <a:solidFill>
                  <a:srgbClr val="111827"/>
                </a:solidFill>
                <a:latin typeface="Calibri"/>
              </a:endParaRPr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9E2516CA-3EEE-4341-92EB-7084AC7514AF}"/>
              </a:ext>
            </a:extLst>
          </p:cNvPr>
          <p:cNvGrpSpPr/>
          <p:nvPr/>
        </p:nvGrpSpPr>
        <p:grpSpPr>
          <a:xfrm>
            <a:off x="4160520" y="1161294"/>
            <a:ext cx="2971800" cy="5102346"/>
            <a:chOff x="4160520" y="914400"/>
            <a:chExt cx="2971800" cy="5349240"/>
          </a:xfrm>
        </p:grpSpPr>
        <p:sp>
          <p:nvSpPr>
            <p:cNvPr id="7" name="Rounded Rectangle 6"/>
            <p:cNvSpPr/>
            <p:nvPr/>
          </p:nvSpPr>
          <p:spPr>
            <a:xfrm>
              <a:off x="4160520" y="1143000"/>
              <a:ext cx="2971800" cy="51206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270248" y="914400"/>
              <a:ext cx="1554480" cy="292608"/>
            </a:xfrm>
            <a:prstGeom prst="roundRect">
              <a:avLst/>
            </a:prstGeom>
            <a:solidFill>
              <a:srgbClr val="8B5C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Calibri"/>
                </a:rPr>
                <a:t>Раунд 2. Комбинирование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384548" y="1607196"/>
              <a:ext cx="1325880" cy="777241"/>
            </a:xfrm>
            <a:prstGeom prst="roundRect">
              <a:avLst/>
            </a:prstGeom>
            <a:solidFill>
              <a:srgbClr val="FEF9C3"/>
            </a:solidFill>
            <a:ln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ctr"/>
              <a:r>
                <a:rPr sz="1300" b="0" dirty="0" err="1">
                  <a:solidFill>
                    <a:srgbClr val="111827"/>
                  </a:solidFill>
                  <a:latin typeface="Calibri"/>
                </a:rPr>
                <a:t>Микромодуль</a:t>
              </a:r>
              <a:r>
                <a:rPr sz="1300" b="0" dirty="0">
                  <a:solidFill>
                    <a:srgbClr val="111827"/>
                  </a:solidFill>
                  <a:latin typeface="Calibri"/>
                </a:rPr>
                <a:t> +
</a:t>
              </a:r>
              <a:r>
                <a:rPr sz="1300" b="0" dirty="0" err="1">
                  <a:solidFill>
                    <a:srgbClr val="111827"/>
                  </a:solidFill>
                  <a:latin typeface="Calibri"/>
                </a:rPr>
                <a:t>быстрый</a:t>
              </a:r>
              <a:r>
                <a:rPr sz="1300" b="0" dirty="0">
                  <a:solidFill>
                    <a:srgbClr val="111827"/>
                  </a:solidFill>
                  <a:latin typeface="Calibri"/>
                </a:rPr>
                <a:t> </a:t>
              </a:r>
              <a:r>
                <a:rPr sz="1300" b="0" dirty="0" err="1">
                  <a:solidFill>
                    <a:srgbClr val="111827"/>
                  </a:solidFill>
                  <a:latin typeface="Calibri"/>
                </a:rPr>
                <a:t>тест</a:t>
              </a:r>
              <a:endParaRPr sz="1300" b="0" dirty="0">
                <a:solidFill>
                  <a:srgbClr val="111827"/>
                </a:solidFill>
                <a:latin typeface="Calibri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532120" y="2468880"/>
              <a:ext cx="1325880" cy="777240"/>
            </a:xfrm>
            <a:prstGeom prst="roundRect">
              <a:avLst/>
            </a:prstGeom>
            <a:solidFill>
              <a:srgbClr val="DBEAFE"/>
            </a:solidFill>
            <a:ln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ctr"/>
              <a:r>
                <a:rPr sz="1300" b="0">
                  <a:solidFill>
                    <a:srgbClr val="111827"/>
                  </a:solidFill>
                  <a:latin typeface="Calibri"/>
                </a:rPr>
                <a:t>Интерактивный
кейс-симулятор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384548" y="4572000"/>
              <a:ext cx="1325880" cy="777241"/>
            </a:xfrm>
            <a:prstGeom prst="roundRect">
              <a:avLst/>
            </a:prstGeom>
            <a:solidFill>
              <a:srgbClr val="DCFCE7"/>
            </a:solidFill>
            <a:ln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ctr"/>
              <a:r>
                <a:rPr sz="1300" b="0" dirty="0" err="1">
                  <a:solidFill>
                    <a:srgbClr val="111827"/>
                  </a:solidFill>
                  <a:latin typeface="Calibri"/>
                </a:rPr>
                <a:t>Дашборд</a:t>
              </a:r>
              <a:r>
                <a:rPr sz="1300" b="0" dirty="0">
                  <a:solidFill>
                    <a:srgbClr val="111827"/>
                  </a:solidFill>
                  <a:latin typeface="Calibri"/>
                </a:rPr>
                <a:t>
</a:t>
              </a:r>
              <a:r>
                <a:rPr sz="1300" b="0" dirty="0" err="1">
                  <a:solidFill>
                    <a:srgbClr val="111827"/>
                  </a:solidFill>
                  <a:latin typeface="Calibri"/>
                </a:rPr>
                <a:t>прогресса</a:t>
              </a:r>
              <a:endParaRPr sz="1300" b="0" dirty="0">
                <a:solidFill>
                  <a:srgbClr val="111827"/>
                </a:solidFill>
                <a:latin typeface="Calibri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5623560" y="3657600"/>
              <a:ext cx="1325880" cy="777240"/>
            </a:xfrm>
            <a:prstGeom prst="roundRect">
              <a:avLst/>
            </a:prstGeom>
            <a:solidFill>
              <a:srgbClr val="FBCFE8"/>
            </a:solidFill>
            <a:ln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ctr"/>
              <a:r>
                <a:rPr sz="1300" b="0">
                  <a:solidFill>
                    <a:srgbClr val="111827"/>
                  </a:solidFill>
                  <a:latin typeface="Calibri"/>
                </a:rPr>
                <a:t>AI-помощник +
FAQ</a:t>
              </a:r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E1F9A6C1-83DB-41C0-9821-7884842A05AE}"/>
              </a:ext>
            </a:extLst>
          </p:cNvPr>
          <p:cNvGrpSpPr/>
          <p:nvPr/>
        </p:nvGrpSpPr>
        <p:grpSpPr>
          <a:xfrm>
            <a:off x="7726679" y="1088142"/>
            <a:ext cx="2971800" cy="5175498"/>
            <a:chOff x="7726679" y="914400"/>
            <a:chExt cx="2971800" cy="5349240"/>
          </a:xfrm>
        </p:grpSpPr>
        <p:sp>
          <p:nvSpPr>
            <p:cNvPr id="9" name="Rounded Rectangle 8"/>
            <p:cNvSpPr/>
            <p:nvPr/>
          </p:nvSpPr>
          <p:spPr>
            <a:xfrm>
              <a:off x="7726679" y="1143000"/>
              <a:ext cx="2971800" cy="51206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836407" y="914400"/>
              <a:ext cx="1554480" cy="292608"/>
            </a:xfrm>
            <a:prstGeom prst="roundRect">
              <a:avLst/>
            </a:prstGeom>
            <a:solidFill>
              <a:srgbClr val="8B5C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Calibri"/>
                </a:rPr>
                <a:t>Раунд 3. Shortlist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138160" y="1645920"/>
              <a:ext cx="1600200" cy="868680"/>
            </a:xfrm>
            <a:prstGeom prst="roundRect">
              <a:avLst/>
            </a:prstGeom>
            <a:solidFill>
              <a:srgbClr val="DCFCE7"/>
            </a:solidFill>
            <a:ln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ctr"/>
              <a:r>
                <a:rPr sz="1300" b="0">
                  <a:solidFill>
                    <a:srgbClr val="111827"/>
                  </a:solidFill>
                  <a:latin typeface="Calibri"/>
                </a:rPr>
                <a:t>1. Банк кейсов
и симуляторов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034271" y="2993584"/>
              <a:ext cx="1600200" cy="868680"/>
            </a:xfrm>
            <a:prstGeom prst="roundRect">
              <a:avLst/>
            </a:prstGeom>
            <a:solidFill>
              <a:srgbClr val="DBEAFE"/>
            </a:solidFill>
            <a:ln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ctr"/>
              <a:r>
                <a:rPr sz="1300" b="0">
                  <a:solidFill>
                    <a:srgbClr val="111827"/>
                  </a:solidFill>
                  <a:latin typeface="Calibri"/>
                </a:rPr>
                <a:t>2. Микроконтент
10–15 минут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7991178" y="4341249"/>
              <a:ext cx="1600200" cy="868680"/>
            </a:xfrm>
            <a:prstGeom prst="roundRect">
              <a:avLst/>
            </a:prstGeom>
            <a:solidFill>
              <a:srgbClr val="FEF9C3"/>
            </a:solidFill>
            <a:ln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ctr"/>
            <a:lstStyle/>
            <a:p>
              <a:pPr algn="ctr"/>
              <a:r>
                <a:rPr sz="1300" b="0" dirty="0">
                  <a:solidFill>
                    <a:srgbClr val="111827"/>
                  </a:solidFill>
                  <a:latin typeface="Calibri"/>
                </a:rPr>
                <a:t>3. </a:t>
              </a:r>
              <a:r>
                <a:rPr sz="1300" b="0" dirty="0" err="1">
                  <a:solidFill>
                    <a:srgbClr val="111827"/>
                  </a:solidFill>
                  <a:latin typeface="Calibri"/>
                </a:rPr>
                <a:t>Дашборд</a:t>
              </a:r>
              <a:r>
                <a:rPr sz="1300" b="0" dirty="0">
                  <a:solidFill>
                    <a:srgbClr val="111827"/>
                  </a:solidFill>
                  <a:latin typeface="Calibri"/>
                </a:rPr>
                <a:t>
и </a:t>
              </a:r>
              <a:r>
                <a:rPr sz="1300" b="0" dirty="0" err="1">
                  <a:solidFill>
                    <a:srgbClr val="111827"/>
                  </a:solidFill>
                  <a:latin typeface="Calibri"/>
                </a:rPr>
                <a:t>критерии</a:t>
              </a:r>
              <a:endParaRPr sz="1300" b="0" dirty="0">
                <a:solidFill>
                  <a:srgbClr val="111827"/>
                </a:solidFill>
                <a:latin typeface="Calibri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10378440" y="6455664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Слайд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Calibri"/>
              </a:rPr>
              <a:t>Оценка идей и выбор лучших решений</a:t>
            </a:r>
          </a:p>
          <a:p>
            <a:r>
              <a:rPr sz="1100">
                <a:solidFill>
                  <a:srgbClr val="6B7280"/>
                </a:solidFill>
                <a:latin typeface="Calibri"/>
              </a:rPr>
              <a:t>Шкала оценки — от 1 до 5 баллов; суммарный балл показывает приоритет внедрения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637002"/>
              </p:ext>
            </p:extLst>
          </p:nvPr>
        </p:nvGraphicFramePr>
        <p:xfrm>
          <a:off x="411479" y="1143000"/>
          <a:ext cx="7648788" cy="4775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5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5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5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65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98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95867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Идея</a:t>
                      </a:r>
                      <a:endParaRPr sz="14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86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Интерактивный банк кейсов и симуляторов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86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Микромодули 10–15 мин + быстрые тесты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586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Дашборд прогресса и прозрачные критерии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586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Чат-бот / AI-ассистент по дисциплине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586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Командные мини-проекты с peer-review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11827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66760" y="1234439"/>
            <a:ext cx="2926080" cy="5073227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500" b="0" dirty="0" err="1">
                <a:solidFill>
                  <a:srgbClr val="111827"/>
                </a:solidFill>
                <a:latin typeface="Calibri"/>
              </a:rPr>
              <a:t>Рекомендация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команды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
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Этап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1
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Запустить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микромодули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и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прозрачный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дашборд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прогресса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.
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Этап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2
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Добавить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банк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кейсов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и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интерактивные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симуляторы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решений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.
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Этап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3
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Расширить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поддержку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через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AI-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ассистента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и peer-review.
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Именно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такая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последовательность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дает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баланс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между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эффектом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и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реализуемостью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455664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Слайд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Calibri"/>
              </a:rPr>
              <a:t>Итоговые решения команды по ПР6</a:t>
            </a:r>
          </a:p>
          <a:p>
            <a:r>
              <a:rPr sz="1100">
                <a:solidFill>
                  <a:srgbClr val="6B7280"/>
                </a:solidFill>
                <a:latin typeface="Calibri"/>
              </a:rPr>
              <a:t>Все три задания завершены и объединены в единую логику управленческого выбора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29000" cy="192024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500" b="0">
                <a:solidFill>
                  <a:srgbClr val="111827"/>
                </a:solidFill>
                <a:latin typeface="Calibri"/>
              </a:rPr>
              <a:t>Задание 1
Выбрана альтернатива A2: адаптивная цифровая траектория обучения как наиболее сильное решение по ожидаемому эффекту.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25880"/>
            <a:ext cx="3429000" cy="192024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500" b="0">
                <a:solidFill>
                  <a:srgbClr val="111827"/>
                </a:solidFill>
                <a:latin typeface="Calibri"/>
              </a:rPr>
              <a:t>Задание 2
Сформирована оригинальная идея RoboClean Flex на базе метода фокальных объектов и морфологической таблицы.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325880"/>
            <a:ext cx="3429000" cy="1920240"/>
          </a:xfrm>
          <a:prstGeom prst="roundRect">
            <a:avLst/>
          </a:prstGeom>
          <a:solidFill>
            <a:srgbClr val="EDE9FE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500" b="0">
                <a:solidFill>
                  <a:srgbClr val="111827"/>
                </a:solidFill>
                <a:latin typeface="Calibri"/>
              </a:rPr>
              <a:t>Задание 3
По итогам мозгового штурма отобраны 3 приоритетные инициативы: кейсы, микроконтент, дашборд прогресса.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10972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1700" b="0">
                <a:solidFill>
                  <a:srgbClr val="111827"/>
                </a:solidFill>
                <a:latin typeface="Calibri"/>
              </a:rPr>
              <a:t>Общий вывод
Команда из 6 человек показала, как разные методы принятия решений работают совместно: дерево решений помогает выбирать альтернативу, фокальные объекты и морфология — создавать новое решение, а мозговой штурм — быстро собирать и фильтровать идеи по реализуемости. Такой набор инструментов применим как в учебных, так и в бизнес-задачах.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55664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Слайд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457200"/>
            <a:ext cx="11521440" cy="57607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457200"/>
            <a:ext cx="182880" cy="576072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Сформированный навык по итогам выполнения работы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828800"/>
            <a:ext cx="640080" cy="640080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1640" y="1783080"/>
            <a:ext cx="4160520" cy="731520"/>
          </a:xfrm>
          <a:prstGeom prst="roundRect">
            <a:avLst/>
          </a:prstGeom>
          <a:solidFill>
            <a:srgbClr val="374151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структурировать проблему и критерии выбора</a:t>
            </a:r>
          </a:p>
        </p:txBody>
      </p:sp>
      <p:sp>
        <p:nvSpPr>
          <p:cNvPr id="7" name="Oval 6"/>
          <p:cNvSpPr/>
          <p:nvPr/>
        </p:nvSpPr>
        <p:spPr>
          <a:xfrm>
            <a:off x="6263640" y="18288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783080"/>
            <a:ext cx="4160520" cy="731520"/>
          </a:xfrm>
          <a:prstGeom prst="roundRect">
            <a:avLst/>
          </a:prstGeom>
          <a:solidFill>
            <a:srgbClr val="374151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генерировать альтернативы и оценивать их ожидаемый эффект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29184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1640" y="3246120"/>
            <a:ext cx="4160520" cy="731520"/>
          </a:xfrm>
          <a:prstGeom prst="roundRect">
            <a:avLst/>
          </a:prstGeom>
          <a:solidFill>
            <a:srgbClr val="374151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создавать оригинальные идеи продукта творческими методами</a:t>
            </a:r>
          </a:p>
        </p:txBody>
      </p:sp>
      <p:sp>
        <p:nvSpPr>
          <p:cNvPr id="11" name="Oval 10"/>
          <p:cNvSpPr/>
          <p:nvPr/>
        </p:nvSpPr>
        <p:spPr>
          <a:xfrm>
            <a:off x="6263640" y="329184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3246120"/>
            <a:ext cx="4160520" cy="731520"/>
          </a:xfrm>
          <a:prstGeom prst="roundRect">
            <a:avLst/>
          </a:prstGeom>
          <a:solidFill>
            <a:srgbClr val="374151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организовывать командное обсуждение и отбор решений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1" y="5166360"/>
            <a:ext cx="8458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dirty="0" err="1">
                <a:solidFill>
                  <a:srgbClr val="E2E8F0"/>
                </a:solidFill>
                <a:latin typeface="Calibri"/>
              </a:rPr>
              <a:t>Итог</a:t>
            </a:r>
            <a:r>
              <a:rPr sz="1700" dirty="0">
                <a:solidFill>
                  <a:srgbClr val="E2E8F0"/>
                </a:solidFill>
                <a:latin typeface="Calibri"/>
              </a:rPr>
              <a:t>: </a:t>
            </a:r>
            <a:r>
              <a:rPr sz="1700" dirty="0" err="1">
                <a:solidFill>
                  <a:srgbClr val="E2E8F0"/>
                </a:solidFill>
                <a:latin typeface="Calibri"/>
              </a:rPr>
              <a:t>команда</a:t>
            </a:r>
            <a:r>
              <a:rPr sz="1700" dirty="0">
                <a:solidFill>
                  <a:srgbClr val="E2E8F0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E2E8F0"/>
                </a:solidFill>
                <a:latin typeface="Calibri"/>
              </a:rPr>
              <a:t>отработала</a:t>
            </a:r>
            <a:r>
              <a:rPr sz="1700" dirty="0">
                <a:solidFill>
                  <a:srgbClr val="E2E8F0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E2E8F0"/>
                </a:solidFill>
                <a:latin typeface="Calibri"/>
              </a:rPr>
              <a:t>полный</a:t>
            </a:r>
            <a:r>
              <a:rPr sz="1700" dirty="0">
                <a:solidFill>
                  <a:srgbClr val="E2E8F0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E2E8F0"/>
                </a:solidFill>
                <a:latin typeface="Calibri"/>
              </a:rPr>
              <a:t>цикл</a:t>
            </a:r>
            <a:r>
              <a:rPr sz="1700" dirty="0">
                <a:solidFill>
                  <a:srgbClr val="E2E8F0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E2E8F0"/>
                </a:solidFill>
                <a:latin typeface="Calibri"/>
              </a:rPr>
              <a:t>принятия</a:t>
            </a:r>
            <a:r>
              <a:rPr sz="1700" dirty="0">
                <a:solidFill>
                  <a:srgbClr val="E2E8F0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E2E8F0"/>
                </a:solidFill>
                <a:latin typeface="Calibri"/>
              </a:rPr>
              <a:t>решения</a:t>
            </a:r>
            <a:r>
              <a:rPr sz="1700" dirty="0">
                <a:solidFill>
                  <a:srgbClr val="E2E8F0"/>
                </a:solidFill>
                <a:latin typeface="Calibri"/>
              </a:rPr>
              <a:t> — </a:t>
            </a:r>
            <a:r>
              <a:rPr sz="1700" dirty="0" err="1">
                <a:solidFill>
                  <a:srgbClr val="E2E8F0"/>
                </a:solidFill>
                <a:latin typeface="Calibri"/>
              </a:rPr>
              <a:t>от</a:t>
            </a:r>
            <a:r>
              <a:rPr sz="1700" dirty="0">
                <a:solidFill>
                  <a:srgbClr val="E2E8F0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E2E8F0"/>
                </a:solidFill>
                <a:latin typeface="Calibri"/>
              </a:rPr>
              <a:t>формулировки</a:t>
            </a:r>
            <a:r>
              <a:rPr sz="1700" dirty="0">
                <a:solidFill>
                  <a:srgbClr val="E2E8F0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E2E8F0"/>
                </a:solidFill>
                <a:latin typeface="Calibri"/>
              </a:rPr>
              <a:t>проблемы</a:t>
            </a:r>
            <a:r>
              <a:rPr sz="1700" dirty="0">
                <a:solidFill>
                  <a:srgbClr val="E2E8F0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E2E8F0"/>
                </a:solidFill>
                <a:latin typeface="Calibri"/>
              </a:rPr>
              <a:t>до</a:t>
            </a:r>
            <a:r>
              <a:rPr sz="1700" dirty="0">
                <a:solidFill>
                  <a:srgbClr val="E2E8F0"/>
                </a:solidFill>
                <a:latin typeface="Calibri"/>
              </a:rPr>
              <a:t> </a:t>
            </a:r>
            <a:r>
              <a:rPr lang="ru-RU" sz="1700" dirty="0">
                <a:solidFill>
                  <a:srgbClr val="E2E8F0"/>
                </a:solidFill>
                <a:latin typeface="Calibri"/>
              </a:rPr>
              <a:t>в</a:t>
            </a:r>
            <a:r>
              <a:rPr sz="1700" dirty="0" err="1">
                <a:solidFill>
                  <a:srgbClr val="E2E8F0"/>
                </a:solidFill>
                <a:latin typeface="Calibri"/>
              </a:rPr>
              <a:t>изуальной</a:t>
            </a:r>
            <a:r>
              <a:rPr sz="1700" dirty="0">
                <a:solidFill>
                  <a:srgbClr val="E2E8F0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E2E8F0"/>
                </a:solidFill>
                <a:latin typeface="Calibri"/>
              </a:rPr>
              <a:t>защиты</a:t>
            </a:r>
            <a:r>
              <a:rPr sz="1700" dirty="0">
                <a:solidFill>
                  <a:srgbClr val="E2E8F0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E2E8F0"/>
                </a:solidFill>
                <a:latin typeface="Calibri"/>
              </a:rPr>
              <a:t>выбранного</a:t>
            </a:r>
            <a:r>
              <a:rPr sz="1700" dirty="0">
                <a:solidFill>
                  <a:srgbClr val="E2E8F0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E2E8F0"/>
                </a:solidFill>
                <a:latin typeface="Calibri"/>
              </a:rPr>
              <a:t>варианта</a:t>
            </a:r>
            <a:r>
              <a:rPr sz="1700" dirty="0">
                <a:solidFill>
                  <a:srgbClr val="E2E8F0"/>
                </a:solidFill>
                <a:latin typeface="Calibr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1" y="5189112"/>
            <a:ext cx="1920239" cy="570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  <a:latin typeface="Calibri"/>
              </a:rPr>
              <a:t>Спасибо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78440" y="6455664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Слайд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1550</Words>
  <Application>Microsoft Office PowerPoint</Application>
  <PresentationFormat>Широкоэкранный</PresentationFormat>
  <Paragraphs>268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H4RD</cp:lastModifiedBy>
  <cp:revision>6</cp:revision>
  <dcterms:created xsi:type="dcterms:W3CDTF">2013-01-27T09:14:16Z</dcterms:created>
  <dcterms:modified xsi:type="dcterms:W3CDTF">2026-04-22T15:16:33Z</dcterms:modified>
  <cp:category/>
</cp:coreProperties>
</file>