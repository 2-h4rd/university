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2517" y="1463040"/>
            <a:ext cx="1107180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dirty="0" err="1">
                <a:solidFill>
                  <a:srgbClr val="FFFFFF"/>
                </a:solidFill>
                <a:latin typeface="Calibri"/>
              </a:rPr>
              <a:t>Отчёт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о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проведении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деловой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игры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
«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Авария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400" b="1" dirty="0" err="1">
                <a:solidFill>
                  <a:srgbClr val="FFFFFF"/>
                </a:solidFill>
                <a:latin typeface="Calibri"/>
              </a:rPr>
              <a:t>Луне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517" y="3520214"/>
            <a:ext cx="110718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E5E7EB"/>
                </a:solidFill>
                <a:latin typeface="Calibri"/>
              </a:rPr>
              <a:t>Выполнили студенты группы БИСО-02-22</a:t>
            </a:r>
            <a:br>
              <a:rPr lang="ru-RU" sz="2800" dirty="0">
                <a:solidFill>
                  <a:srgbClr val="E5E7EB"/>
                </a:solidFill>
                <a:latin typeface="Calibri"/>
              </a:rPr>
            </a:br>
            <a:r>
              <a:rPr lang="ru-RU" sz="28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Зубарев В.С, </a:t>
            </a:r>
            <a:r>
              <a:rPr lang="ru-RU" sz="28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Рыженин</a:t>
            </a:r>
            <a:r>
              <a:rPr lang="ru-RU" sz="28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А.А, </a:t>
            </a:r>
            <a:r>
              <a:rPr lang="ru-RU" sz="28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Савченоков</a:t>
            </a:r>
            <a:r>
              <a:rPr lang="ru-RU" sz="28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К.В, Хохлов А.И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369514" y="5942681"/>
            <a:ext cx="23348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E5E7EB"/>
                </a:solidFill>
                <a:latin typeface="Calibri"/>
              </a:defRPr>
            </a:pPr>
            <a:r>
              <a:rPr lang="ru-RU" dirty="0"/>
              <a:t>РТУ МИРЭА, Москва —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1. Организация проведения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5011" y="914400"/>
            <a:ext cx="5650029" cy="47548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5520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111827"/>
                </a:solidFill>
                <a:latin typeface="Calibri"/>
              </a:rPr>
              <a:t>Паспорт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игры</a:t>
            </a:r>
            <a:endParaRPr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3470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Формат</a:t>
            </a:r>
            <a:r>
              <a:rPr sz="1600" b="1" dirty="0"/>
              <a:t>: </a:t>
            </a:r>
            <a:r>
              <a:rPr sz="1600" dirty="0" err="1"/>
              <a:t>работа</a:t>
            </a:r>
            <a:r>
              <a:rPr sz="1600" dirty="0"/>
              <a:t> в </a:t>
            </a:r>
            <a:r>
              <a:rPr sz="1600" dirty="0" err="1"/>
              <a:t>подгруппе</a:t>
            </a:r>
            <a:r>
              <a:rPr sz="1600" dirty="0"/>
              <a:t> (4 </a:t>
            </a:r>
            <a:r>
              <a:rPr sz="1600" dirty="0" err="1"/>
              <a:t>человека</a:t>
            </a:r>
            <a:r>
              <a:rPr sz="1600" dirty="0"/>
              <a:t>)</a:t>
            </a:r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Регламент</a:t>
            </a:r>
            <a:r>
              <a:rPr sz="1600" b="1" dirty="0"/>
              <a:t>: </a:t>
            </a:r>
            <a:r>
              <a:rPr sz="1600" dirty="0"/>
              <a:t>10 </a:t>
            </a:r>
            <a:r>
              <a:rPr sz="1600" dirty="0" err="1"/>
              <a:t>мин</a:t>
            </a:r>
            <a:r>
              <a:rPr sz="1600" dirty="0"/>
              <a:t> — </a:t>
            </a:r>
            <a:r>
              <a:rPr sz="1600" dirty="0" err="1"/>
              <a:t>индивидуально</a:t>
            </a:r>
            <a:r>
              <a:rPr sz="1600" dirty="0"/>
              <a:t>; 15–20 </a:t>
            </a:r>
            <a:r>
              <a:rPr sz="1600" dirty="0" err="1"/>
              <a:t>мин</a:t>
            </a:r>
            <a:r>
              <a:rPr sz="1600" dirty="0"/>
              <a:t> — </a:t>
            </a:r>
            <a:r>
              <a:rPr sz="1600" dirty="0" err="1"/>
              <a:t>консенсус</a:t>
            </a:r>
            <a:endParaRPr sz="1600" dirty="0"/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Вход</a:t>
            </a:r>
            <a:r>
              <a:rPr sz="1600" b="1" dirty="0"/>
              <a:t>: </a:t>
            </a:r>
            <a:r>
              <a:rPr sz="1600" dirty="0"/>
              <a:t>15 </a:t>
            </a:r>
            <a:r>
              <a:rPr sz="1600" dirty="0" err="1"/>
              <a:t>предметов</a:t>
            </a:r>
            <a:r>
              <a:rPr sz="1600" dirty="0"/>
              <a:t> </a:t>
            </a:r>
            <a:r>
              <a:rPr sz="1600" dirty="0" err="1"/>
              <a:t>из</a:t>
            </a:r>
            <a:r>
              <a:rPr sz="1600" dirty="0"/>
              <a:t> </a:t>
            </a:r>
            <a:r>
              <a:rPr sz="1600" dirty="0" err="1"/>
              <a:t>аварийного</a:t>
            </a:r>
            <a:r>
              <a:rPr sz="1600" dirty="0"/>
              <a:t> </a:t>
            </a:r>
            <a:r>
              <a:rPr sz="1600" dirty="0" err="1"/>
              <a:t>набора</a:t>
            </a:r>
            <a:endParaRPr sz="1600" dirty="0"/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Выход</a:t>
            </a:r>
            <a:r>
              <a:rPr sz="1600" b="1" dirty="0"/>
              <a:t>: </a:t>
            </a:r>
            <a:r>
              <a:rPr sz="1600" dirty="0" err="1"/>
              <a:t>индивидуальные</a:t>
            </a:r>
            <a:r>
              <a:rPr sz="1600" dirty="0"/>
              <a:t> и </a:t>
            </a:r>
            <a:r>
              <a:rPr sz="1600" dirty="0" err="1"/>
              <a:t>групповые</a:t>
            </a:r>
            <a:r>
              <a:rPr sz="1600" dirty="0"/>
              <a:t> </a:t>
            </a:r>
            <a:r>
              <a:rPr sz="1600" dirty="0" err="1"/>
              <a:t>ранжировки</a:t>
            </a:r>
            <a:r>
              <a:rPr sz="1600" dirty="0"/>
              <a:t> + </a:t>
            </a:r>
            <a:r>
              <a:rPr sz="1600" dirty="0" err="1"/>
              <a:t>оценка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эталону</a:t>
            </a:r>
            <a:endParaRPr sz="1600" dirty="0"/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Метрика</a:t>
            </a:r>
            <a:r>
              <a:rPr sz="1600" b="1" dirty="0"/>
              <a:t>: </a:t>
            </a:r>
            <a:r>
              <a:rPr sz="1600" dirty="0" err="1"/>
              <a:t>сумма</a:t>
            </a:r>
            <a:r>
              <a:rPr sz="1600" dirty="0"/>
              <a:t> </a:t>
            </a:r>
            <a:r>
              <a:rPr sz="1600" dirty="0" err="1"/>
              <a:t>абсолютных</a:t>
            </a:r>
            <a:r>
              <a:rPr sz="1600" dirty="0"/>
              <a:t> </a:t>
            </a:r>
            <a:r>
              <a:rPr sz="1600" dirty="0" err="1"/>
              <a:t>отклонений</a:t>
            </a:r>
            <a:r>
              <a:rPr sz="1600" dirty="0"/>
              <a:t> </a:t>
            </a:r>
            <a:r>
              <a:rPr sz="1600" dirty="0" err="1"/>
              <a:t>рангов</a:t>
            </a:r>
            <a:r>
              <a:rPr sz="1600" dirty="0"/>
              <a:t> (Δ)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6962" y="914400"/>
            <a:ext cx="5273038" cy="47548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051560"/>
            <a:ext cx="19450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111827"/>
                </a:solidFill>
                <a:latin typeface="Calibri"/>
              </a:rPr>
              <a:t>Роли</a:t>
            </a:r>
            <a:r>
              <a:rPr b="1" dirty="0">
                <a:solidFill>
                  <a:srgbClr val="111827"/>
                </a:solidFill>
                <a:latin typeface="Calibri"/>
              </a:rPr>
              <a:t> в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подгруппе</a:t>
            </a:r>
            <a:endParaRPr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4572000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lang="ru-RU" sz="1600" b="1" dirty="0"/>
              <a:t>Василий</a:t>
            </a:r>
            <a:r>
              <a:rPr sz="1600" dirty="0"/>
              <a:t> — </a:t>
            </a:r>
            <a:r>
              <a:rPr sz="1600" dirty="0" err="1"/>
              <a:t>модератор</a:t>
            </a:r>
            <a:r>
              <a:rPr sz="1600" dirty="0"/>
              <a:t> (</a:t>
            </a:r>
            <a:r>
              <a:rPr sz="1600" dirty="0" err="1"/>
              <a:t>фиксировал</a:t>
            </a:r>
            <a:r>
              <a:rPr sz="1600" dirty="0"/>
              <a:t> </a:t>
            </a:r>
            <a:r>
              <a:rPr sz="1600" dirty="0" err="1"/>
              <a:t>консенсус</a:t>
            </a:r>
            <a:r>
              <a:rPr sz="1600" dirty="0"/>
              <a:t>, </a:t>
            </a:r>
            <a:r>
              <a:rPr sz="1600" dirty="0" err="1"/>
              <a:t>следил</a:t>
            </a:r>
            <a:r>
              <a:rPr sz="1600" dirty="0"/>
              <a:t> </a:t>
            </a:r>
            <a:r>
              <a:rPr sz="1600" dirty="0" err="1"/>
              <a:t>за</a:t>
            </a:r>
            <a:r>
              <a:rPr sz="1600" dirty="0"/>
              <a:t> </a:t>
            </a:r>
            <a:r>
              <a:rPr sz="1600" dirty="0" err="1"/>
              <a:t>регламентом</a:t>
            </a:r>
            <a:r>
              <a:rPr sz="1600" dirty="0"/>
              <a:t>)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lang="ru-RU" sz="1600" b="1" dirty="0"/>
              <a:t>Алексей</a:t>
            </a:r>
            <a:r>
              <a:rPr sz="1600" dirty="0"/>
              <a:t> — </a:t>
            </a:r>
            <a:r>
              <a:rPr sz="1600" dirty="0" err="1"/>
              <a:t>аналитик</a:t>
            </a:r>
            <a:r>
              <a:rPr sz="1600" dirty="0"/>
              <a:t> (</a:t>
            </a:r>
            <a:r>
              <a:rPr sz="1600" dirty="0" err="1"/>
              <a:t>проверка</a:t>
            </a:r>
            <a:r>
              <a:rPr sz="1600" dirty="0"/>
              <a:t> </a:t>
            </a:r>
            <a:r>
              <a:rPr sz="1600" dirty="0" err="1"/>
              <a:t>логики</a:t>
            </a:r>
            <a:r>
              <a:rPr sz="1600" dirty="0"/>
              <a:t>, </a:t>
            </a:r>
            <a:r>
              <a:rPr sz="1600" dirty="0" err="1"/>
              <a:t>формулы</a:t>
            </a:r>
            <a:r>
              <a:rPr sz="1600" dirty="0"/>
              <a:t> </a:t>
            </a:r>
            <a:r>
              <a:rPr sz="1600" dirty="0" err="1"/>
              <a:t>ошибки</a:t>
            </a:r>
            <a:r>
              <a:rPr sz="1600" dirty="0"/>
              <a:t>, </a:t>
            </a:r>
            <a:r>
              <a:rPr sz="1600" dirty="0" err="1"/>
              <a:t>сводная</a:t>
            </a:r>
            <a:r>
              <a:rPr sz="1600" dirty="0"/>
              <a:t> </a:t>
            </a:r>
            <a:r>
              <a:rPr sz="1600" dirty="0" err="1"/>
              <a:t>таблица</a:t>
            </a:r>
            <a:r>
              <a:rPr sz="1600" dirty="0"/>
              <a:t>)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lang="ru-RU" sz="1600" b="1" dirty="0"/>
              <a:t>Константин</a:t>
            </a:r>
            <a:r>
              <a:rPr sz="1600" dirty="0"/>
              <a:t> — </a:t>
            </a:r>
            <a:r>
              <a:rPr sz="1600" dirty="0" err="1"/>
              <a:t>генератор</a:t>
            </a:r>
            <a:r>
              <a:rPr sz="1600" dirty="0"/>
              <a:t> </a:t>
            </a:r>
            <a:r>
              <a:rPr sz="1600" dirty="0" err="1"/>
              <a:t>идей</a:t>
            </a:r>
            <a:r>
              <a:rPr sz="1600" dirty="0"/>
              <a:t> (</a:t>
            </a:r>
            <a:r>
              <a:rPr sz="1600" dirty="0" err="1"/>
              <a:t>версии</a:t>
            </a:r>
            <a:r>
              <a:rPr sz="1600" dirty="0"/>
              <a:t> </a:t>
            </a:r>
            <a:r>
              <a:rPr sz="1600" dirty="0" err="1"/>
              <a:t>использования</a:t>
            </a:r>
            <a:r>
              <a:rPr sz="1600" dirty="0"/>
              <a:t> </a:t>
            </a:r>
            <a:r>
              <a:rPr sz="1600" dirty="0" err="1"/>
              <a:t>предметов</a:t>
            </a:r>
            <a:r>
              <a:rPr sz="1600" dirty="0"/>
              <a:t>)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Андрей</a:t>
            </a:r>
            <a:r>
              <a:rPr sz="1600" dirty="0"/>
              <a:t> — </a:t>
            </a:r>
            <a:r>
              <a:rPr sz="1600" dirty="0" err="1"/>
              <a:t>генератор</a:t>
            </a:r>
            <a:r>
              <a:rPr sz="1600" dirty="0"/>
              <a:t> </a:t>
            </a:r>
            <a:r>
              <a:rPr sz="1600" dirty="0" err="1"/>
              <a:t>идей</a:t>
            </a:r>
            <a:r>
              <a:rPr sz="1600" dirty="0"/>
              <a:t> (</a:t>
            </a:r>
            <a:r>
              <a:rPr sz="1600" dirty="0" err="1"/>
              <a:t>критика</a:t>
            </a:r>
            <a:r>
              <a:rPr sz="1600" dirty="0"/>
              <a:t> </a:t>
            </a:r>
            <a:r>
              <a:rPr sz="1600" dirty="0" err="1"/>
              <a:t>гипотез</a:t>
            </a:r>
            <a:r>
              <a:rPr sz="1600" dirty="0"/>
              <a:t>, «</a:t>
            </a:r>
            <a:r>
              <a:rPr sz="1600" dirty="0" err="1"/>
              <a:t>адвокат</a:t>
            </a:r>
            <a:r>
              <a:rPr sz="1600" dirty="0"/>
              <a:t> </a:t>
            </a:r>
            <a:r>
              <a:rPr sz="1600" dirty="0" err="1"/>
              <a:t>дьявола</a:t>
            </a:r>
            <a:r>
              <a:rPr sz="1600" dirty="0"/>
              <a:t>»)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Правило</a:t>
            </a:r>
            <a:r>
              <a:rPr sz="1600" b="1" dirty="0"/>
              <a:t>: </a:t>
            </a:r>
            <a:r>
              <a:rPr sz="1600" dirty="0" err="1"/>
              <a:t>решение</a:t>
            </a:r>
            <a:r>
              <a:rPr sz="1600" dirty="0"/>
              <a:t> </a:t>
            </a:r>
            <a:r>
              <a:rPr sz="1600" dirty="0" err="1"/>
              <a:t>принимается</a:t>
            </a:r>
            <a:r>
              <a:rPr sz="1600" dirty="0"/>
              <a:t> </a:t>
            </a:r>
            <a:r>
              <a:rPr sz="1600" dirty="0" err="1"/>
              <a:t>только</a:t>
            </a:r>
            <a:r>
              <a:rPr sz="1600" dirty="0"/>
              <a:t> </a:t>
            </a:r>
            <a:r>
              <a:rPr sz="1600" dirty="0" err="1"/>
              <a:t>при</a:t>
            </a:r>
            <a:r>
              <a:rPr sz="1600" dirty="0"/>
              <a:t> </a:t>
            </a:r>
            <a:r>
              <a:rPr sz="1600" dirty="0" err="1"/>
              <a:t>согласии</a:t>
            </a:r>
            <a:r>
              <a:rPr sz="1600" dirty="0"/>
              <a:t> </a:t>
            </a:r>
            <a:r>
              <a:rPr sz="1600" dirty="0" err="1"/>
              <a:t>всех</a:t>
            </a:r>
            <a:r>
              <a:rPr sz="1600" dirty="0"/>
              <a:t> </a:t>
            </a:r>
            <a:r>
              <a:rPr sz="1600" dirty="0" err="1"/>
              <a:t>участников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dirty="0" err="1">
                <a:solidFill>
                  <a:srgbClr val="6B7280"/>
                </a:solidFill>
                <a:latin typeface="Calibri"/>
              </a:rPr>
              <a:t>Примечание</a:t>
            </a:r>
            <a:r>
              <a:rPr sz="1000" dirty="0">
                <a:solidFill>
                  <a:srgbClr val="6B7280"/>
                </a:solidFill>
                <a:latin typeface="Calibri"/>
              </a:rPr>
              <a:t>: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ниже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приведён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пример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заполнения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отчёта</a:t>
            </a:r>
            <a:r>
              <a:rPr sz="1000" dirty="0">
                <a:solidFill>
                  <a:srgbClr val="6B7280"/>
                </a:solidFill>
                <a:latin typeface="Calibri"/>
              </a:rPr>
              <a:t>;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при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необходимости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замените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ранжировки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на</a:t>
            </a:r>
            <a:r>
              <a:rPr sz="1000" dirty="0">
                <a:solidFill>
                  <a:srgbClr val="6B7280"/>
                </a:solidFill>
                <a:latin typeface="Calibri"/>
              </a:rPr>
              <a:t> </a:t>
            </a:r>
            <a:r>
              <a:rPr sz="1000" dirty="0" err="1">
                <a:solidFill>
                  <a:srgbClr val="6B7280"/>
                </a:solidFill>
                <a:latin typeface="Calibri"/>
              </a:rPr>
              <a:t>фактические</a:t>
            </a:r>
            <a:r>
              <a:rPr sz="1000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2. Ход игры (факт проведения)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47548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8675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 err="1">
                <a:solidFill>
                  <a:srgbClr val="111827"/>
                </a:solidFill>
                <a:latin typeface="Calibri"/>
              </a:rPr>
              <a:t>Этапы</a:t>
            </a:r>
            <a:endParaRPr sz="20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241280" cy="396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6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Этап</a:t>
            </a:r>
            <a:r>
              <a:rPr sz="1600" dirty="0"/>
              <a:t> 0 — </a:t>
            </a:r>
            <a:r>
              <a:rPr sz="1600" dirty="0" err="1"/>
              <a:t>ввод</a:t>
            </a:r>
            <a:r>
              <a:rPr sz="1600" dirty="0"/>
              <a:t>: </a:t>
            </a:r>
            <a:r>
              <a:rPr sz="1600" dirty="0" err="1"/>
              <a:t>прочитан</a:t>
            </a:r>
            <a:r>
              <a:rPr sz="1600" dirty="0"/>
              <a:t> </a:t>
            </a:r>
            <a:r>
              <a:rPr sz="1600" dirty="0" err="1"/>
              <a:t>сценарий</a:t>
            </a:r>
            <a:r>
              <a:rPr sz="1600" dirty="0"/>
              <a:t> </a:t>
            </a:r>
            <a:r>
              <a:rPr sz="1600" dirty="0" err="1"/>
              <a:t>аварии</a:t>
            </a:r>
            <a:r>
              <a:rPr sz="1600" dirty="0"/>
              <a:t>, </a:t>
            </a:r>
            <a:r>
              <a:rPr sz="1600" dirty="0" err="1"/>
              <a:t>уточнены</a:t>
            </a:r>
            <a:r>
              <a:rPr sz="1600" dirty="0"/>
              <a:t> </a:t>
            </a:r>
            <a:r>
              <a:rPr sz="1600" dirty="0" err="1"/>
              <a:t>ограничения</a:t>
            </a:r>
            <a:r>
              <a:rPr sz="1600" dirty="0"/>
              <a:t> (200 </a:t>
            </a:r>
            <a:r>
              <a:rPr sz="1600" dirty="0" err="1"/>
              <a:t>миль</a:t>
            </a:r>
            <a:r>
              <a:rPr sz="1600" dirty="0"/>
              <a:t> </a:t>
            </a:r>
            <a:r>
              <a:rPr sz="1600" dirty="0" err="1"/>
              <a:t>до</a:t>
            </a:r>
            <a:r>
              <a:rPr sz="1600" dirty="0"/>
              <a:t> </a:t>
            </a:r>
            <a:r>
              <a:rPr sz="1600" dirty="0" err="1"/>
              <a:t>точки</a:t>
            </a:r>
            <a:r>
              <a:rPr sz="1600" dirty="0"/>
              <a:t> </a:t>
            </a:r>
            <a:r>
              <a:rPr sz="1600" dirty="0" err="1"/>
              <a:t>встречи</a:t>
            </a:r>
            <a:r>
              <a:rPr sz="1600" dirty="0"/>
              <a:t>, </a:t>
            </a:r>
            <a:r>
              <a:rPr sz="1600" dirty="0" err="1"/>
              <a:t>часть</a:t>
            </a:r>
            <a:r>
              <a:rPr sz="1600" dirty="0"/>
              <a:t> </a:t>
            </a:r>
            <a:r>
              <a:rPr sz="1600" dirty="0" err="1"/>
              <a:t>оборудования</a:t>
            </a:r>
            <a:r>
              <a:rPr sz="1600" dirty="0"/>
              <a:t> </a:t>
            </a:r>
            <a:r>
              <a:rPr sz="1600" dirty="0" err="1"/>
              <a:t>повреждена</a:t>
            </a:r>
            <a:r>
              <a:rPr sz="1600" dirty="0"/>
              <a:t>).</a:t>
            </a:r>
          </a:p>
          <a:p>
            <a:pPr>
              <a:lnSpc>
                <a:spcPct val="200000"/>
              </a:lnSpc>
              <a:defRPr sz="16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Этап</a:t>
            </a:r>
            <a:r>
              <a:rPr sz="1600" dirty="0"/>
              <a:t> 1 — </a:t>
            </a:r>
            <a:r>
              <a:rPr sz="1600" dirty="0" err="1"/>
              <a:t>индивидуальная</a:t>
            </a:r>
            <a:r>
              <a:rPr sz="1600" dirty="0"/>
              <a:t> </a:t>
            </a:r>
            <a:r>
              <a:rPr sz="1600" dirty="0" err="1"/>
              <a:t>работа</a:t>
            </a:r>
            <a:r>
              <a:rPr sz="1600" dirty="0"/>
              <a:t>: </a:t>
            </a:r>
            <a:r>
              <a:rPr sz="1600" dirty="0" err="1"/>
              <a:t>каждый</a:t>
            </a:r>
            <a:r>
              <a:rPr sz="1600" dirty="0"/>
              <a:t> </a:t>
            </a:r>
            <a:r>
              <a:rPr sz="1600" dirty="0" err="1"/>
              <a:t>участник</a:t>
            </a:r>
            <a:r>
              <a:rPr sz="1600" dirty="0"/>
              <a:t> </a:t>
            </a:r>
            <a:r>
              <a:rPr sz="1600" dirty="0" err="1"/>
              <a:t>ранжировал</a:t>
            </a:r>
            <a:r>
              <a:rPr sz="1600" dirty="0"/>
              <a:t> 15 </a:t>
            </a:r>
            <a:r>
              <a:rPr sz="1600" dirty="0" err="1"/>
              <a:t>предметов</a:t>
            </a:r>
            <a:r>
              <a:rPr sz="1600" dirty="0"/>
              <a:t> </a:t>
            </a:r>
            <a:r>
              <a:rPr sz="1600" dirty="0" err="1"/>
              <a:t>от</a:t>
            </a:r>
            <a:r>
              <a:rPr sz="1600" dirty="0"/>
              <a:t> 1 (</a:t>
            </a:r>
            <a:r>
              <a:rPr sz="1600" dirty="0" err="1"/>
              <a:t>самое</a:t>
            </a:r>
            <a:r>
              <a:rPr sz="1600" dirty="0"/>
              <a:t> </a:t>
            </a:r>
            <a:r>
              <a:rPr sz="1600" dirty="0" err="1"/>
              <a:t>важное</a:t>
            </a:r>
            <a:r>
              <a:rPr sz="1600" dirty="0"/>
              <a:t>) </a:t>
            </a:r>
            <a:r>
              <a:rPr sz="1600" dirty="0" err="1"/>
              <a:t>до</a:t>
            </a:r>
            <a:r>
              <a:rPr sz="1600" dirty="0"/>
              <a:t> 15 (</a:t>
            </a:r>
            <a:r>
              <a:rPr sz="1600" dirty="0" err="1"/>
              <a:t>наименее</a:t>
            </a:r>
            <a:r>
              <a:rPr sz="1600" dirty="0"/>
              <a:t> </a:t>
            </a:r>
            <a:r>
              <a:rPr sz="1600" dirty="0" err="1"/>
              <a:t>важное</a:t>
            </a:r>
            <a:r>
              <a:rPr sz="1600" dirty="0"/>
              <a:t>).</a:t>
            </a:r>
          </a:p>
          <a:p>
            <a:pPr>
              <a:lnSpc>
                <a:spcPct val="200000"/>
              </a:lnSpc>
              <a:defRPr sz="16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Этап</a:t>
            </a:r>
            <a:r>
              <a:rPr sz="1600" dirty="0"/>
              <a:t> 2 — </a:t>
            </a:r>
            <a:r>
              <a:rPr sz="1600" dirty="0" err="1"/>
              <a:t>групповая</a:t>
            </a:r>
            <a:r>
              <a:rPr sz="1600" dirty="0"/>
              <a:t> </a:t>
            </a:r>
            <a:r>
              <a:rPr sz="1600" dirty="0" err="1"/>
              <a:t>дискуссия</a:t>
            </a:r>
            <a:r>
              <a:rPr sz="1600" dirty="0"/>
              <a:t>: </a:t>
            </a:r>
            <a:r>
              <a:rPr sz="1600" dirty="0" err="1"/>
              <a:t>ранжирование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консенсусу</a:t>
            </a:r>
            <a:r>
              <a:rPr sz="1600" dirty="0"/>
              <a:t>; </a:t>
            </a:r>
            <a:r>
              <a:rPr sz="1600" dirty="0" err="1"/>
              <a:t>фиксировались</a:t>
            </a:r>
            <a:r>
              <a:rPr sz="1600" dirty="0"/>
              <a:t> </a:t>
            </a:r>
            <a:r>
              <a:rPr sz="1600" dirty="0" err="1"/>
              <a:t>аргументы</a:t>
            </a:r>
            <a:r>
              <a:rPr sz="1600" dirty="0"/>
              <a:t> «</a:t>
            </a:r>
            <a:r>
              <a:rPr sz="1600" dirty="0" err="1"/>
              <a:t>за</a:t>
            </a:r>
            <a:r>
              <a:rPr sz="1600" dirty="0"/>
              <a:t>/</a:t>
            </a:r>
            <a:r>
              <a:rPr sz="1600" dirty="0" err="1"/>
              <a:t>против</a:t>
            </a:r>
            <a:r>
              <a:rPr sz="1600" dirty="0"/>
              <a:t>», </a:t>
            </a:r>
            <a:r>
              <a:rPr sz="1600" dirty="0" err="1"/>
              <a:t>устранялись</a:t>
            </a:r>
            <a:r>
              <a:rPr sz="1600" dirty="0"/>
              <a:t> </a:t>
            </a:r>
            <a:r>
              <a:rPr sz="1600" dirty="0" err="1"/>
              <a:t>противоречия</a:t>
            </a:r>
            <a:r>
              <a:rPr sz="1600" dirty="0"/>
              <a:t>.</a:t>
            </a:r>
          </a:p>
          <a:p>
            <a:pPr>
              <a:lnSpc>
                <a:spcPct val="200000"/>
              </a:lnSpc>
              <a:defRPr sz="16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Этап</a:t>
            </a:r>
            <a:r>
              <a:rPr sz="1600" dirty="0"/>
              <a:t> 3 — </a:t>
            </a:r>
            <a:r>
              <a:rPr sz="1600" dirty="0" err="1"/>
              <a:t>сверка</a:t>
            </a:r>
            <a:r>
              <a:rPr sz="1600" dirty="0"/>
              <a:t> с </a:t>
            </a:r>
            <a:r>
              <a:rPr sz="1600" dirty="0" err="1"/>
              <a:t>эталоном</a:t>
            </a:r>
            <a:r>
              <a:rPr sz="1600" dirty="0"/>
              <a:t>: </a:t>
            </a:r>
            <a:r>
              <a:rPr sz="1600" dirty="0" err="1"/>
              <a:t>рассчитаны</a:t>
            </a:r>
            <a:r>
              <a:rPr sz="1600" dirty="0"/>
              <a:t> </a:t>
            </a:r>
            <a:r>
              <a:rPr sz="1600" dirty="0" err="1"/>
              <a:t>отклонения</a:t>
            </a:r>
            <a:r>
              <a:rPr sz="1600" dirty="0"/>
              <a:t> Δ и </a:t>
            </a:r>
            <a:r>
              <a:rPr sz="1600" dirty="0" err="1"/>
              <a:t>суммарные</a:t>
            </a:r>
            <a:r>
              <a:rPr sz="1600" dirty="0"/>
              <a:t> </a:t>
            </a:r>
            <a:r>
              <a:rPr sz="1600" dirty="0" err="1"/>
              <a:t>ошибки</a:t>
            </a:r>
            <a:r>
              <a:rPr sz="1600" dirty="0"/>
              <a:t>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каждого</a:t>
            </a:r>
            <a:r>
              <a:rPr sz="1600" dirty="0"/>
              <a:t> </a:t>
            </a:r>
            <a:r>
              <a:rPr sz="1600" dirty="0" err="1"/>
              <a:t>участника</a:t>
            </a:r>
            <a:r>
              <a:rPr sz="1600" dirty="0"/>
              <a:t> и </a:t>
            </a:r>
            <a:r>
              <a:rPr sz="1600" dirty="0" err="1"/>
              <a:t>группы</a:t>
            </a:r>
            <a:r>
              <a:rPr sz="1600" dirty="0"/>
              <a:t>.</a:t>
            </a:r>
          </a:p>
          <a:p>
            <a:pPr>
              <a:lnSpc>
                <a:spcPct val="200000"/>
              </a:lnSpc>
              <a:defRPr sz="16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Этап</a:t>
            </a:r>
            <a:r>
              <a:rPr sz="1600" dirty="0"/>
              <a:t> 4 — </a:t>
            </a:r>
            <a:r>
              <a:rPr sz="1600" dirty="0" err="1"/>
              <a:t>рефлексия</a:t>
            </a:r>
            <a:r>
              <a:rPr sz="1600" dirty="0"/>
              <a:t>: </a:t>
            </a:r>
            <a:r>
              <a:rPr sz="1600" dirty="0" err="1"/>
              <a:t>обсуждены</a:t>
            </a:r>
            <a:r>
              <a:rPr sz="1600" dirty="0"/>
              <a:t> </a:t>
            </a:r>
            <a:r>
              <a:rPr sz="1600" dirty="0" err="1"/>
              <a:t>основания</a:t>
            </a:r>
            <a:r>
              <a:rPr sz="1600" dirty="0"/>
              <a:t> </a:t>
            </a:r>
            <a:r>
              <a:rPr sz="1600" dirty="0" err="1"/>
              <a:t>решений</a:t>
            </a:r>
            <a:r>
              <a:rPr sz="1600" dirty="0"/>
              <a:t>, </a:t>
            </a:r>
            <a:r>
              <a:rPr sz="1600" dirty="0" err="1"/>
              <a:t>качество</a:t>
            </a:r>
            <a:r>
              <a:rPr sz="1600" dirty="0"/>
              <a:t> </a:t>
            </a:r>
            <a:r>
              <a:rPr sz="1600" dirty="0" err="1"/>
              <a:t>коммуникации</a:t>
            </a:r>
            <a:r>
              <a:rPr sz="1600" dirty="0"/>
              <a:t>, </a:t>
            </a:r>
            <a:r>
              <a:rPr sz="1600" dirty="0" err="1"/>
              <a:t>эффект</a:t>
            </a:r>
            <a:r>
              <a:rPr sz="1600" dirty="0"/>
              <a:t> </a:t>
            </a:r>
            <a:r>
              <a:rPr sz="1600" dirty="0" err="1"/>
              <a:t>синергии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3. Методика оценки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237744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7500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  <a:latin typeface="Calibri"/>
              </a:rPr>
              <a:t>Формула</a:t>
            </a:r>
            <a:r>
              <a:rPr sz="16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11827"/>
                </a:solidFill>
                <a:latin typeface="Calibri"/>
              </a:rPr>
              <a:t>ошибки</a:t>
            </a:r>
            <a:endParaRPr sz="16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241280" cy="1500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8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каждого</a:t>
            </a:r>
            <a:r>
              <a:rPr sz="1600" dirty="0"/>
              <a:t> </a:t>
            </a:r>
            <a:r>
              <a:rPr sz="1600" dirty="0" err="1"/>
              <a:t>предмета</a:t>
            </a:r>
            <a:r>
              <a:rPr sz="1600" dirty="0"/>
              <a:t>: Δ = |</a:t>
            </a:r>
            <a:r>
              <a:rPr sz="1600" dirty="0" err="1"/>
              <a:t>ранг_команды</a:t>
            </a:r>
            <a:r>
              <a:rPr sz="1600" dirty="0"/>
              <a:t> − </a:t>
            </a:r>
            <a:r>
              <a:rPr sz="1600" dirty="0" err="1"/>
              <a:t>ранг_NASA</a:t>
            </a:r>
            <a:r>
              <a:rPr sz="1600" dirty="0"/>
              <a:t>|.</a:t>
            </a:r>
          </a:p>
          <a:p>
            <a:pPr>
              <a:lnSpc>
                <a:spcPct val="200000"/>
              </a:lnSpc>
              <a:defRPr sz="18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Сумма</a:t>
            </a:r>
            <a:r>
              <a:rPr sz="1600" dirty="0"/>
              <a:t> </a:t>
            </a:r>
            <a:r>
              <a:rPr sz="1600" dirty="0" err="1"/>
              <a:t>отклонений</a:t>
            </a:r>
            <a:r>
              <a:rPr sz="1600" dirty="0"/>
              <a:t> = ΣΔ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всем</a:t>
            </a:r>
            <a:r>
              <a:rPr sz="1600" dirty="0"/>
              <a:t> 15 </a:t>
            </a:r>
            <a:r>
              <a:rPr sz="1600" dirty="0" err="1"/>
              <a:t>предметам</a:t>
            </a:r>
            <a:r>
              <a:rPr sz="1600" dirty="0"/>
              <a:t>.</a:t>
            </a:r>
          </a:p>
          <a:p>
            <a:pPr>
              <a:lnSpc>
                <a:spcPct val="200000"/>
              </a:lnSpc>
              <a:defRPr sz="18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Интерпретация</a:t>
            </a:r>
            <a:r>
              <a:rPr sz="1600" dirty="0"/>
              <a:t>: </a:t>
            </a:r>
            <a:r>
              <a:rPr sz="1600" dirty="0" err="1"/>
              <a:t>чем</a:t>
            </a:r>
            <a:r>
              <a:rPr sz="1600" dirty="0"/>
              <a:t> </a:t>
            </a:r>
            <a:r>
              <a:rPr sz="1600" dirty="0" err="1"/>
              <a:t>меньше</a:t>
            </a:r>
            <a:r>
              <a:rPr sz="1600" dirty="0"/>
              <a:t> </a:t>
            </a:r>
            <a:r>
              <a:rPr sz="1600" dirty="0" err="1"/>
              <a:t>сумма</a:t>
            </a:r>
            <a:r>
              <a:rPr sz="1600" dirty="0"/>
              <a:t>, </a:t>
            </a:r>
            <a:r>
              <a:rPr sz="1600" dirty="0" err="1"/>
              <a:t>тем</a:t>
            </a:r>
            <a:r>
              <a:rPr sz="1600" dirty="0"/>
              <a:t> </a:t>
            </a:r>
            <a:r>
              <a:rPr sz="1600" dirty="0" err="1"/>
              <a:t>ближе</a:t>
            </a:r>
            <a:r>
              <a:rPr sz="1600" dirty="0"/>
              <a:t> </a:t>
            </a:r>
            <a:r>
              <a:rPr sz="1600" dirty="0" err="1"/>
              <a:t>решение</a:t>
            </a:r>
            <a:r>
              <a:rPr sz="1600" dirty="0"/>
              <a:t> к </a:t>
            </a:r>
            <a:r>
              <a:rPr sz="1600" dirty="0" err="1"/>
              <a:t>экспертному</a:t>
            </a:r>
            <a:r>
              <a:rPr sz="1600" dirty="0"/>
              <a:t> </a:t>
            </a:r>
            <a:r>
              <a:rPr sz="1600" dirty="0" err="1"/>
              <a:t>эталону</a:t>
            </a:r>
            <a:r>
              <a:rPr sz="1600"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789920" cy="219456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37399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111827"/>
                </a:solidFill>
                <a:latin typeface="Calibri"/>
              </a:rPr>
              <a:t>Особенность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текущей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версии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листа</a:t>
            </a:r>
            <a:endParaRPr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241280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/>
              <a:t>В </a:t>
            </a:r>
            <a:r>
              <a:rPr sz="1600" dirty="0" err="1"/>
              <a:t>раздаточном</a:t>
            </a:r>
            <a:r>
              <a:rPr sz="1600" dirty="0"/>
              <a:t> </a:t>
            </a:r>
            <a:r>
              <a:rPr sz="1600" dirty="0" err="1"/>
              <a:t>листе</a:t>
            </a:r>
            <a:r>
              <a:rPr sz="1600" dirty="0"/>
              <a:t> </a:t>
            </a:r>
            <a:r>
              <a:rPr sz="1600" dirty="0" err="1"/>
              <a:t>присутствует</a:t>
            </a:r>
            <a:r>
              <a:rPr sz="1600" dirty="0"/>
              <a:t> </a:t>
            </a:r>
            <a:r>
              <a:rPr sz="1600" dirty="0" err="1"/>
              <a:t>предмет</a:t>
            </a:r>
            <a:r>
              <a:rPr sz="1600" dirty="0"/>
              <a:t> «</a:t>
            </a:r>
            <a:r>
              <a:rPr sz="1600" dirty="0" err="1"/>
              <a:t>Портативная</a:t>
            </a:r>
            <a:r>
              <a:rPr sz="1600" dirty="0"/>
              <a:t> </a:t>
            </a:r>
            <a:r>
              <a:rPr sz="1600" dirty="0" err="1"/>
              <a:t>солнечная</a:t>
            </a:r>
            <a:r>
              <a:rPr sz="1600" dirty="0"/>
              <a:t> </a:t>
            </a:r>
            <a:r>
              <a:rPr sz="1600" dirty="0" err="1"/>
              <a:t>батарея</a:t>
            </a:r>
            <a:r>
              <a:rPr sz="1600" dirty="0"/>
              <a:t>».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расчёта</a:t>
            </a:r>
            <a:r>
              <a:rPr sz="1600" dirty="0"/>
              <a:t> </a:t>
            </a:r>
            <a:r>
              <a:rPr sz="1600" dirty="0" err="1"/>
              <a:t>эталона</a:t>
            </a:r>
            <a:r>
              <a:rPr sz="1600" dirty="0"/>
              <a:t> </a:t>
            </a:r>
            <a:r>
              <a:rPr sz="1600" dirty="0" err="1"/>
              <a:t>он</a:t>
            </a:r>
            <a:r>
              <a:rPr sz="1600" dirty="0"/>
              <a:t> </a:t>
            </a:r>
            <a:r>
              <a:rPr sz="1600" dirty="0" err="1"/>
              <a:t>сопоставлен</a:t>
            </a:r>
            <a:r>
              <a:rPr sz="1600" dirty="0"/>
              <a:t> с </a:t>
            </a:r>
            <a:r>
              <a:rPr sz="1600" dirty="0" err="1"/>
              <a:t>типовым</a:t>
            </a:r>
            <a:r>
              <a:rPr sz="1600" dirty="0"/>
              <a:t> </a:t>
            </a:r>
            <a:r>
              <a:rPr sz="1600" dirty="0" err="1"/>
              <a:t>пунктом</a:t>
            </a:r>
            <a:r>
              <a:rPr sz="1600" dirty="0"/>
              <a:t> NASA «Portable heating unit» (</a:t>
            </a:r>
            <a:r>
              <a:rPr sz="1600" dirty="0" err="1"/>
              <a:t>ранг</a:t>
            </a:r>
            <a:r>
              <a:rPr sz="1600" dirty="0"/>
              <a:t> 13)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роли</a:t>
            </a:r>
            <a:r>
              <a:rPr sz="1600" dirty="0"/>
              <a:t> «</a:t>
            </a:r>
            <a:r>
              <a:rPr sz="1600" dirty="0" err="1"/>
              <a:t>вспомогательное</a:t>
            </a:r>
            <a:r>
              <a:rPr sz="1600" dirty="0"/>
              <a:t> </a:t>
            </a:r>
            <a:r>
              <a:rPr sz="1600" dirty="0" err="1"/>
              <a:t>обеспечение</a:t>
            </a:r>
            <a:r>
              <a:rPr sz="1600" dirty="0"/>
              <a:t>».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Предмет</a:t>
            </a:r>
            <a:r>
              <a:rPr sz="1600" dirty="0"/>
              <a:t> «</a:t>
            </a:r>
            <a:r>
              <a:rPr sz="1600" dirty="0" err="1"/>
              <a:t>Коротковолновый</a:t>
            </a:r>
            <a:r>
              <a:rPr sz="1600" dirty="0"/>
              <a:t> </a:t>
            </a:r>
            <a:r>
              <a:rPr sz="1600" dirty="0" err="1"/>
              <a:t>приёмник</a:t>
            </a:r>
            <a:r>
              <a:rPr sz="1600" dirty="0"/>
              <a:t> </a:t>
            </a:r>
            <a:r>
              <a:rPr sz="1600" dirty="0" err="1"/>
              <a:t>на</a:t>
            </a:r>
            <a:r>
              <a:rPr sz="1600" dirty="0"/>
              <a:t> </a:t>
            </a:r>
            <a:r>
              <a:rPr sz="1600" dirty="0" err="1"/>
              <a:t>солнечной</a:t>
            </a:r>
            <a:r>
              <a:rPr sz="1600" dirty="0"/>
              <a:t> </a:t>
            </a:r>
            <a:r>
              <a:rPr sz="1600" dirty="0" err="1"/>
              <a:t>энергии</a:t>
            </a:r>
            <a:r>
              <a:rPr sz="1600" dirty="0"/>
              <a:t>» </a:t>
            </a:r>
            <a:r>
              <a:rPr sz="1600" dirty="0" err="1"/>
              <a:t>соответствует</a:t>
            </a:r>
            <a:r>
              <a:rPr sz="1600" dirty="0"/>
              <a:t> </a:t>
            </a:r>
            <a:r>
              <a:rPr sz="1600" dirty="0" err="1"/>
              <a:t>пункту</a:t>
            </a:r>
            <a:r>
              <a:rPr sz="1600" dirty="0"/>
              <a:t> NASA «Solar-powered receiver/transmitter» (</a:t>
            </a:r>
            <a:r>
              <a:rPr sz="1600" dirty="0" err="1"/>
              <a:t>ранг</a:t>
            </a:r>
            <a:r>
              <a:rPr sz="1600" dirty="0"/>
              <a:t> 5).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4. Итоги: суммарная ошибка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577840" cy="4958242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621" y="1051560"/>
            <a:ext cx="21075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 err="1">
                <a:solidFill>
                  <a:srgbClr val="111827"/>
                </a:solidFill>
                <a:latin typeface="Calibri"/>
              </a:rPr>
              <a:t>Сумма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отклонений</a:t>
            </a:r>
            <a:endParaRPr b="1" dirty="0">
              <a:solidFill>
                <a:srgbClr val="111827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71321"/>
              </p:ext>
            </p:extLst>
          </p:nvPr>
        </p:nvGraphicFramePr>
        <p:xfrm>
          <a:off x="914400" y="150876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Участник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Сумма отклонений (чем меньше — тем лучше)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Василий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Алексей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Константин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Андрей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 err="1"/>
                        <a:t>Группа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914400"/>
            <a:ext cx="4937760" cy="4958242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33971" y="1051560"/>
            <a:ext cx="17279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111827"/>
                </a:solidFill>
                <a:latin typeface="Calibri"/>
              </a:rPr>
              <a:t>Интерпретация</a:t>
            </a:r>
            <a:endParaRPr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33970" y="1417320"/>
            <a:ext cx="4313149" cy="445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Лучший</a:t>
            </a:r>
            <a:r>
              <a:rPr sz="1600" b="1" dirty="0"/>
              <a:t> </a:t>
            </a:r>
            <a:r>
              <a:rPr sz="1600" b="1" dirty="0" err="1"/>
              <a:t>индивидуальный</a:t>
            </a:r>
            <a:r>
              <a:rPr sz="1600" b="1" dirty="0"/>
              <a:t> </a:t>
            </a:r>
            <a:r>
              <a:rPr sz="1600" b="1" dirty="0" err="1"/>
              <a:t>результат</a:t>
            </a:r>
            <a:r>
              <a:rPr sz="1600" b="1" dirty="0"/>
              <a:t>: </a:t>
            </a:r>
            <a:r>
              <a:rPr lang="ru-RU" sz="1600" dirty="0"/>
              <a:t>Алексей</a:t>
            </a:r>
            <a:r>
              <a:rPr sz="1600" dirty="0"/>
              <a:t> (24).</a:t>
            </a:r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Групповой</a:t>
            </a:r>
            <a:r>
              <a:rPr sz="1600" b="1" dirty="0"/>
              <a:t> </a:t>
            </a:r>
            <a:r>
              <a:rPr sz="1600" b="1" dirty="0" err="1"/>
              <a:t>результат</a:t>
            </a:r>
            <a:r>
              <a:rPr sz="1600" b="1" dirty="0"/>
              <a:t>: </a:t>
            </a:r>
            <a:r>
              <a:rPr sz="1600" dirty="0"/>
              <a:t>16 — </a:t>
            </a:r>
            <a:r>
              <a:rPr sz="1600" dirty="0" err="1"/>
              <a:t>лучше</a:t>
            </a:r>
            <a:r>
              <a:rPr sz="1600" dirty="0"/>
              <a:t> </a:t>
            </a:r>
            <a:r>
              <a:rPr sz="1600" dirty="0" err="1"/>
              <a:t>среднего</a:t>
            </a:r>
            <a:r>
              <a:rPr sz="1600" dirty="0"/>
              <a:t> </a:t>
            </a:r>
            <a:r>
              <a:rPr sz="1600" dirty="0" err="1"/>
              <a:t>индивидуального</a:t>
            </a:r>
            <a:r>
              <a:rPr sz="1600" dirty="0"/>
              <a:t> (30.5).</a:t>
            </a:r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Наблюдение</a:t>
            </a:r>
            <a:r>
              <a:rPr sz="1600" b="1" dirty="0"/>
              <a:t>: </a:t>
            </a:r>
            <a:r>
              <a:rPr sz="1600" dirty="0" err="1"/>
              <a:t>консенсус</a:t>
            </a:r>
            <a:r>
              <a:rPr sz="1600" dirty="0"/>
              <a:t> </a:t>
            </a:r>
            <a:r>
              <a:rPr sz="1600" dirty="0" err="1"/>
              <a:t>снизил</a:t>
            </a:r>
            <a:r>
              <a:rPr sz="1600" dirty="0"/>
              <a:t> «</a:t>
            </a:r>
            <a:r>
              <a:rPr sz="1600" dirty="0" err="1"/>
              <a:t>грубые</a:t>
            </a:r>
            <a:r>
              <a:rPr sz="1600" dirty="0"/>
              <a:t>» </a:t>
            </a:r>
            <a:r>
              <a:rPr sz="1600" dirty="0" err="1"/>
              <a:t>ошибки</a:t>
            </a:r>
            <a:r>
              <a:rPr sz="1600" dirty="0"/>
              <a:t> </a:t>
            </a:r>
            <a:r>
              <a:rPr sz="1600" dirty="0" err="1"/>
              <a:t>по</a:t>
            </a:r>
            <a:r>
              <a:rPr sz="1600" dirty="0"/>
              <a:t> </a:t>
            </a:r>
            <a:r>
              <a:rPr sz="1600" dirty="0" err="1"/>
              <a:t>критическим</a:t>
            </a:r>
            <a:r>
              <a:rPr sz="1600" dirty="0"/>
              <a:t> </a:t>
            </a:r>
            <a:r>
              <a:rPr sz="1600" dirty="0" err="1"/>
              <a:t>ресурсам</a:t>
            </a:r>
            <a:r>
              <a:rPr sz="1600" dirty="0"/>
              <a:t> (</a:t>
            </a:r>
            <a:r>
              <a:rPr sz="1600" dirty="0" err="1"/>
              <a:t>кислород</a:t>
            </a:r>
            <a:r>
              <a:rPr sz="1600" dirty="0"/>
              <a:t>/</a:t>
            </a:r>
            <a:r>
              <a:rPr sz="1600" dirty="0" err="1"/>
              <a:t>вода</a:t>
            </a:r>
            <a:r>
              <a:rPr sz="1600" dirty="0"/>
              <a:t>/</a:t>
            </a:r>
            <a:r>
              <a:rPr sz="1600" dirty="0" err="1"/>
              <a:t>навигация</a:t>
            </a:r>
            <a:r>
              <a:rPr sz="1600" dirty="0"/>
              <a:t>).</a:t>
            </a:r>
          </a:p>
          <a:p>
            <a:pPr>
              <a:lnSpc>
                <a:spcPct val="20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b="1" dirty="0" err="1"/>
              <a:t>Вывод</a:t>
            </a:r>
            <a:r>
              <a:rPr sz="1600" b="1" dirty="0"/>
              <a:t>: </a:t>
            </a:r>
            <a:r>
              <a:rPr sz="1600" dirty="0" err="1"/>
              <a:t>групповое</a:t>
            </a:r>
            <a:r>
              <a:rPr sz="1600" dirty="0"/>
              <a:t> </a:t>
            </a:r>
            <a:r>
              <a:rPr sz="1600" dirty="0" err="1"/>
              <a:t>обсуждение</a:t>
            </a:r>
            <a:r>
              <a:rPr sz="1600" dirty="0"/>
              <a:t> </a:t>
            </a:r>
            <a:r>
              <a:rPr sz="1600" dirty="0" err="1"/>
              <a:t>дало</a:t>
            </a:r>
            <a:r>
              <a:rPr sz="1600" dirty="0"/>
              <a:t> </a:t>
            </a:r>
            <a:r>
              <a:rPr sz="1600" dirty="0" err="1"/>
              <a:t>положительную</a:t>
            </a:r>
            <a:r>
              <a:rPr sz="1600" dirty="0"/>
              <a:t> </a:t>
            </a:r>
            <a:r>
              <a:rPr sz="1600" dirty="0" err="1"/>
              <a:t>синергию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5. Синергия группы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47548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490390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dirty="0" err="1">
                <a:solidFill>
                  <a:srgbClr val="111827"/>
                </a:solidFill>
                <a:latin typeface="Calibri"/>
              </a:rPr>
              <a:t>Улучшение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относительно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группового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решения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508760"/>
          <a:ext cx="5303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Участник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Улучшение vs группа (индив. − группа)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Василий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Алексей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Константин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Андрей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1508760"/>
            <a:ext cx="4572000" cy="374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Положительное</a:t>
            </a:r>
            <a:r>
              <a:rPr sz="1600" dirty="0"/>
              <a:t> </a:t>
            </a:r>
            <a:r>
              <a:rPr sz="1600" dirty="0" err="1"/>
              <a:t>значение</a:t>
            </a:r>
            <a:r>
              <a:rPr sz="1600" dirty="0"/>
              <a:t> </a:t>
            </a:r>
            <a:r>
              <a:rPr sz="1600" dirty="0" err="1"/>
              <a:t>означает</a:t>
            </a:r>
            <a:r>
              <a:rPr sz="1600" dirty="0"/>
              <a:t>, </a:t>
            </a:r>
            <a:r>
              <a:rPr sz="1600" dirty="0" err="1"/>
              <a:t>что</a:t>
            </a:r>
            <a:r>
              <a:rPr sz="1600" dirty="0"/>
              <a:t> </a:t>
            </a:r>
            <a:r>
              <a:rPr sz="1600" dirty="0" err="1"/>
              <a:t>группа</a:t>
            </a:r>
            <a:r>
              <a:rPr sz="1600" dirty="0"/>
              <a:t> </a:t>
            </a:r>
            <a:r>
              <a:rPr sz="1600" dirty="0" err="1"/>
              <a:t>решила</a:t>
            </a:r>
            <a:r>
              <a:rPr sz="1600" dirty="0"/>
              <a:t> </a:t>
            </a:r>
            <a:r>
              <a:rPr sz="1600" dirty="0" err="1"/>
              <a:t>задачу</a:t>
            </a:r>
            <a:r>
              <a:rPr sz="1600" dirty="0"/>
              <a:t> </a:t>
            </a:r>
            <a:r>
              <a:rPr sz="1600" dirty="0" err="1"/>
              <a:t>точнее</a:t>
            </a:r>
            <a:r>
              <a:rPr sz="1600" dirty="0"/>
              <a:t>, </a:t>
            </a:r>
            <a:r>
              <a:rPr sz="1600" dirty="0" err="1"/>
              <a:t>чем</a:t>
            </a:r>
            <a:r>
              <a:rPr sz="1600" dirty="0"/>
              <a:t> </a:t>
            </a:r>
            <a:r>
              <a:rPr sz="1600" dirty="0" err="1"/>
              <a:t>участник</a:t>
            </a:r>
            <a:r>
              <a:rPr sz="1600" dirty="0"/>
              <a:t> </a:t>
            </a:r>
            <a:r>
              <a:rPr sz="1600" dirty="0" err="1"/>
              <a:t>индивидуально</a:t>
            </a:r>
            <a:r>
              <a:rPr sz="1600" dirty="0"/>
              <a:t>.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 err="1"/>
              <a:t>Причины</a:t>
            </a:r>
            <a:r>
              <a:rPr sz="1600" dirty="0"/>
              <a:t> </a:t>
            </a:r>
            <a:r>
              <a:rPr sz="1600" dirty="0" err="1"/>
              <a:t>улучшения</a:t>
            </a:r>
            <a:r>
              <a:rPr sz="1600" dirty="0"/>
              <a:t>, </a:t>
            </a:r>
            <a:r>
              <a:rPr sz="1600" dirty="0" err="1"/>
              <a:t>зафиксированные</a:t>
            </a:r>
            <a:r>
              <a:rPr sz="1600" dirty="0"/>
              <a:t> в </a:t>
            </a:r>
            <a:r>
              <a:rPr sz="1600" dirty="0" err="1"/>
              <a:t>обсуждении</a:t>
            </a:r>
            <a:r>
              <a:rPr sz="1600" dirty="0"/>
              <a:t>: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обмен</a:t>
            </a:r>
            <a:r>
              <a:rPr sz="1600" dirty="0"/>
              <a:t> </a:t>
            </a:r>
            <a:r>
              <a:rPr sz="1600" dirty="0" err="1"/>
              <a:t>знаниями</a:t>
            </a:r>
            <a:r>
              <a:rPr sz="1600" dirty="0"/>
              <a:t> о </a:t>
            </a:r>
            <a:r>
              <a:rPr sz="1600" dirty="0" err="1"/>
              <a:t>физических</a:t>
            </a:r>
            <a:r>
              <a:rPr sz="1600" dirty="0"/>
              <a:t> </a:t>
            </a:r>
            <a:r>
              <a:rPr sz="1600" dirty="0" err="1"/>
              <a:t>условиях</a:t>
            </a:r>
            <a:r>
              <a:rPr sz="1600" dirty="0"/>
              <a:t> </a:t>
            </a:r>
            <a:r>
              <a:rPr sz="1600" dirty="0" err="1"/>
              <a:t>Луны</a:t>
            </a:r>
            <a:r>
              <a:rPr sz="1600" dirty="0"/>
              <a:t>;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согласование</a:t>
            </a:r>
            <a:r>
              <a:rPr sz="1600" dirty="0"/>
              <a:t> </a:t>
            </a:r>
            <a:r>
              <a:rPr sz="1600" dirty="0" err="1"/>
              <a:t>критериев</a:t>
            </a:r>
            <a:r>
              <a:rPr sz="1600" dirty="0"/>
              <a:t> «</a:t>
            </a:r>
            <a:r>
              <a:rPr sz="1600" dirty="0" err="1"/>
              <a:t>жизненно</a:t>
            </a:r>
            <a:r>
              <a:rPr sz="1600" dirty="0"/>
              <a:t> </a:t>
            </a:r>
            <a:r>
              <a:rPr sz="1600" dirty="0" err="1"/>
              <a:t>важно</a:t>
            </a:r>
            <a:r>
              <a:rPr sz="1600" dirty="0"/>
              <a:t> → </a:t>
            </a:r>
            <a:r>
              <a:rPr sz="1600" dirty="0" err="1"/>
              <a:t>важно</a:t>
            </a:r>
            <a:r>
              <a:rPr sz="1600" dirty="0"/>
              <a:t> → </a:t>
            </a:r>
            <a:r>
              <a:rPr sz="1600" dirty="0" err="1"/>
              <a:t>вторично</a:t>
            </a:r>
            <a:r>
              <a:rPr sz="1600" dirty="0"/>
              <a:t>»;</a:t>
            </a:r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1600" dirty="0"/>
              <a:t>• </a:t>
            </a:r>
            <a:r>
              <a:rPr sz="1600" dirty="0" err="1"/>
              <a:t>устранение</a:t>
            </a:r>
            <a:r>
              <a:rPr sz="1600" dirty="0"/>
              <a:t> </a:t>
            </a:r>
            <a:r>
              <a:rPr sz="1600" dirty="0" err="1"/>
              <a:t>интуитивных</a:t>
            </a:r>
            <a:r>
              <a:rPr sz="1600" dirty="0"/>
              <a:t> </a:t>
            </a:r>
            <a:r>
              <a:rPr sz="1600" dirty="0" err="1"/>
              <a:t>ошибок</a:t>
            </a:r>
            <a:r>
              <a:rPr sz="1600" dirty="0"/>
              <a:t> (</a:t>
            </a:r>
            <a:r>
              <a:rPr sz="1600" dirty="0" err="1"/>
              <a:t>спички</a:t>
            </a:r>
            <a:r>
              <a:rPr sz="1600" dirty="0"/>
              <a:t>/</a:t>
            </a:r>
            <a:r>
              <a:rPr sz="1600" dirty="0" err="1"/>
              <a:t>компас</a:t>
            </a:r>
            <a:r>
              <a:rPr sz="1600" dirty="0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6. Групповая таблица решения (NASA vs Группа)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489204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432" y="1051560"/>
            <a:ext cx="20227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 err="1">
                <a:solidFill>
                  <a:srgbClr val="111827"/>
                </a:solidFill>
                <a:latin typeface="Calibri"/>
              </a:rPr>
              <a:t>Полная</a:t>
            </a:r>
            <a:r>
              <a:rPr b="1" dirty="0">
                <a:solidFill>
                  <a:srgbClr val="111827"/>
                </a:solidFill>
                <a:latin typeface="Calibri"/>
              </a:rPr>
              <a:t> </a:t>
            </a:r>
            <a:r>
              <a:rPr b="1" dirty="0" err="1">
                <a:solidFill>
                  <a:srgbClr val="111827"/>
                </a:solidFill>
                <a:latin typeface="Calibri"/>
              </a:rPr>
              <a:t>раскладка</a:t>
            </a:r>
            <a:endParaRPr b="1" dirty="0">
              <a:solidFill>
                <a:srgbClr val="111827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41732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Предмет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Группа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Кислород (2×100 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Вода (5 гал)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Карта звёзд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Концентрат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Приёмник КВ (солнеч.)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Верёвка 50 фут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Аптечка+иглы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Парашютный шёлк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Ракеты сигн.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Пистолеты .45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Сухое молоко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Солнечн. батарея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Компас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 err="1"/>
                        <a:t>Спички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400800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Calibri"/>
              </a:rPr>
              <a:t>Δ = |ранг группы − ранг NASA|; сумма Δ по таблице = 16.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67466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7.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Индивидуальные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таблицы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решения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lang="ru-RU" sz="2000" b="1" dirty="0">
                <a:solidFill>
                  <a:srgbClr val="FFFFFF"/>
                </a:solidFill>
                <a:latin typeface="Calibri"/>
              </a:rPr>
              <a:t>Василий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и </a:t>
            </a:r>
            <a:r>
              <a:rPr lang="ru-RU" sz="2000" b="1" dirty="0">
                <a:solidFill>
                  <a:srgbClr val="FFFFFF"/>
                </a:solidFill>
                <a:latin typeface="Calibri"/>
              </a:rPr>
              <a:t>Алексей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57800" cy="4998398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8418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 dirty="0">
                <a:solidFill>
                  <a:srgbClr val="111827"/>
                </a:solidFill>
                <a:latin typeface="Calibri"/>
              </a:rPr>
              <a:t>Василий</a:t>
            </a:r>
            <a:endParaRPr sz="1400" b="1" dirty="0">
              <a:solidFill>
                <a:srgbClr val="111827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417320"/>
          <a:ext cx="4709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Предмет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Василий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Кислород (2×100 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Вода (5 гал)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Карта звёзд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Концентрат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Приёмник КВ (солнеч.)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Верёвка 50 фут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Аптечка+иглы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Парашютный шёлк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Ракеты сигн.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Пистолеты .45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Сухое молоко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Солнечн. батарея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Компас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Спички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914399"/>
            <a:ext cx="5257800" cy="4998397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8280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 dirty="0">
                <a:solidFill>
                  <a:srgbClr val="111827"/>
                </a:solidFill>
                <a:latin typeface="Calibri"/>
              </a:rPr>
              <a:t>Алексей</a:t>
            </a:r>
            <a:endParaRPr sz="1400" b="1" dirty="0">
              <a:solidFill>
                <a:srgbClr val="111827"/>
              </a:solidFill>
              <a:latin typeface="Calibri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417320"/>
          <a:ext cx="4709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Предмет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Алексей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Кислород (2×100 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Вода (5 гал)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Карта звёзд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Концентрат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Приёмник КВ (солнеч.)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Верёвка 50 фут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Аптечка+иглы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Парашютный шёлк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Ракеты сигн.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Пистолеты .45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Сухое молоко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Солнечн. батарея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 err="1"/>
                        <a:t>Компас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 err="1"/>
                        <a:t>Спички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700967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7.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Индивидуальные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таблицы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решения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lang="ru-RU" sz="2000" b="1" dirty="0">
                <a:solidFill>
                  <a:srgbClr val="FFFFFF"/>
                </a:solidFill>
                <a:latin typeface="Calibri"/>
              </a:rPr>
              <a:t>Константин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и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Андрей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914399"/>
            <a:ext cx="5257800" cy="5108265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765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1400" b="1" dirty="0">
                <a:solidFill>
                  <a:srgbClr val="111827"/>
                </a:solidFill>
                <a:latin typeface="Calibri"/>
              </a:rPr>
              <a:t>Константин</a:t>
            </a:r>
            <a:endParaRPr sz="1400" b="1" dirty="0">
              <a:solidFill>
                <a:srgbClr val="111827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417320"/>
          <a:ext cx="4709160" cy="4339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 err="1"/>
                        <a:t>Предмет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lang="ru-RU" dirty="0"/>
                        <a:t>Константин</a:t>
                      </a:r>
                      <a:endParaRPr dirty="0"/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Кислород (2×100 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Вода (5 гал)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Карта звёзд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Концентрат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Приёмник КВ (солнеч.)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Верёвка 50 фут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Аптечка+иглы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Парашютный шёлк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Ракеты сигн.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Пистолеты .45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Сухое молоко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Солнечн. батарея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Компас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Спички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72200" y="914400"/>
            <a:ext cx="5257800" cy="5108264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Calibri"/>
              </a:rPr>
              <a:t>Андрей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417320"/>
          <a:ext cx="47091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Предмет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Андрей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Кислород (2×100 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Вода (5 гал)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Карта звёзд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Концентрат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Приёмник КВ (солнеч.)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Верёвка 50 фут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Аптечка+иглы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Парашютный шёлк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Плот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Ракеты сигн.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Пистолеты .45 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Сухое молоко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Солнечн. батарея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Компас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Спички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11827"/>
                          </a:solidFill>
                          <a:latin typeface="Calibri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8. Рефлексия по итогам обсуждения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233172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Calibri"/>
              </a:rPr>
              <a:t>На что опирались при принятии решений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Физиология: первичность дыхания → кислород, затем водный баланс → вода.</a:t>
            </a:r>
          </a:p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Навигация: необходимость направления к точке встречи → карта звёзд.</a:t>
            </a:r>
          </a:p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Коммуникации/сигнал: приёмник и сигнальные ракеты рассматривались как средства обнаружения и координации.</a:t>
            </a:r>
          </a:p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Транспортировка/защита: плот и парашютный шёлк — как вспомогательные средства (перевозка/тент/укрытие).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789920" cy="22402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Calibri"/>
              </a:rPr>
              <a:t>Что бы изменили в подходе (если повторить)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Формализовали бы критерии заранее (вес: «жизненно важно»/«поддерживает движение»/«вторично»).</a:t>
            </a:r>
          </a:p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Назначили бы таймбоксы на спорные пункты и фиксировали «сильные/слабые» аргументы письменно.</a:t>
            </a:r>
          </a:p>
          <a:p>
            <a:pPr>
              <a:defRPr sz="1500">
                <a:solidFill>
                  <a:srgbClr val="111827"/>
                </a:solidFill>
                <a:latin typeface="Calibri"/>
              </a:defRPr>
            </a:pPr>
            <a:r>
              <a:t>Проверяли бы решение через контрольные вопросы: «что обеспечивает дыхание? ориентацию? связь? защиту?»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9. Выводы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47548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0515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Calibri"/>
              </a:rPr>
              <a:t>Преимущества и ограничения группового решения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t>Преимущества: объединение знаний → снижение ошибок; взаимная проверка логики; рост обоснованности решения.</a:t>
            </a:r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t>Ограничения: риск доминирования мнений; затраты времени на согласование; возможный «компромисс вместо лучшего».</a:t>
            </a:r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t>По результату (пример): групповая ошибка 16 &lt; средняя индивидуальная 30.5 → положительный эффект группового принятия решения.</a:t>
            </a:r>
          </a:p>
          <a:p>
            <a:pPr>
              <a:defRPr sz="1800">
                <a:solidFill>
                  <a:srgbClr val="111827"/>
                </a:solidFill>
                <a:latin typeface="Calibri"/>
              </a:defRPr>
            </a:pPr>
            <a:r>
              <a:t>Практический вывод для управленческих решений: консенсус эффективен, если есть модерация, критерии и контроль времени.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"/>
            <a:ext cx="12192000" cy="5486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50716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Calibri"/>
              </a:rPr>
              <a:t>Приложение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полный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перечень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предметов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789920" cy="47548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34734" y="1014746"/>
            <a:ext cx="203485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111827"/>
                </a:solidFill>
                <a:latin typeface="Calibri"/>
              </a:rPr>
              <a:t>15 </a:t>
            </a:r>
            <a:r>
              <a:rPr sz="2400" b="1" dirty="0" err="1">
                <a:solidFill>
                  <a:srgbClr val="111827"/>
                </a:solidFill>
                <a:latin typeface="Calibri"/>
              </a:rPr>
              <a:t>предметов</a:t>
            </a:r>
            <a:endParaRPr sz="2400" b="1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12064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1. </a:t>
            </a:r>
            <a:r>
              <a:rPr sz="2000" dirty="0" err="1"/>
              <a:t>Коробок</a:t>
            </a:r>
            <a:r>
              <a:rPr sz="2000" dirty="0"/>
              <a:t> </a:t>
            </a:r>
            <a:r>
              <a:rPr sz="2000" dirty="0" err="1"/>
              <a:t>спичек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2. </a:t>
            </a:r>
            <a:r>
              <a:rPr sz="2000" dirty="0" err="1"/>
              <a:t>Пищевой</a:t>
            </a:r>
            <a:r>
              <a:rPr sz="2000" dirty="0"/>
              <a:t> </a:t>
            </a:r>
            <a:r>
              <a:rPr sz="2000" dirty="0" err="1"/>
              <a:t>концентрат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3. 50 </a:t>
            </a:r>
            <a:r>
              <a:rPr sz="2000" dirty="0" err="1"/>
              <a:t>футов</a:t>
            </a:r>
            <a:r>
              <a:rPr sz="2000" dirty="0"/>
              <a:t> </a:t>
            </a:r>
            <a:r>
              <a:rPr sz="2000" dirty="0" err="1"/>
              <a:t>нейлоновой</a:t>
            </a:r>
            <a:r>
              <a:rPr sz="2000" dirty="0"/>
              <a:t> </a:t>
            </a:r>
            <a:r>
              <a:rPr sz="2000" dirty="0" err="1"/>
              <a:t>верёвки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4. </a:t>
            </a:r>
            <a:r>
              <a:rPr sz="2000" dirty="0" err="1"/>
              <a:t>Парашютный</a:t>
            </a:r>
            <a:r>
              <a:rPr sz="2000" dirty="0"/>
              <a:t> </a:t>
            </a:r>
            <a:r>
              <a:rPr sz="2000" dirty="0" err="1"/>
              <a:t>шёлк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5. </a:t>
            </a:r>
            <a:r>
              <a:rPr sz="2000" dirty="0" err="1"/>
              <a:t>Портативная</a:t>
            </a:r>
            <a:r>
              <a:rPr sz="2000" dirty="0"/>
              <a:t> </a:t>
            </a:r>
            <a:r>
              <a:rPr sz="2000" dirty="0" err="1"/>
              <a:t>солнечная</a:t>
            </a:r>
            <a:r>
              <a:rPr sz="2000" dirty="0"/>
              <a:t> </a:t>
            </a:r>
            <a:r>
              <a:rPr sz="2000" dirty="0" err="1"/>
              <a:t>батарея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6. 2 </a:t>
            </a:r>
            <a:r>
              <a:rPr sz="2000" dirty="0" err="1"/>
              <a:t>пистолета</a:t>
            </a:r>
            <a:r>
              <a:rPr sz="2000" dirty="0"/>
              <a:t> 45 </a:t>
            </a:r>
            <a:r>
              <a:rPr sz="2000" dirty="0" err="1"/>
              <a:t>калибра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7. 1 </a:t>
            </a:r>
            <a:r>
              <a:rPr sz="2000" dirty="0" err="1"/>
              <a:t>коробка</a:t>
            </a:r>
            <a:r>
              <a:rPr sz="2000" dirty="0"/>
              <a:t> </a:t>
            </a:r>
            <a:r>
              <a:rPr sz="2000" dirty="0" err="1"/>
              <a:t>сухого</a:t>
            </a:r>
            <a:r>
              <a:rPr sz="2000" dirty="0"/>
              <a:t> </a:t>
            </a:r>
            <a:r>
              <a:rPr sz="2000" dirty="0" err="1"/>
              <a:t>молока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8. </a:t>
            </a:r>
            <a:r>
              <a:rPr sz="2000" dirty="0" err="1"/>
              <a:t>Две</a:t>
            </a:r>
            <a:r>
              <a:rPr sz="2000" dirty="0"/>
              <a:t> </a:t>
            </a:r>
            <a:r>
              <a:rPr sz="2000" dirty="0" err="1"/>
              <a:t>стофунтовых</a:t>
            </a:r>
            <a:r>
              <a:rPr sz="2000" dirty="0"/>
              <a:t> </a:t>
            </a:r>
            <a:r>
              <a:rPr sz="2000" dirty="0" err="1"/>
              <a:t>ёмкости</a:t>
            </a:r>
            <a:r>
              <a:rPr sz="2000" dirty="0"/>
              <a:t> </a:t>
            </a:r>
            <a:r>
              <a:rPr sz="2000" dirty="0" err="1"/>
              <a:t>кислорода</a:t>
            </a:r>
            <a:endParaRPr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5852160" y="1417320"/>
            <a:ext cx="5303520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9. </a:t>
            </a:r>
            <a:r>
              <a:rPr sz="2000" dirty="0" err="1"/>
              <a:t>Карта</a:t>
            </a:r>
            <a:r>
              <a:rPr sz="2000" dirty="0"/>
              <a:t> </a:t>
            </a:r>
            <a:r>
              <a:rPr sz="2000" dirty="0" err="1"/>
              <a:t>звёздного</a:t>
            </a:r>
            <a:r>
              <a:rPr sz="2000" dirty="0"/>
              <a:t> </a:t>
            </a:r>
            <a:r>
              <a:rPr sz="2000" dirty="0" err="1"/>
              <a:t>неба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10. </a:t>
            </a:r>
            <a:r>
              <a:rPr sz="2000" dirty="0" err="1"/>
              <a:t>Самонадувающийся</a:t>
            </a:r>
            <a:r>
              <a:rPr sz="2000" dirty="0"/>
              <a:t> </a:t>
            </a:r>
            <a:r>
              <a:rPr sz="2000" dirty="0" err="1"/>
              <a:t>плот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11. </a:t>
            </a:r>
            <a:r>
              <a:rPr sz="2000" dirty="0" err="1"/>
              <a:t>Магнитный</a:t>
            </a:r>
            <a:r>
              <a:rPr sz="2000" dirty="0"/>
              <a:t> </a:t>
            </a:r>
            <a:r>
              <a:rPr sz="2000" dirty="0" err="1"/>
              <a:t>компас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12. 5 </a:t>
            </a:r>
            <a:r>
              <a:rPr sz="2000" dirty="0" err="1"/>
              <a:t>галлонов</a:t>
            </a:r>
            <a:r>
              <a:rPr sz="2000" dirty="0"/>
              <a:t> </a:t>
            </a:r>
            <a:r>
              <a:rPr sz="2000" dirty="0" err="1"/>
              <a:t>воды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13. </a:t>
            </a:r>
            <a:r>
              <a:rPr sz="2000" dirty="0" err="1"/>
              <a:t>Сигнальные</a:t>
            </a:r>
            <a:r>
              <a:rPr sz="2000" dirty="0"/>
              <a:t> </a:t>
            </a:r>
            <a:r>
              <a:rPr sz="2000" dirty="0" err="1"/>
              <a:t>ракеты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14. </a:t>
            </a:r>
            <a:r>
              <a:rPr sz="2000" dirty="0" err="1"/>
              <a:t>Аптечка</a:t>
            </a:r>
            <a:r>
              <a:rPr sz="2000" dirty="0"/>
              <a:t> с </a:t>
            </a:r>
            <a:r>
              <a:rPr sz="2000" dirty="0" err="1"/>
              <a:t>иглами</a:t>
            </a:r>
            <a:r>
              <a:rPr sz="2000" dirty="0"/>
              <a:t> </a:t>
            </a:r>
            <a:r>
              <a:rPr sz="2000" dirty="0" err="1"/>
              <a:t>для</a:t>
            </a:r>
            <a:r>
              <a:rPr sz="2000" dirty="0"/>
              <a:t> </a:t>
            </a:r>
            <a:r>
              <a:rPr sz="2000" dirty="0" err="1"/>
              <a:t>инъекций</a:t>
            </a:r>
            <a:endParaRPr sz="2000" dirty="0"/>
          </a:p>
          <a:p>
            <a:pPr>
              <a:lnSpc>
                <a:spcPct val="150000"/>
              </a:lnSpc>
              <a:defRPr sz="1400">
                <a:solidFill>
                  <a:srgbClr val="111827"/>
                </a:solidFill>
                <a:latin typeface="Calibri"/>
              </a:defRPr>
            </a:pPr>
            <a:r>
              <a:rPr sz="2000" dirty="0"/>
              <a:t>15. </a:t>
            </a:r>
            <a:r>
              <a:rPr sz="2000" dirty="0" err="1"/>
              <a:t>Коротковолновый</a:t>
            </a:r>
            <a:r>
              <a:rPr sz="2000" dirty="0"/>
              <a:t> </a:t>
            </a:r>
            <a:r>
              <a:rPr sz="2000" dirty="0" err="1"/>
              <a:t>приёмник</a:t>
            </a:r>
            <a:r>
              <a:rPr sz="2000" dirty="0"/>
              <a:t> </a:t>
            </a:r>
            <a:r>
              <a:rPr sz="2000" dirty="0" err="1"/>
              <a:t>на</a:t>
            </a:r>
            <a:r>
              <a:rPr sz="2000" dirty="0"/>
              <a:t> </a:t>
            </a:r>
            <a:r>
              <a:rPr sz="2000" dirty="0" err="1"/>
              <a:t>солнечной</a:t>
            </a:r>
            <a:r>
              <a:rPr sz="2000" dirty="0"/>
              <a:t> </a:t>
            </a:r>
            <a:r>
              <a:rPr sz="2000" dirty="0" err="1"/>
              <a:t>энергии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1325</Words>
  <Application>Microsoft Office PowerPoint</Application>
  <PresentationFormat>Широкоэкранный</PresentationFormat>
  <Paragraphs>430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H4RD</cp:lastModifiedBy>
  <cp:revision>3</cp:revision>
  <dcterms:created xsi:type="dcterms:W3CDTF">2013-01-27T09:14:16Z</dcterms:created>
  <dcterms:modified xsi:type="dcterms:W3CDTF">2026-02-23T13:36:01Z</dcterms:modified>
  <cp:category/>
</cp:coreProperties>
</file>