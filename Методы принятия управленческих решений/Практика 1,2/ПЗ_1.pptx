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9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53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20869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0972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Практическое задание №1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Методы принятия управленческих решений (МПУР)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22960" y="2606040"/>
            <a:ext cx="10607040" cy="1280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761488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Кейс: </a:t>
            </a:r>
            <a:r>
              <a:rPr lang="ru-RU" sz="22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</a:t>
            </a:r>
            <a:r>
              <a:rPr lang="en-US" sz="2200" dirty="0" err="1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ерез</a:t>
            </a:r>
            <a:r>
              <a:rPr lang="en-US" sz="22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 дня показ летней коллекции.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постоянных моделей выбыла из‑за пищевого отравления.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6172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ru-RU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РТУ МИРЭА, Москва – 2026</a:t>
            </a:r>
            <a:endParaRPr lang="en-US" sz="1600" dirty="0"/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F5AA2956-B712-4FF1-BD87-D8C951C97191}"/>
              </a:ext>
            </a:extLst>
          </p:cNvPr>
          <p:cNvSpPr/>
          <p:nvPr/>
        </p:nvSpPr>
        <p:spPr>
          <a:xfrm>
            <a:off x="792327" y="4096512"/>
            <a:ext cx="10607040" cy="1280160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8049EDBE-2E0C-4E15-82FC-7C6DF6E095A8}"/>
              </a:ext>
            </a:extLst>
          </p:cNvPr>
          <p:cNvSpPr/>
          <p:nvPr/>
        </p:nvSpPr>
        <p:spPr>
          <a:xfrm>
            <a:off x="1097280" y="4253679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22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Выполнили студенты группы БИСО-02-22</a:t>
            </a:r>
          </a:p>
          <a:p>
            <a:pPr marL="0" indent="0">
              <a:buNone/>
            </a:pPr>
            <a:r>
              <a:rPr lang="ru-RU" sz="22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Зубарев В.С, </a:t>
            </a:r>
            <a:r>
              <a:rPr lang="ru-RU" sz="2200" dirty="0" err="1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Рыженин</a:t>
            </a:r>
            <a:r>
              <a:rPr lang="ru-RU" sz="22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А.А, </a:t>
            </a:r>
            <a:r>
              <a:rPr lang="ru-RU" sz="2200" dirty="0" err="1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Савченоков</a:t>
            </a:r>
            <a:r>
              <a:rPr lang="ru-RU" sz="220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22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К.В</a:t>
            </a:r>
            <a:r>
              <a:rPr lang="ru-RU" sz="220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Хохлов </a:t>
            </a:r>
            <a:r>
              <a:rPr lang="ru-RU" sz="22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А.И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 и роли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53949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26187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Распределение ролей (внутри подгруппы)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66420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Вася — лидер/модератор (организация, фасилитация, финальные решения)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ru-RU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Алексей</a:t>
            </a: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аналитик (сбор фактов, ограничения, критерии, матрицы)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Костя — генератор идей №1 (альтернативы, креативные форматы)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Андрей — генератор идей №2 (альтернативы, риски, план действий)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0" y="1097280"/>
            <a:ext cx="50292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75120" y="126187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командной работы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75120" y="1965960"/>
            <a:ext cx="4480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Сформировать управленческое решение, обеспечивающее проведение показа в срок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дефиците ключевого ресурса (модели), и защитить его как мини‑проект.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3848910"/>
            <a:ext cx="2834640" cy="384048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899948"/>
            <a:ext cx="2505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заинтересованные стороны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4379976"/>
            <a:ext cx="10698480" cy="1911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05840" y="4618693"/>
            <a:ext cx="10149840" cy="1380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Организатор/бренд (репутация, бюджет, качество показа)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PR/маркетинг (медиа, инфлюенсеры, контент)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Техническая команда (свет/звук/площадка/тайминг)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Партнёры и спонсоры (обязательства, KPI, присутствие в кадре)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Гости/покупатели/байеры (впечатление, ассортимент, коммуникация)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Матрица ответственности (RACI)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9601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 — выполняет • A — утверждает/несёт ответственность • C — консультирует • I — информируется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3755" y="1417320"/>
            <a:ext cx="4114800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6907" y="1472184"/>
            <a:ext cx="39684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Работы / роли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28555" y="1417320"/>
            <a:ext cx="1920240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01707" y="1472184"/>
            <a:ext cx="17739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Вася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Лидер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48795" y="1417320"/>
            <a:ext cx="1920240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21947" y="1472184"/>
            <a:ext cx="17739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u-RU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Алексей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369035" y="1417320"/>
            <a:ext cx="1737360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42187" y="1472184"/>
            <a:ext cx="15910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Костя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Идеи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106395" y="1417320"/>
            <a:ext cx="1737360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179547" y="1472184"/>
            <a:ext cx="15910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Андрей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Идеи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3755" y="1856232"/>
            <a:ext cx="4114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6907" y="1911096"/>
            <a:ext cx="39684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Сбор фактов и ограничений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28555" y="1856232"/>
            <a:ext cx="1920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01707" y="1911096"/>
            <a:ext cx="17739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48795" y="1856232"/>
            <a:ext cx="1920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21947" y="1911096"/>
            <a:ext cx="17739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369035" y="1856232"/>
            <a:ext cx="1737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42187" y="1911096"/>
            <a:ext cx="15910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0106395" y="1856232"/>
            <a:ext cx="1737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179547" y="1911096"/>
            <a:ext cx="15910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13755" y="2295144"/>
            <a:ext cx="4114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6907" y="2350008"/>
            <a:ext cx="39684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Формулировка проблемы (дерево)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28555" y="2295144"/>
            <a:ext cx="1920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01707" y="2350008"/>
            <a:ext cx="17739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448795" y="2295144"/>
            <a:ext cx="1920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21947" y="2350008"/>
            <a:ext cx="17739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369035" y="2295144"/>
            <a:ext cx="1737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42187" y="2350008"/>
            <a:ext cx="15910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10106395" y="2295144"/>
            <a:ext cx="1737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179547" y="2350008"/>
            <a:ext cx="15910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13755" y="2734056"/>
            <a:ext cx="4114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6907" y="2788920"/>
            <a:ext cx="39684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Генерация альтернатив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528555" y="2734056"/>
            <a:ext cx="1920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01707" y="2788920"/>
            <a:ext cx="17739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448795" y="2734056"/>
            <a:ext cx="1920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21947" y="2788920"/>
            <a:ext cx="17739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8369035" y="2734056"/>
            <a:ext cx="1737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442187" y="2788920"/>
            <a:ext cx="15910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10106395" y="2734056"/>
            <a:ext cx="1737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179547" y="2788920"/>
            <a:ext cx="15910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413755" y="3172968"/>
            <a:ext cx="4114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6907" y="3227832"/>
            <a:ext cx="39684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Критерии + веса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4528555" y="3172968"/>
            <a:ext cx="1920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01707" y="3227832"/>
            <a:ext cx="17739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6448795" y="3172968"/>
            <a:ext cx="1920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21947" y="3227832"/>
            <a:ext cx="17739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8369035" y="3172968"/>
            <a:ext cx="1737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442187" y="3227832"/>
            <a:ext cx="15910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10106395" y="3172968"/>
            <a:ext cx="1737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179547" y="3227832"/>
            <a:ext cx="15910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413755" y="3611880"/>
            <a:ext cx="4114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6907" y="3666744"/>
            <a:ext cx="39684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 и выбор решения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4528555" y="3611880"/>
            <a:ext cx="1920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601707" y="3666744"/>
            <a:ext cx="17739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6448795" y="3611880"/>
            <a:ext cx="1920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521947" y="3666744"/>
            <a:ext cx="17739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8369035" y="3611880"/>
            <a:ext cx="1737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442187" y="3666744"/>
            <a:ext cx="15910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10106395" y="3611880"/>
            <a:ext cx="1737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0179547" y="3666744"/>
            <a:ext cx="15910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66" name="Shape 64"/>
          <p:cNvSpPr/>
          <p:nvPr/>
        </p:nvSpPr>
        <p:spPr>
          <a:xfrm>
            <a:off x="413755" y="4050792"/>
            <a:ext cx="4114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86907" y="4105656"/>
            <a:ext cx="39684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 действий на 72 часа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4528555" y="4050792"/>
            <a:ext cx="1920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601707" y="4105656"/>
            <a:ext cx="17739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70" name="Shape 68"/>
          <p:cNvSpPr/>
          <p:nvPr/>
        </p:nvSpPr>
        <p:spPr>
          <a:xfrm>
            <a:off x="6448795" y="4050792"/>
            <a:ext cx="1920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521947" y="4105656"/>
            <a:ext cx="17739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8369035" y="4050792"/>
            <a:ext cx="1737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442187" y="4105656"/>
            <a:ext cx="15910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300" dirty="0"/>
          </a:p>
        </p:txBody>
      </p:sp>
      <p:sp>
        <p:nvSpPr>
          <p:cNvPr id="74" name="Shape 72"/>
          <p:cNvSpPr/>
          <p:nvPr/>
        </p:nvSpPr>
        <p:spPr>
          <a:xfrm>
            <a:off x="10106395" y="4050792"/>
            <a:ext cx="1737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0179547" y="4105656"/>
            <a:ext cx="15910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300" dirty="0"/>
          </a:p>
        </p:txBody>
      </p:sp>
      <p:sp>
        <p:nvSpPr>
          <p:cNvPr id="76" name="Shape 74"/>
          <p:cNvSpPr/>
          <p:nvPr/>
        </p:nvSpPr>
        <p:spPr>
          <a:xfrm>
            <a:off x="413755" y="4489704"/>
            <a:ext cx="4114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86907" y="4544568"/>
            <a:ext cx="39684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Подготовка презентации</a:t>
            </a:r>
            <a:endParaRPr lang="en-US" sz="1300" dirty="0"/>
          </a:p>
        </p:txBody>
      </p:sp>
      <p:sp>
        <p:nvSpPr>
          <p:cNvPr id="78" name="Shape 76"/>
          <p:cNvSpPr/>
          <p:nvPr/>
        </p:nvSpPr>
        <p:spPr>
          <a:xfrm>
            <a:off x="4528555" y="4489704"/>
            <a:ext cx="1920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601707" y="4544568"/>
            <a:ext cx="17739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80" name="Shape 78"/>
          <p:cNvSpPr/>
          <p:nvPr/>
        </p:nvSpPr>
        <p:spPr>
          <a:xfrm>
            <a:off x="6448795" y="4489704"/>
            <a:ext cx="1920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521947" y="4544568"/>
            <a:ext cx="17739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300" dirty="0"/>
          </a:p>
        </p:txBody>
      </p:sp>
      <p:sp>
        <p:nvSpPr>
          <p:cNvPr id="82" name="Shape 80"/>
          <p:cNvSpPr/>
          <p:nvPr/>
        </p:nvSpPr>
        <p:spPr>
          <a:xfrm>
            <a:off x="8369035" y="4489704"/>
            <a:ext cx="1737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442187" y="4544568"/>
            <a:ext cx="15910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84" name="Shape 82"/>
          <p:cNvSpPr/>
          <p:nvPr/>
        </p:nvSpPr>
        <p:spPr>
          <a:xfrm>
            <a:off x="10106395" y="4489704"/>
            <a:ext cx="1737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0179547" y="4544568"/>
            <a:ext cx="15910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86" name="Shape 84"/>
          <p:cNvSpPr/>
          <p:nvPr/>
        </p:nvSpPr>
        <p:spPr>
          <a:xfrm>
            <a:off x="413755" y="4928616"/>
            <a:ext cx="4114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86907" y="4983480"/>
            <a:ext cx="39684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Выступление/защита</a:t>
            </a:r>
            <a:endParaRPr lang="en-US" sz="1300" dirty="0"/>
          </a:p>
        </p:txBody>
      </p:sp>
      <p:sp>
        <p:nvSpPr>
          <p:cNvPr id="88" name="Shape 86"/>
          <p:cNvSpPr/>
          <p:nvPr/>
        </p:nvSpPr>
        <p:spPr>
          <a:xfrm>
            <a:off x="4528555" y="4928616"/>
            <a:ext cx="1920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601707" y="4983480"/>
            <a:ext cx="17739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300" dirty="0"/>
          </a:p>
        </p:txBody>
      </p:sp>
      <p:sp>
        <p:nvSpPr>
          <p:cNvPr id="90" name="Shape 88"/>
          <p:cNvSpPr/>
          <p:nvPr/>
        </p:nvSpPr>
        <p:spPr>
          <a:xfrm>
            <a:off x="6448795" y="4928616"/>
            <a:ext cx="19202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521947" y="4983480"/>
            <a:ext cx="17739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92" name="Shape 90"/>
          <p:cNvSpPr/>
          <p:nvPr/>
        </p:nvSpPr>
        <p:spPr>
          <a:xfrm>
            <a:off x="8369035" y="4928616"/>
            <a:ext cx="1737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8442187" y="4983480"/>
            <a:ext cx="15910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94" name="Shape 92"/>
          <p:cNvSpPr/>
          <p:nvPr/>
        </p:nvSpPr>
        <p:spPr>
          <a:xfrm>
            <a:off x="10106395" y="4928616"/>
            <a:ext cx="17373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10179547" y="4983480"/>
            <a:ext cx="15910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96" name="Shape 94"/>
          <p:cNvSpPr/>
          <p:nvPr/>
        </p:nvSpPr>
        <p:spPr>
          <a:xfrm>
            <a:off x="413755" y="5623560"/>
            <a:ext cx="114300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7" name="Text 95"/>
          <p:cNvSpPr/>
          <p:nvPr/>
        </p:nvSpPr>
        <p:spPr>
          <a:xfrm>
            <a:off x="1005840" y="5788152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качества</a:t>
            </a:r>
            <a:endParaRPr lang="en-US" sz="1800" dirty="0"/>
          </a:p>
        </p:txBody>
      </p:sp>
      <p:sp>
        <p:nvSpPr>
          <p:cNvPr id="98" name="Text 96"/>
          <p:cNvSpPr/>
          <p:nvPr/>
        </p:nvSpPr>
        <p:spPr>
          <a:xfrm>
            <a:off x="1005840" y="6108192"/>
            <a:ext cx="10149840" cy="173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</a:t>
            </a: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целостности</a:t>
            </a: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логики: “проблема → цель → критерии → альтернативы → выбор → план”.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Дерево проблемы</a:t>
            </a:r>
            <a:endParaRPr lang="en-US" sz="2800" dirty="0"/>
          </a:p>
        </p:txBody>
      </p:sp>
      <p:sp>
        <p:nvSpPr>
          <p:cNvPr id="25" name="Shape 23"/>
          <p:cNvSpPr/>
          <p:nvPr/>
        </p:nvSpPr>
        <p:spPr>
          <a:xfrm>
            <a:off x="731520" y="5486400"/>
            <a:ext cx="10698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005840" y="5650992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Фокус управленческого решения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05840" y="6053328"/>
            <a:ext cx="101498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Срочно закрыть дефицит ресурса (модели) и удержать качество/бренд‑эффект при ограничении 72 часа.</a:t>
            </a:r>
            <a:endParaRPr lang="en-US" sz="1400" dirty="0"/>
          </a:p>
        </p:txBody>
      </p:sp>
      <p:sp>
        <p:nvSpPr>
          <p:cNvPr id="28" name="TextBox 27"/>
          <p:cNvSpPr txBox="1"/>
          <p:nvPr/>
        </p:nvSpPr>
        <p:spPr>
          <a:xfrm>
            <a:off x="548640" y="1069848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</a:rPr>
              <a:t>ПОСЛЕДСТВИЯ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3721608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</a:rPr>
              <a:t>ПРИЧИНЫ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6096000" y="2505456"/>
            <a:ext cx="0" cy="256032"/>
          </a:xfrm>
          <a:prstGeom prst="line">
            <a:avLst/>
          </a:prstGeom>
          <a:ln w="19050">
            <a:solidFill>
              <a:srgbClr val="9CA3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240280" y="2505456"/>
            <a:ext cx="7406639" cy="0"/>
          </a:xfrm>
          <a:prstGeom prst="line">
            <a:avLst/>
          </a:prstGeom>
          <a:ln w="19050">
            <a:solidFill>
              <a:srgbClr val="9CA3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2240280" y="2130552"/>
            <a:ext cx="0" cy="374904"/>
          </a:xfrm>
          <a:prstGeom prst="line">
            <a:avLst/>
          </a:prstGeom>
          <a:ln w="19050">
            <a:solidFill>
              <a:srgbClr val="9CA3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5943600" y="2130552"/>
            <a:ext cx="0" cy="374904"/>
          </a:xfrm>
          <a:prstGeom prst="line">
            <a:avLst/>
          </a:prstGeom>
          <a:ln w="19050">
            <a:solidFill>
              <a:srgbClr val="9CA3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9646919" y="2130552"/>
            <a:ext cx="0" cy="374904"/>
          </a:xfrm>
          <a:prstGeom prst="line">
            <a:avLst/>
          </a:prstGeom>
          <a:ln w="19050">
            <a:solidFill>
              <a:srgbClr val="9CA3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096000" y="3584448"/>
            <a:ext cx="0" cy="256032"/>
          </a:xfrm>
          <a:prstGeom prst="line">
            <a:avLst/>
          </a:prstGeom>
          <a:ln w="19050">
            <a:solidFill>
              <a:srgbClr val="9CA3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240280" y="3840480"/>
            <a:ext cx="7406639" cy="0"/>
          </a:xfrm>
          <a:prstGeom prst="line">
            <a:avLst/>
          </a:prstGeom>
          <a:ln w="19050">
            <a:solidFill>
              <a:srgbClr val="9CA3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240280" y="3840480"/>
            <a:ext cx="0" cy="228600"/>
          </a:xfrm>
          <a:prstGeom prst="line">
            <a:avLst/>
          </a:prstGeom>
          <a:ln w="19050">
            <a:solidFill>
              <a:srgbClr val="9CA3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5943600" y="3840480"/>
            <a:ext cx="0" cy="228600"/>
          </a:xfrm>
          <a:prstGeom prst="line">
            <a:avLst/>
          </a:prstGeom>
          <a:ln w="19050">
            <a:solidFill>
              <a:srgbClr val="9CA3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646919" y="3840480"/>
            <a:ext cx="0" cy="228600"/>
          </a:xfrm>
          <a:prstGeom prst="line">
            <a:avLst/>
          </a:prstGeom>
          <a:ln w="19050">
            <a:solidFill>
              <a:srgbClr val="9CA3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548640" y="1417320"/>
            <a:ext cx="33832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54864" rIns="137160" bIns="54864" rtlCol="0" anchor="ctr"/>
          <a:lstStyle/>
          <a:p>
            <a:pPr algn="ctr"/>
            <a:r>
              <a:rPr sz="1300" b="0">
                <a:solidFill>
                  <a:srgbClr val="111827"/>
                </a:solidFill>
              </a:rPr>
              <a:t>Риск срыва
показа/переноса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251959" y="1417320"/>
            <a:ext cx="33832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54864" rIns="137160" bIns="54864" rtlCol="0" anchor="ctr"/>
          <a:lstStyle/>
          <a:p>
            <a:pPr algn="ctr"/>
            <a:r>
              <a:rPr sz="1300" b="0">
                <a:solidFill>
                  <a:srgbClr val="111827"/>
                </a:solidFill>
              </a:rPr>
              <a:t>Репутационные
потери бренда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955279" y="1417320"/>
            <a:ext cx="33832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54864" rIns="137160" bIns="54864" rtlCol="0" anchor="ctr"/>
          <a:lstStyle/>
          <a:p>
            <a:pPr algn="ctr"/>
            <a:r>
              <a:rPr sz="1300" b="0">
                <a:solidFill>
                  <a:srgbClr val="111827"/>
                </a:solidFill>
              </a:rPr>
              <a:t>Финансовые потери:
площадка/партнёры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261360" y="2761488"/>
            <a:ext cx="56692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54864" rIns="137160" bIns="54864" rtlCol="0" anchor="ctr"/>
          <a:lstStyle/>
          <a:p>
            <a:pPr algn="ctr"/>
            <a:r>
              <a:rPr sz="1500" b="1">
                <a:solidFill>
                  <a:srgbClr val="111827"/>
                </a:solidFill>
              </a:rPr>
              <a:t>ПРОБЛЕМА
Недостаток моделей для показа в заданную дату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4069080"/>
            <a:ext cx="33832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54864" rIns="137160" bIns="54864" rtlCol="0" anchor="ctr"/>
          <a:lstStyle/>
          <a:p>
            <a:pPr algn="ctr"/>
            <a:r>
              <a:rPr sz="1300" b="0">
                <a:solidFill>
                  <a:srgbClr val="111827"/>
                </a:solidFill>
              </a:rPr>
              <a:t>Отравление части
постоянных моделей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251959" y="4069080"/>
            <a:ext cx="33832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54864" rIns="137160" bIns="54864" rtlCol="0" anchor="ctr"/>
          <a:lstStyle/>
          <a:p>
            <a:pPr algn="ctr"/>
            <a:r>
              <a:rPr sz="1300" b="0">
                <a:solidFill>
                  <a:srgbClr val="111827"/>
                </a:solidFill>
              </a:rPr>
              <a:t>Нет «скамейки»
резервных моделей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955279" y="4069080"/>
            <a:ext cx="33832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54864" rIns="137160" bIns="54864" rtlCol="0" anchor="ctr"/>
          <a:lstStyle/>
          <a:p>
            <a:pPr algn="ctr"/>
            <a:r>
              <a:rPr sz="1300" b="0">
                <a:solidFill>
                  <a:srgbClr val="111827"/>
                </a:solidFill>
              </a:rPr>
              <a:t>Жёсткий тайминг:
3 дня до показа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Дерево проблемы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565392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Кейс: показ коллекции через 3 дня при выбытии X постоянных моделей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926080" y="2331720"/>
            <a:ext cx="6309360" cy="8686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063240" y="251460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Недостаток моделей для показа в заданную дату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4160520"/>
            <a:ext cx="35661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96112" y="4325112"/>
            <a:ext cx="3236976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Отравление части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постоянных моделей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434840" y="4160520"/>
            <a:ext cx="35661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99432" y="4325112"/>
            <a:ext cx="3236976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“скамейки”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резервных моделей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138160" y="4160520"/>
            <a:ext cx="32918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02752" y="4325112"/>
            <a:ext cx="2962656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Жёсткий тайминг: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дня до показа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1143000"/>
            <a:ext cx="3566160" cy="960120"/>
          </a:xfrm>
          <a:prstGeom prst="rect">
            <a:avLst/>
          </a:prstGeom>
          <a:solidFill>
            <a:srgbClr val="FFF1F2"/>
          </a:solidFill>
          <a:ln w="12700">
            <a:solidFill>
              <a:srgbClr val="FBCF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1289304"/>
            <a:ext cx="3236976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 срыва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показа/переноса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434840" y="1143000"/>
            <a:ext cx="3566160" cy="960120"/>
          </a:xfrm>
          <a:prstGeom prst="rect">
            <a:avLst/>
          </a:prstGeom>
          <a:solidFill>
            <a:srgbClr val="FFF1F2"/>
          </a:solidFill>
          <a:ln w="12700">
            <a:solidFill>
              <a:srgbClr val="FBCF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99432" y="1289304"/>
            <a:ext cx="3236976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Репутационные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потери бренда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138160" y="1143000"/>
            <a:ext cx="3291840" cy="960120"/>
          </a:xfrm>
          <a:prstGeom prst="rect">
            <a:avLst/>
          </a:prstGeom>
          <a:solidFill>
            <a:srgbClr val="FFF1F2"/>
          </a:solidFill>
          <a:ln w="12700">
            <a:solidFill>
              <a:srgbClr val="FBCF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02752" y="1289304"/>
            <a:ext cx="2962656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Финансовые потери: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площадка/партнёры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514600" y="4160520"/>
            <a:ext cx="205740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217920" y="4160520"/>
            <a:ext cx="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784080" y="4160520"/>
            <a:ext cx="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572000" y="2331720"/>
            <a:ext cx="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080760" y="2331720"/>
            <a:ext cx="13716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138160" y="2331720"/>
            <a:ext cx="164592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31520" y="5486400"/>
            <a:ext cx="10698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005840" y="5650992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Фокус управленческого решения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05840" y="6053328"/>
            <a:ext cx="101498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Срочно закрыть дефицит ресурса (модели) и удержать качество/бренд‑эффект при ограничении 72 часа.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Цель: SMART и OKR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005840"/>
            <a:ext cx="2834640" cy="38404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078992"/>
            <a:ext cx="2505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SMART‑формулировка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417320"/>
            <a:ext cx="54864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05840" y="1627632"/>
            <a:ext cx="49377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 18:00 дня показа обеспечить участие не менее N моделей,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закрывающих все выходы коллекции (без “дырок” в ростовке/типажах),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соблюдении бюджета до +15% к плану и сохранении утверждённого тайминга шоу.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3566160"/>
            <a:ext cx="4937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Пояснение: S, M, A, R, T задаются количественно и по сроку (72 часа).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1005840"/>
            <a:ext cx="2834640" cy="384048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65392" y="1078992"/>
            <a:ext cx="2505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OKR‑формулировка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0" y="1417320"/>
            <a:ext cx="50292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675120" y="1627632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675120" y="187452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Провести показ в срок без потери качества и вау‑эффекта.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75120" y="2331720"/>
            <a:ext cx="4480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Results: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75120" y="2587752"/>
            <a:ext cx="44805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Укомплектовать каст: ≥ N моделей к T‑24ч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100% выходов закрыто, 0 “пропусков” в сетке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Отклонение бюджета ≤ +15%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Медиа‑охват ≥ 90% от плана (пост‑показа)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31520" y="4114800"/>
            <a:ext cx="106984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05840" y="4279392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vs OKR — различие (в контексте кейса)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20927" y="4864608"/>
            <a:ext cx="1014984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фиксирует формулировку цели как измеримую “задачу” (что, сколько, к какому сроку)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OKR задаёт направление (Objective) и набор измеримых результатов (KR), позволяя гибче менять способы достижения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нашем кейсе: Objective — “провести показ в срок”, KR — “укомплектовать каст, закрыть выходы, удержать бюджет, сохранить охват”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Ограничения и допущения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097279"/>
            <a:ext cx="5394960" cy="2434509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26187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Ограничения (Hard constraints)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664208"/>
            <a:ext cx="48463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Дедлайн: показ через 72 часа (перенос — крайний вариант)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Площадка/техслужбы забронированы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Сетка выходов и примерки частично утверждены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Контракты/комплаенс: разрешения на съёмку, медиа‑права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Репутационные риски: “срыв показа” публично заметен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0" y="1097280"/>
            <a:ext cx="5029200" cy="243450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75120" y="126187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Допущения (Assumptions)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75120" y="1664208"/>
            <a:ext cx="448056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Есть возможность срочного привлечения моделей через агентства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Допустим лимит бюджета до +15%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Можно частично переработать постановку/хореографию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Доступны резервные сотрудники/инфлюенсеры для “камео”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 примерок работает в усиленном режиме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4149821"/>
            <a:ext cx="2834640" cy="38404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4197026"/>
            <a:ext cx="2505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Критические ресурсы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4630364"/>
            <a:ext cx="10698480" cy="1828801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05840" y="4400469"/>
            <a:ext cx="10149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Время: кастинг, примерки, репетиции, согласования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Люди: модели, стилисты, визажисты, постановщик, администраторы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Деньги: срочные ставки/логистика/переработки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Контент: план PR и медиа‑интеграций должен сохраниться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Альтернативы решения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5394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26187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A1. Срочный добор через агентства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66420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агентства + быстрый кастинг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Подбор по типажам/ростовке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Ставка выше обычной (срочность)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0" y="1097280"/>
            <a:ext cx="5029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75120" y="126187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A2. Открытый экспресс‑кастинг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75120" y="1664208"/>
            <a:ext cx="4480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Соцсети/партнёры/локальные коммьюнити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Быстрый отбор + NDA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Подходит для 2–4 “новых лиц”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3154680"/>
            <a:ext cx="34747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05840" y="331927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A3. Оптимизация сетки выходов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3721608"/>
            <a:ext cx="29260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Сократить число выходов/переставить образы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Дублирование моделей на 2–3 выхода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Удержать тайминг шоу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434840" y="3154680"/>
            <a:ext cx="34747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09160" y="331927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A4. Гибридный формат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709160" y="3721608"/>
            <a:ext cx="29260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образов — pre‑recorded видео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подиуме — ключевые луки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Усиление PR‑эффекта “новым форматом”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138160" y="3154680"/>
            <a:ext cx="32918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412480" y="33192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A5. Перенос/мини‑показ (крайний вариант)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412480" y="3721608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Перенос даты или закрытый показ для байеров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Максимальная стабильность качества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Высокие репутационные/договорные риски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1520" y="57150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Далее: задаём критерии и выбираем комбинацию альтернатив с наилучшим профилем.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Критерии оценки и веса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106984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261872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Шкала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664208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 по каждому критерию: 1 (очень плохо) … 5 (отлично). Итог = Σ(балл × вес).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468880"/>
            <a:ext cx="3657600" cy="512064"/>
          </a:xfrm>
          <a:prstGeom prst="rect">
            <a:avLst/>
          </a:prstGeom>
          <a:solidFill>
            <a:srgbClr val="11182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2523744"/>
            <a:ext cx="35112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Критерий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89120" y="2468880"/>
            <a:ext cx="6217920" cy="512064"/>
          </a:xfrm>
          <a:prstGeom prst="rect">
            <a:avLst/>
          </a:prstGeom>
          <a:solidFill>
            <a:srgbClr val="11182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62272" y="2523744"/>
            <a:ext cx="60716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Смысл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607040" y="2468880"/>
            <a:ext cx="822960" cy="512064"/>
          </a:xfrm>
          <a:prstGeom prst="rect">
            <a:avLst/>
          </a:prstGeom>
          <a:solidFill>
            <a:srgbClr val="11182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80192" y="2523744"/>
            <a:ext cx="6766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2980944"/>
            <a:ext cx="3657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3035808"/>
            <a:ext cx="35112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Скорость реализации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389120" y="2980944"/>
            <a:ext cx="62179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62272" y="3035808"/>
            <a:ext cx="60716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Влезаем ли в 72 часа (кастинг/примерки/репетиции)?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0607040" y="2980944"/>
            <a:ext cx="8229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680192" y="3035808"/>
            <a:ext cx="6766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0.30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31520" y="3493008"/>
            <a:ext cx="3657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3547872"/>
            <a:ext cx="35112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Качество и бренд‑соответствие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389120" y="3493008"/>
            <a:ext cx="62179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62272" y="3547872"/>
            <a:ext cx="60716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Типажи, уровень, стилистика показа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0607040" y="3493008"/>
            <a:ext cx="8229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680192" y="3547872"/>
            <a:ext cx="6766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31520" y="4005072"/>
            <a:ext cx="3657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672" y="4059936"/>
            <a:ext cx="35112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Бюджет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389120" y="4005072"/>
            <a:ext cx="62179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62272" y="4059936"/>
            <a:ext cx="60716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Прирост затрат относительно плана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10607040" y="4005072"/>
            <a:ext cx="8229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680192" y="4059936"/>
            <a:ext cx="6766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31520" y="4517136"/>
            <a:ext cx="3657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4672" y="4572000"/>
            <a:ext cx="35112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Риск/надёжность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389120" y="4517136"/>
            <a:ext cx="62179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62272" y="4572000"/>
            <a:ext cx="60716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Вероятность срыва из‑за подрядчиков/людей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10607040" y="4517136"/>
            <a:ext cx="8229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680192" y="4572000"/>
            <a:ext cx="6766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731520" y="5029200"/>
            <a:ext cx="3657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04672" y="5084064"/>
            <a:ext cx="35112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PR‑эффект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4389120" y="5029200"/>
            <a:ext cx="62179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62272" y="5084064"/>
            <a:ext cx="60716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Потенциал медиа‑истории, охват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10607040" y="5029200"/>
            <a:ext cx="8229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680192" y="5084064"/>
            <a:ext cx="6766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 альтернатив (взвешенная матрица)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3291840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152144"/>
            <a:ext cx="314553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Альтернатива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023360" y="1097280"/>
            <a:ext cx="1325880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96512" y="1152144"/>
            <a:ext cx="117957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Скорость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0.30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349240" y="1097280"/>
            <a:ext cx="1325880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22392" y="1152144"/>
            <a:ext cx="117957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Качество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675120" y="1097280"/>
            <a:ext cx="1325880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48272" y="1152144"/>
            <a:ext cx="117957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Бюджет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01000" y="1097280"/>
            <a:ext cx="1234440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74152" y="1152144"/>
            <a:ext cx="108813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235440" y="1097280"/>
            <a:ext cx="1051560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08592" y="1152144"/>
            <a:ext cx="90525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287000" y="1097280"/>
            <a:ext cx="1143000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360152" y="1152144"/>
            <a:ext cx="99669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" y="1600200"/>
            <a:ext cx="32918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" y="1655064"/>
            <a:ext cx="314553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 Агентства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023360" y="1600200"/>
            <a:ext cx="13258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96512" y="1655064"/>
            <a:ext cx="117957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349240" y="1600200"/>
            <a:ext cx="13258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22392" y="1655064"/>
            <a:ext cx="117957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675120" y="1600200"/>
            <a:ext cx="13258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48272" y="1655064"/>
            <a:ext cx="117957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001000" y="1600200"/>
            <a:ext cx="1234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74152" y="1655064"/>
            <a:ext cx="108813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9235440" y="1600200"/>
            <a:ext cx="10515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308592" y="1655064"/>
            <a:ext cx="90525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10287000" y="1600200"/>
            <a:ext cx="1143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360152" y="1655064"/>
            <a:ext cx="99669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3.65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31520" y="2103120"/>
            <a:ext cx="32918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4672" y="2157984"/>
            <a:ext cx="314553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Открытый кастинг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023360" y="2103120"/>
            <a:ext cx="13258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096512" y="2157984"/>
            <a:ext cx="117957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349240" y="2103120"/>
            <a:ext cx="13258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22392" y="2157984"/>
            <a:ext cx="117957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675120" y="2103120"/>
            <a:ext cx="13258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48272" y="2157984"/>
            <a:ext cx="117957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8001000" y="2103120"/>
            <a:ext cx="1234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074152" y="2157984"/>
            <a:ext cx="108813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9235440" y="2103120"/>
            <a:ext cx="10515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308592" y="2157984"/>
            <a:ext cx="90525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10287000" y="2103120"/>
            <a:ext cx="1143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360152" y="2157984"/>
            <a:ext cx="99669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3.05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731520" y="2606040"/>
            <a:ext cx="32918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04672" y="2660904"/>
            <a:ext cx="314553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 Оптимизация сетки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4023360" y="2606040"/>
            <a:ext cx="13258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096512" y="2660904"/>
            <a:ext cx="117957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5349240" y="2606040"/>
            <a:ext cx="13258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22392" y="2660904"/>
            <a:ext cx="117957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6675120" y="2606040"/>
            <a:ext cx="13258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748272" y="2660904"/>
            <a:ext cx="117957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8001000" y="2606040"/>
            <a:ext cx="1234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074152" y="2660904"/>
            <a:ext cx="108813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9235440" y="2606040"/>
            <a:ext cx="10515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308592" y="2660904"/>
            <a:ext cx="90525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10287000" y="2606040"/>
            <a:ext cx="1143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360152" y="2660904"/>
            <a:ext cx="99669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3.80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731520" y="3108960"/>
            <a:ext cx="32918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04672" y="3163824"/>
            <a:ext cx="314553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 Гибрид (видео+подиум)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4023360" y="3108960"/>
            <a:ext cx="13258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096512" y="3163824"/>
            <a:ext cx="117957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5349240" y="3108960"/>
            <a:ext cx="13258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422392" y="3163824"/>
            <a:ext cx="117957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6675120" y="3108960"/>
            <a:ext cx="13258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748272" y="3163824"/>
            <a:ext cx="117957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8001000" y="3108960"/>
            <a:ext cx="1234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074152" y="3163824"/>
            <a:ext cx="108813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71" name="Shape 69"/>
          <p:cNvSpPr/>
          <p:nvPr/>
        </p:nvSpPr>
        <p:spPr>
          <a:xfrm>
            <a:off x="9235440" y="3108960"/>
            <a:ext cx="10515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9308592" y="3163824"/>
            <a:ext cx="90525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73" name="Shape 71"/>
          <p:cNvSpPr/>
          <p:nvPr/>
        </p:nvSpPr>
        <p:spPr>
          <a:xfrm>
            <a:off x="10287000" y="3108960"/>
            <a:ext cx="1143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0360152" y="3163824"/>
            <a:ext cx="99669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3.45</a:t>
            </a:r>
            <a:endParaRPr lang="en-US" sz="1300" dirty="0"/>
          </a:p>
        </p:txBody>
      </p:sp>
      <p:sp>
        <p:nvSpPr>
          <p:cNvPr id="75" name="Shape 73"/>
          <p:cNvSpPr/>
          <p:nvPr/>
        </p:nvSpPr>
        <p:spPr>
          <a:xfrm>
            <a:off x="731520" y="3611880"/>
            <a:ext cx="32918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04672" y="3666744"/>
            <a:ext cx="314553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A5 Перенос/мини‑показ</a:t>
            </a:r>
            <a:endParaRPr lang="en-US" sz="1300" dirty="0"/>
          </a:p>
        </p:txBody>
      </p:sp>
      <p:sp>
        <p:nvSpPr>
          <p:cNvPr id="77" name="Shape 75"/>
          <p:cNvSpPr/>
          <p:nvPr/>
        </p:nvSpPr>
        <p:spPr>
          <a:xfrm>
            <a:off x="4023360" y="3611880"/>
            <a:ext cx="13258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096512" y="3666744"/>
            <a:ext cx="117957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9" name="Shape 77"/>
          <p:cNvSpPr/>
          <p:nvPr/>
        </p:nvSpPr>
        <p:spPr>
          <a:xfrm>
            <a:off x="5349240" y="3611880"/>
            <a:ext cx="13258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422392" y="3666744"/>
            <a:ext cx="117957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81" name="Shape 79"/>
          <p:cNvSpPr/>
          <p:nvPr/>
        </p:nvSpPr>
        <p:spPr>
          <a:xfrm>
            <a:off x="6675120" y="3611880"/>
            <a:ext cx="13258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748272" y="3666744"/>
            <a:ext cx="117957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83" name="Shape 81"/>
          <p:cNvSpPr/>
          <p:nvPr/>
        </p:nvSpPr>
        <p:spPr>
          <a:xfrm>
            <a:off x="8001000" y="3611880"/>
            <a:ext cx="1234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8074152" y="3666744"/>
            <a:ext cx="108813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5" name="Shape 83"/>
          <p:cNvSpPr/>
          <p:nvPr/>
        </p:nvSpPr>
        <p:spPr>
          <a:xfrm>
            <a:off x="9235440" y="3611880"/>
            <a:ext cx="10515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9308592" y="3666744"/>
            <a:ext cx="90525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7" name="Shape 85"/>
          <p:cNvSpPr/>
          <p:nvPr/>
        </p:nvSpPr>
        <p:spPr>
          <a:xfrm>
            <a:off x="10287000" y="3611880"/>
            <a:ext cx="1143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10360152" y="3666744"/>
            <a:ext cx="996696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2.15</a:t>
            </a:r>
            <a:endParaRPr lang="en-US" sz="1300" dirty="0"/>
          </a:p>
        </p:txBody>
      </p:sp>
      <p:sp>
        <p:nvSpPr>
          <p:cNvPr id="90" name="Text 88"/>
          <p:cNvSpPr/>
          <p:nvPr/>
        </p:nvSpPr>
        <p:spPr>
          <a:xfrm>
            <a:off x="731520" y="4623038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</a:t>
            </a: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по матрице</a:t>
            </a:r>
            <a:endParaRPr lang="en-US" sz="1800" dirty="0"/>
          </a:p>
        </p:txBody>
      </p:sp>
      <p:sp>
        <p:nvSpPr>
          <p:cNvPr id="91" name="Text 89"/>
          <p:cNvSpPr/>
          <p:nvPr/>
        </p:nvSpPr>
        <p:spPr>
          <a:xfrm>
            <a:off x="731520" y="5113377"/>
            <a:ext cx="10149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Лучшие по сумме: A1 (агентства) и A3 (оптимизация сетки). Рекомендуем комбинировать: A1 закрывает дефицит типажей, A3 снижает нагрузку на каст и риски.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 и план на 72 часа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10698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254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261872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Выбранная стратегия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664208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Срочно привлечь моделей через агентства (закрыть “критические” типажи).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Оптимизировать сетку выходов (сократить/перераспределить, где допустимо).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Резерв: 1–2 “новых лица” через экспресс‑кастинг (A2) и/или 1–2 видео‑вставки (A4).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788920"/>
            <a:ext cx="10698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05840" y="292608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 (T‑72 → T‑0)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05840" y="3337560"/>
            <a:ext cx="3291840" cy="2651760"/>
          </a:xfrm>
          <a:prstGeom prst="rect">
            <a:avLst/>
          </a:prstGeom>
          <a:solidFill>
            <a:srgbClr val="EFF6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350215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T‑72…T‑48 (День 1)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3840480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Контакт 1–2 агентств, запрос портфолио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Согласование типажей/ростовок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Предварительное обновление сетки выходов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Коммуникация со спонсорами/PR (без паники, план действий)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17720" y="3337560"/>
            <a:ext cx="3291840" cy="2651760"/>
          </a:xfrm>
          <a:prstGeom prst="rect">
            <a:avLst/>
          </a:prstGeom>
          <a:solidFill>
            <a:srgbClr val="FDF2F8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350215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T‑48…T‑24 (День 2)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00600" y="3840480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Экспресс‑кастинг и подтверждение состава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Примерки и подгонка, финальная сетка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Репетиция проходов/тайминга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Резерв: 1–2 слота под A2/A4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29600" y="3337560"/>
            <a:ext cx="3291840" cy="2651760"/>
          </a:xfrm>
          <a:prstGeom prst="rect">
            <a:avLst/>
          </a:prstGeom>
          <a:solidFill>
            <a:srgbClr val="ECFD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0" y="350215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T‑24…T‑0 (День 3)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0" y="3840480"/>
            <a:ext cx="29260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явки, бэкап‑лист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Генеральная репетиция + техпрогон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Финальная проверка контента/PR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 и пост‑коммуникация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Риски, меры и контроль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3749040" cy="566928"/>
          </a:xfrm>
          <a:prstGeom prst="rect">
            <a:avLst/>
          </a:prstGeom>
          <a:solidFill>
            <a:srgbClr val="11182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152144"/>
            <a:ext cx="3602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Риск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80560" y="1097280"/>
            <a:ext cx="2011680" cy="566928"/>
          </a:xfrm>
          <a:prstGeom prst="rect">
            <a:avLst/>
          </a:prstGeom>
          <a:solidFill>
            <a:srgbClr val="11182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53712" y="1152144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Вероятность / ущерб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92240" y="1097280"/>
            <a:ext cx="4937760" cy="566928"/>
          </a:xfrm>
          <a:prstGeom prst="rect">
            <a:avLst/>
          </a:prstGeom>
          <a:solidFill>
            <a:srgbClr val="111827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65392" y="1152144"/>
            <a:ext cx="4791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Мера (mitigation)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1664208"/>
            <a:ext cx="3749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1719072"/>
            <a:ext cx="3602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Низкая явка новых моделей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480560" y="1664208"/>
            <a:ext cx="2011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53712" y="1719072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Ср/Выс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92240" y="1664208"/>
            <a:ext cx="49377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65392" y="1719072"/>
            <a:ext cx="4791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Бэкап‑лист + двойное подтверждение + штраф в договоре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2231136"/>
            <a:ext cx="3749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2286000"/>
            <a:ext cx="3602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Неуспевание примерок/подгонки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480560" y="2231136"/>
            <a:ext cx="2011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53712" y="228600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Выс/Выс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92240" y="2231136"/>
            <a:ext cx="49377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65392" y="2286000"/>
            <a:ext cx="4791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Параллельные примерки, продлённые смены, приоритизация ключевых луков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31520" y="2798064"/>
            <a:ext cx="3749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" y="2852928"/>
            <a:ext cx="3602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Несоответствие типажей бренду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480560" y="2798064"/>
            <a:ext cx="2011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53712" y="2852928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Ср/Ср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92240" y="2798064"/>
            <a:ext cx="49377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65392" y="2852928"/>
            <a:ext cx="4791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Фильтры при кастинге, быстрый колл с креативным директором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31520" y="3364992"/>
            <a:ext cx="3749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4672" y="3419856"/>
            <a:ext cx="3602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Перерасход бюджета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480560" y="3364992"/>
            <a:ext cx="2011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53712" y="3419856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Ср/Ср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92240" y="3364992"/>
            <a:ext cx="49377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65392" y="3419856"/>
            <a:ext cx="4791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Лимит +15%, согласование ставок заранее, отказ от второстепенных активностей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731520" y="3931920"/>
            <a:ext cx="3749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4672" y="3986784"/>
            <a:ext cx="3602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Сбой тайминга шоу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480560" y="3931920"/>
            <a:ext cx="2011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53712" y="3986784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Ср/Выс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492240" y="3931920"/>
            <a:ext cx="49377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65392" y="3986784"/>
            <a:ext cx="4791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Техпрогон, уменьшение количества выходов, тайм‑кипер на площадке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31520" y="4846515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Показатели контроля (KPI/KR)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731520" y="5349240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Готовность каста: T‑48 ≥ 60%, T‑24 ≥ 90%, T‑6 — 100% явка на площадке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Качество/дисциплина: 0 пропусков, соблюдение тайминга, бюджет ≤ +15%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9144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822960" y="2927053"/>
            <a:ext cx="10607040" cy="2101174"/>
          </a:xfrm>
          <a:prstGeom prst="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5" name="Text 3"/>
          <p:cNvSpPr/>
          <p:nvPr/>
        </p:nvSpPr>
        <p:spPr>
          <a:xfrm>
            <a:off x="1097280" y="3017520"/>
            <a:ext cx="100584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buSzPct val="100000"/>
              <a:buChar char="•"/>
            </a:pPr>
            <a:r>
              <a:rPr lang="ru-RU" sz="22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Сформировано </a:t>
            </a:r>
            <a:r>
              <a:rPr lang="en-US" sz="22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дерево проблемы и целевую постановку (SMART/OKR)</a:t>
            </a:r>
            <a:endParaRPr lang="en-US" sz="2200" dirty="0"/>
          </a:p>
          <a:p>
            <a:pPr marL="279400" indent="-279400">
              <a:buSzPct val="100000"/>
              <a:buChar char="•"/>
            </a:pPr>
            <a:r>
              <a:rPr lang="en-US" sz="22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</a:t>
            </a:r>
            <a:r>
              <a:rPr lang="ru-RU" sz="22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генерировано</a:t>
            </a:r>
            <a:r>
              <a:rPr lang="en-US" sz="22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 альтернатив и критерии оценки</a:t>
            </a:r>
            <a:endParaRPr lang="en-US" sz="2200" dirty="0"/>
          </a:p>
          <a:p>
            <a:pPr marL="279400" indent="-279400">
              <a:buSzPct val="100000"/>
              <a:buChar char="•"/>
            </a:pPr>
            <a:r>
              <a:rPr lang="en-US" sz="22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</a:t>
            </a:r>
            <a:r>
              <a:rPr lang="en-US" sz="2200" dirty="0" err="1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матрице</a:t>
            </a:r>
            <a:r>
              <a:rPr lang="en-US" sz="22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200" dirty="0" err="1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выбра</a:t>
            </a:r>
            <a:r>
              <a:rPr lang="ru-RU" sz="22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</a:t>
            </a:r>
            <a:r>
              <a:rPr lang="en-US" sz="22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200" dirty="0" err="1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комбинаци</a:t>
            </a:r>
            <a:r>
              <a:rPr lang="ru-RU" sz="2200" dirty="0" err="1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ия</a:t>
            </a:r>
            <a:r>
              <a:rPr lang="en-US" sz="22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A1 + A3</a:t>
            </a:r>
            <a:endParaRPr lang="en-US" sz="2200" dirty="0"/>
          </a:p>
          <a:p>
            <a:pPr marL="279400" indent="-279400">
              <a:buSzPct val="100000"/>
              <a:buChar char="•"/>
            </a:pPr>
            <a:r>
              <a:rPr lang="en-US" sz="2200" dirty="0" err="1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Определ</a:t>
            </a:r>
            <a:r>
              <a:rPr lang="ru-RU" sz="22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ен</a:t>
            </a:r>
            <a:r>
              <a:rPr lang="en-US" sz="22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план на 72 часа и меры по рискам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1486</Words>
  <Application>Microsoft Office PowerPoint</Application>
  <PresentationFormat>Широкоэкранный</PresentationFormat>
  <Paragraphs>294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РТУ МИРЭА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Методы принятия управленческих решений — ПР01</dc:subject>
  <dc:creator>Подгруппа: Вася, Ваня, Костя, Андрей</dc:creator>
  <cp:lastModifiedBy>H4RD</cp:lastModifiedBy>
  <cp:revision>7</cp:revision>
  <dcterms:created xsi:type="dcterms:W3CDTF">2026-02-23T12:11:30Z</dcterms:created>
  <dcterms:modified xsi:type="dcterms:W3CDTF">2026-02-23T13:23:27Z</dcterms:modified>
</cp:coreProperties>
</file>