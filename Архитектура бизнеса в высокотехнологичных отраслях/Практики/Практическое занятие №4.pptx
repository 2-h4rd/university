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29" y="7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0BA137A-F36C-9B1E-7F5B-B597AC32D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5DC692AB-3506-1863-5E96-1319C99F5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25286DD-F027-A028-F099-45648C22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8EFA21E-6063-BA5A-B793-C8AAAA1B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638776C-F6F8-5BC0-BDB1-BD024C24A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65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EF5DD03-E48A-1044-72BA-E43E6584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45F75EA-0FA7-FE52-C270-C6C342D5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657DFBE-664A-1BA4-C430-B2764E17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7122D0B-FF86-0A8B-00B6-670CAC1B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DD80F94-C736-138B-610F-98EAAD2C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97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D8496D1-7F10-79F1-2A50-DEC38C4F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F3286B8D-A9A6-1C3A-462D-D28B114B8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A2B0F83-2E52-8124-85CF-E13878F4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21ABC3B-AE3F-6A84-5699-5E1A2546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74133A9-4F01-14FE-D05E-B3456731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52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2666C5-BDCF-EFFE-5A2C-3CA6363D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0B5006A-CD74-F560-603B-A490FD5C2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0612F222-B4D9-5E1E-CF03-517DC4650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125877B6-6654-8C47-D3B1-4E185C0C2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9F444A33-C15A-7DDA-DBE0-FF57B562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04B7B7F-1DD1-5820-CF2E-950CE577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21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EBAE2E5-AE33-7326-D1F2-007F2BC2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F5520EA1-1A4A-85CD-06AB-91264F20C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D1DA23A0-0F02-C900-7359-E56193D79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23FD0759-182B-8BB2-8054-4EF17B8EF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4A8F2ABE-22F2-364F-3A6C-83924B65C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4DA9487E-8652-FF0A-ED4A-695AB43C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45053711-C43A-1AC7-DA45-F112BC15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103621B3-2624-1EC9-141E-85170EEC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08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866DFDF-F2FB-0076-0C33-788ED0B26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D0B5BC3-424E-6E47-31FD-59B5171F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719FB6DB-D23C-6F8C-EBD8-28EDE509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5BC91AEC-3D5F-2FFA-CE23-3F815474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76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BB050FF6-D094-DE27-987D-8066A40DC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27A5B345-D30D-E1D1-788B-E3F01554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BD042CE-DF84-D7BC-8766-1732823F1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F69F294-212D-6410-8144-75731C38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A5C8E3A-B102-BCAE-7EC9-25FE48978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DE8910AE-DD67-5020-3075-46676EAB4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A018674-C842-A7F7-5CD0-8E7F55C0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A129C1B-61EC-C33B-F94F-C070847C6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2FA146AD-6180-8503-806F-2C450E20B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46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7D46698-E40F-3455-97DD-070C7A09D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1E981791-1941-7F64-C3B8-FD8FA83ED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9511E7CF-8F14-8B13-A407-72F84F065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1B52495E-8FF0-14E3-1D9D-EAD294CD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FDA10CF-A696-D650-4A84-9937B32B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D613FC4C-6CD9-025A-8530-4B07BD0F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0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05A808D-D4CE-FD93-1F9E-9605E281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A6B98855-98BA-167D-F901-BF02AF374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9F664F2-BA63-1938-3274-28A67C8F9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FB546CE-2E58-DB33-0893-10DF6CD3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E4ABF90-895A-7783-A10C-03F7BBA7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2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FC389EFB-95C3-B619-2A90-88F661412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4A689BCF-F121-4545-9981-04C6298F1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F51537D-9A2B-190F-EA49-7DCC7897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C008109-997F-AB0B-DE5D-F33976260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1A80FE6-7E05-EA0D-58DF-2C69BBE9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638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92C15D8-4563-0426-DACF-2CA269DC5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AF7E143-9B6B-5A9F-C02A-07A33D6BF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30C3994-E158-29DD-C3B5-E9747DED53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86A98-9442-4455-8417-F23D390E3790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98BF073-D3D5-3658-C8B3-E48F4C8DE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D9CD113-C1A0-A53B-AB2B-7CE2AA051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4F027-AD85-4642-B5F1-AB203BB17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49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33190E1-CF7F-EB6A-5F40-5E2E961C8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6410"/>
            <a:ext cx="9144000" cy="278237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dirty="0">
                <a:latin typeface="Georgia" panose="02040502050405020303" pitchFamily="18" charset="0"/>
              </a:rPr>
              <a:t>Архитектура бизнеса</a:t>
            </a:r>
            <a:br>
              <a:rPr lang="ru-RU" dirty="0">
                <a:latin typeface="Georgia" panose="02040502050405020303" pitchFamily="18" charset="0"/>
              </a:rPr>
            </a:br>
            <a:r>
              <a:rPr lang="ru-RU" dirty="0">
                <a:latin typeface="Georgia" panose="02040502050405020303" pitchFamily="18" charset="0"/>
              </a:rPr>
              <a:t>в высокотехнологичных отраслях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F0CCAA2B-D9C0-2BB1-EDEA-F0AA8B482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5599"/>
            <a:ext cx="9144000" cy="861807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Georgia" panose="02040502050405020303" pitchFamily="18" charset="0"/>
              </a:rPr>
              <a:t>преподаватель:</a:t>
            </a:r>
          </a:p>
          <a:p>
            <a:r>
              <a:rPr lang="ru-RU" sz="1800" dirty="0">
                <a:latin typeface="Georgia" panose="02040502050405020303" pitchFamily="18" charset="0"/>
              </a:rPr>
              <a:t>канд. экон. наук Оганян Валерий </a:t>
            </a:r>
            <a:r>
              <a:rPr lang="ru-RU" sz="1800" dirty="0" err="1">
                <a:latin typeface="Georgia" panose="02040502050405020303" pitchFamily="18" charset="0"/>
              </a:rPr>
              <a:t>Арменович</a:t>
            </a:r>
            <a:endParaRPr lang="ru-RU" sz="1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938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747727-41FE-88CA-A67F-94AD55D2C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48D1B3-49EA-8EF8-C84B-B24284F6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Georgia" panose="02040502050405020303" pitchFamily="18" charset="0"/>
              </a:rPr>
              <a:t>Практические занятия по курсу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F37358A-0977-502A-B2D9-8F53279F6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Georgia" panose="02040502050405020303" pitchFamily="18" charset="0"/>
              </a:rPr>
              <a:t>Round 1: Ideation &amp; Focus — </a:t>
            </a:r>
            <a:r>
              <a:rPr lang="ru-RU" b="1" dirty="0">
                <a:latin typeface="Georgia" panose="02040502050405020303" pitchFamily="18" charset="0"/>
              </a:rPr>
              <a:t>Формируем ядро идеи.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Georgia" panose="02040502050405020303" pitchFamily="18" charset="0"/>
              </a:rPr>
              <a:t>Идея проекта, </a:t>
            </a:r>
            <a:r>
              <a:rPr lang="en-US" sz="2400" dirty="0" err="1">
                <a:latin typeface="Georgia" panose="02040502050405020303" pitchFamily="18" charset="0"/>
              </a:rPr>
              <a:t>MindMap</a:t>
            </a:r>
            <a:r>
              <a:rPr lang="en-US" sz="2400" dirty="0">
                <a:latin typeface="Georgia" panose="02040502050405020303" pitchFamily="18" charset="0"/>
              </a:rPr>
              <a:t>, SMART</a:t>
            </a:r>
            <a:r>
              <a:rPr lang="ru-RU" sz="2400" dirty="0">
                <a:latin typeface="Georgia" panose="02040502050405020303" pitchFamily="18" charset="0"/>
              </a:rPr>
              <a:t>-цели.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Georgia" panose="02040502050405020303" pitchFamily="18" charset="0"/>
              </a:rPr>
              <a:t>Round 2: Deep Dive — </a:t>
            </a:r>
            <a:r>
              <a:rPr lang="ru-RU" b="1" dirty="0">
                <a:latin typeface="Georgia" panose="02040502050405020303" pitchFamily="18" charset="0"/>
              </a:rPr>
              <a:t>Анализируем среду и возможности.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Georgia" panose="02040502050405020303" pitchFamily="18" charset="0"/>
              </a:rPr>
              <a:t>PEST</a:t>
            </a:r>
            <a:r>
              <a:rPr lang="ru-RU" sz="2400" dirty="0">
                <a:latin typeface="Georgia" panose="02040502050405020303" pitchFamily="18" charset="0"/>
              </a:rPr>
              <a:t>-анализ / </a:t>
            </a:r>
            <a:r>
              <a:rPr lang="en-US" sz="2400" dirty="0">
                <a:latin typeface="Georgia" panose="02040502050405020303" pitchFamily="18" charset="0"/>
              </a:rPr>
              <a:t>SPACE-</a:t>
            </a:r>
            <a:r>
              <a:rPr lang="ru-RU" sz="2400" dirty="0">
                <a:latin typeface="Georgia" panose="02040502050405020303" pitchFamily="18" charset="0"/>
              </a:rPr>
              <a:t>анализ + 5 сил Портера.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Georgia" panose="02040502050405020303" pitchFamily="18" charset="0"/>
              </a:rPr>
              <a:t>Round 3: Blueprint — </a:t>
            </a:r>
            <a:r>
              <a:rPr lang="ru-RU" b="1" dirty="0">
                <a:latin typeface="Georgia" panose="02040502050405020303" pitchFamily="18" charset="0"/>
              </a:rPr>
              <a:t>Создаем модель продукта и бизнеса.</a:t>
            </a:r>
            <a:endParaRPr lang="en-US" b="1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Georgia" panose="02040502050405020303" pitchFamily="18" charset="0"/>
              </a:rPr>
              <a:t>Концепция продукта, </a:t>
            </a:r>
            <a:r>
              <a:rPr lang="en-US" sz="2400" dirty="0">
                <a:latin typeface="Georgia" panose="02040502050405020303" pitchFamily="18" charset="0"/>
              </a:rPr>
              <a:t>MVP</a:t>
            </a:r>
            <a:r>
              <a:rPr lang="ru-RU" sz="2400" dirty="0">
                <a:latin typeface="Georgia" panose="02040502050405020303" pitchFamily="18" charset="0"/>
              </a:rPr>
              <a:t>, </a:t>
            </a:r>
            <a:r>
              <a:rPr lang="en-US" sz="2400" dirty="0">
                <a:latin typeface="Georgia" panose="02040502050405020303" pitchFamily="18" charset="0"/>
              </a:rPr>
              <a:t>Business Model Canvas </a:t>
            </a:r>
            <a:r>
              <a:rPr lang="ru-RU" sz="2400" dirty="0">
                <a:latin typeface="Georgia" panose="02040502050405020303" pitchFamily="18" charset="0"/>
              </a:rPr>
              <a:t>/ </a:t>
            </a:r>
            <a:r>
              <a:rPr lang="en-US" sz="2400" dirty="0">
                <a:latin typeface="Georgia" panose="02040502050405020303" pitchFamily="18" charset="0"/>
              </a:rPr>
              <a:t>Lean Canvas</a:t>
            </a:r>
            <a:r>
              <a:rPr lang="ru-RU" sz="2400" dirty="0">
                <a:latin typeface="Georgia" panose="02040502050405020303" pitchFamily="18" charset="0"/>
              </a:rPr>
              <a:t>.</a:t>
            </a:r>
            <a:endParaRPr lang="en-US" sz="2400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Georgia" panose="02040502050405020303" pitchFamily="18" charset="0"/>
              </a:rPr>
              <a:t>Round 4: Reality Check — </a:t>
            </a:r>
            <a:r>
              <a:rPr lang="ru-RU" b="1" dirty="0">
                <a:latin typeface="Georgia" panose="02040502050405020303" pitchFamily="18" charset="0"/>
              </a:rPr>
              <a:t>Считаем экономику.</a:t>
            </a:r>
            <a:endParaRPr lang="en-US" b="1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Georgia" panose="02040502050405020303" pitchFamily="18" charset="0"/>
              </a:rPr>
              <a:t>Экономическое обоснование проекта.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Georgia" panose="02040502050405020303" pitchFamily="18" charset="0"/>
              </a:rPr>
              <a:t>Round 5: Execution Map — </a:t>
            </a:r>
            <a:r>
              <a:rPr lang="ru-RU" b="1" dirty="0">
                <a:latin typeface="Georgia" panose="02040502050405020303" pitchFamily="18" charset="0"/>
              </a:rPr>
              <a:t>Планируем задачи и зоны ответственности.</a:t>
            </a:r>
            <a:endParaRPr lang="en-US" b="1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Georgia" panose="02040502050405020303" pitchFamily="18" charset="0"/>
              </a:rPr>
              <a:t>Матрица Эйзенхауэра, </a:t>
            </a:r>
            <a:r>
              <a:rPr lang="en-US" sz="2400" dirty="0">
                <a:latin typeface="Georgia" panose="02040502050405020303" pitchFamily="18" charset="0"/>
              </a:rPr>
              <a:t>WBS-</a:t>
            </a:r>
            <a:r>
              <a:rPr lang="ru-RU" sz="2400" dirty="0">
                <a:latin typeface="Georgia" panose="02040502050405020303" pitchFamily="18" charset="0"/>
              </a:rPr>
              <a:t>матрица, матрица </a:t>
            </a:r>
            <a:r>
              <a:rPr lang="en-US" sz="2400" dirty="0">
                <a:latin typeface="Georgia" panose="02040502050405020303" pitchFamily="18" charset="0"/>
              </a:rPr>
              <a:t>RACI.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Georgia" panose="02040502050405020303" pitchFamily="18" charset="0"/>
              </a:rPr>
              <a:t>Round 6: Flow Master — </a:t>
            </a:r>
            <a:r>
              <a:rPr lang="ru-RU" b="1" dirty="0">
                <a:latin typeface="Georgia" panose="02040502050405020303" pitchFamily="18" charset="0"/>
              </a:rPr>
              <a:t>Проектируем бизнес-процессы.</a:t>
            </a:r>
            <a:endParaRPr lang="en-US" b="1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Georgia" panose="02040502050405020303" pitchFamily="18" charset="0"/>
              </a:rPr>
              <a:t>BPMN 2.0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Georgia" panose="02040502050405020303" pitchFamily="18" charset="0"/>
              </a:rPr>
              <a:t>Final Round: Demo Day — </a:t>
            </a:r>
            <a:r>
              <a:rPr lang="ru-RU" b="1" dirty="0">
                <a:latin typeface="Georgia" panose="02040502050405020303" pitchFamily="18" charset="0"/>
              </a:rPr>
              <a:t>Упаковываем и презентуем проект.</a:t>
            </a:r>
            <a:endParaRPr lang="en-US" b="1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Georgia" panose="02040502050405020303" pitchFamily="18" charset="0"/>
              </a:rPr>
              <a:t>Pitch Desk</a:t>
            </a:r>
            <a:endParaRPr lang="ru-RU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1213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D54BD65-8952-0C91-F111-CCA13A344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Практическое занятие №4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D42EF96-8E6E-B0B4-0D9A-1CD1AF045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28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Georgia" panose="02040502050405020303" pitchFamily="18" charset="0"/>
              </a:rPr>
              <a:t>Round 4: Reality Check — </a:t>
            </a:r>
            <a:r>
              <a:rPr lang="ru-RU" b="1" dirty="0">
                <a:latin typeface="Georgia" panose="02040502050405020303" pitchFamily="18" charset="0"/>
              </a:rPr>
              <a:t>Считаем экономику.</a:t>
            </a:r>
            <a:endParaRPr lang="en-US" b="1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Georgia" panose="02040502050405020303" pitchFamily="18" charset="0"/>
              </a:rPr>
              <a:t>Экономическое обоснование проекта.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Georgia" panose="02040502050405020303" pitchFamily="18" charset="0"/>
              </a:rPr>
              <a:t>Материал для изучения – Лекция №4 «Экономическое обоснование проекта</a:t>
            </a:r>
            <a:r>
              <a:rPr lang="ru-RU" sz="2400" dirty="0" smtClean="0">
                <a:latin typeface="Georgia" panose="02040502050405020303" pitchFamily="18" charset="0"/>
              </a:rPr>
              <a:t>» и пособие для практики №4 (для софта).</a:t>
            </a:r>
            <a:endParaRPr lang="ru-RU" sz="2400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Georgia" panose="02040502050405020303" pitchFamily="18" charset="0"/>
              </a:rPr>
              <a:t>Цель практического занятия – экономическое обоснование проекта и расчет экономических показателей эффективности.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Georgia" panose="02040502050405020303" pitchFamily="18" charset="0"/>
              </a:rPr>
              <a:t>Работа может выполняться как единолично, так и в команде до 4-х человек.</a:t>
            </a:r>
          </a:p>
        </p:txBody>
      </p:sp>
    </p:spTree>
    <p:extLst>
      <p:ext uri="{BB962C8B-B14F-4D97-AF65-F5344CB8AC3E}">
        <p14:creationId xmlns:p14="http://schemas.microsoft.com/office/powerpoint/2010/main" val="133739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B43CD0B-F177-2470-5203-35D56C98B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8093047-4C5F-AB17-3980-AE090E72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Практическое занятие №4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65BF156-A872-BACE-8603-38DDD401B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500" b="1" dirty="0">
                <a:latin typeface="Georgia" panose="02040502050405020303" pitchFamily="18" charset="0"/>
              </a:rPr>
              <a:t>Экономическое обоснование проекта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Georgia" panose="02040502050405020303" pitchFamily="18" charset="0"/>
              </a:rPr>
              <a:t>Цель: составить экономическое обоснование проекта с учетом дисконтирования денежных потоков, чистой дисконтированной стоимости проекта, внутренней нормы доходности, дисконтированного срока </a:t>
            </a:r>
            <a:r>
              <a:rPr lang="ru-RU" dirty="0" smtClean="0">
                <a:latin typeface="Georgia" panose="02040502050405020303" pitchFamily="18" charset="0"/>
              </a:rPr>
              <a:t>окупаемости, а также расчета стоимости продукта (софта).</a:t>
            </a:r>
            <a:endParaRPr lang="ru-RU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Georgia" panose="02040502050405020303" pitchFamily="18" charset="0"/>
              </a:rPr>
              <a:t>Результат: таблицы </a:t>
            </a:r>
            <a:r>
              <a:rPr lang="en-US" dirty="0">
                <a:latin typeface="Georgia" panose="02040502050405020303" pitchFamily="18" charset="0"/>
              </a:rPr>
              <a:t>EXEL</a:t>
            </a:r>
            <a:r>
              <a:rPr lang="ru-RU" dirty="0">
                <a:latin typeface="Georgia" panose="02040502050405020303" pitchFamily="18" charset="0"/>
              </a:rPr>
              <a:t> по расчету всех показателей + визуализация дисконтированного срока окупаемости.</a:t>
            </a:r>
            <a:endParaRPr lang="ru-RU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8239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257</Words>
  <Application>Microsoft Office PowerPoint</Application>
  <PresentationFormat>Широкоэкранный</PresentationFormat>
  <Paragraphs>38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Georgia</vt:lpstr>
      <vt:lpstr>Тема Office</vt:lpstr>
      <vt:lpstr>Архитектура бизнеса в высокотехнологичных отраслях</vt:lpstr>
      <vt:lpstr>Практические занятия по курсу</vt:lpstr>
      <vt:lpstr>Практическое занятие №4</vt:lpstr>
      <vt:lpstr>Практическое занятие №4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бизнеса в высокотехнологичных отраслях</dc:title>
  <dc:creator>Валерий Оганян</dc:creator>
  <cp:lastModifiedBy>Студент</cp:lastModifiedBy>
  <cp:revision>5</cp:revision>
  <dcterms:created xsi:type="dcterms:W3CDTF">2025-08-24T10:59:06Z</dcterms:created>
  <dcterms:modified xsi:type="dcterms:W3CDTF">2025-09-22T07:05:38Z</dcterms:modified>
</cp:coreProperties>
</file>