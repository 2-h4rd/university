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EDE"/>
    <a:srgbClr val="EDC9FF"/>
    <a:srgbClr val="D3FDF9"/>
    <a:srgbClr val="D2EAFE"/>
    <a:srgbClr val="DDFFF1"/>
    <a:srgbClr val="00FF99"/>
    <a:srgbClr val="CC3300"/>
    <a:srgbClr val="CC0099"/>
    <a:srgbClr val="E4F0A6"/>
    <a:srgbClr val="F2A4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51" autoAdjust="0"/>
    <p:restoredTop sz="94660"/>
  </p:normalViewPr>
  <p:slideViewPr>
    <p:cSldViewPr snapToGrid="0">
      <p:cViewPr varScale="1">
        <p:scale>
          <a:sx n="98" d="100"/>
          <a:sy n="98" d="100"/>
        </p:scale>
        <p:origin x="2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702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1547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997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595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55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433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994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22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443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724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169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3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48062-B8ED-48F4-9509-79CFC643B810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F40A9-236D-43F5-95CC-D89C74A2770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026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803304" y="1712870"/>
            <a:ext cx="106736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5">
                    <a:lumMod val="50000"/>
                  </a:schemeClr>
                </a:solidFill>
              </a:rPr>
              <a:t>Разработка проектов нормативных документов по защите информации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70246" y="6103984"/>
            <a:ext cx="106736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Москва 2026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03304" y="4701050"/>
            <a:ext cx="106736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Старший преподаватель </a:t>
            </a:r>
          </a:p>
          <a:p>
            <a:pPr algn="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кафедры КБ-2 «Информационно-аналитические системы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</a:rPr>
              <a:t>кибербезопасности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»</a:t>
            </a:r>
          </a:p>
          <a:p>
            <a:pPr algn="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Сумина С.В.</a:t>
            </a:r>
          </a:p>
        </p:txBody>
      </p:sp>
    </p:spTree>
    <p:extLst>
      <p:ext uri="{BB962C8B-B14F-4D97-AF65-F5344CB8AC3E}">
        <p14:creationId xmlns:p14="http://schemas.microsoft.com/office/powerpoint/2010/main" val="143130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54321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5">
                    <a:lumMod val="50000"/>
                  </a:schemeClr>
                </a:solidFill>
              </a:rPr>
              <a:t>Процесс разработки проектов нормативных документов по защите информации включает: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88887" y="1092468"/>
            <a:ext cx="375718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Анализ требований и стандартов.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027314" y="1372221"/>
            <a:ext cx="1638675" cy="570052"/>
          </a:xfrm>
          <a:prstGeom prst="line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7278981" y="1511386"/>
            <a:ext cx="467158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Формирование концепции информационной безопасности.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8887" y="2256311"/>
            <a:ext cx="376624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Создание модели рисков.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7438174" y="2730876"/>
            <a:ext cx="365005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Разработка нормативных документов.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88887" y="3331248"/>
            <a:ext cx="390657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Аудит информационной безопасности.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325006" y="3999390"/>
            <a:ext cx="4286817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Внедрение и сопровождение.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7230700" y="5168722"/>
            <a:ext cx="49613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Обучение и подготовка персонала.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475302" y="5718451"/>
            <a:ext cx="354895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Мониторинг и контроль.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511517" y="4552567"/>
            <a:ext cx="347653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Оценка эффективности.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7325006" y="6283134"/>
            <a:ext cx="3232087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6E166A"/>
                </a:solidFill>
              </a:rPr>
              <a:t>Развитие и адаптация.</a:t>
            </a: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 flipV="1">
            <a:off x="5027312" y="1977636"/>
            <a:ext cx="1638677" cy="536249"/>
          </a:xfrm>
          <a:prstGeom prst="line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>
            <a:off x="5027314" y="2520495"/>
            <a:ext cx="1638675" cy="570052"/>
          </a:xfrm>
          <a:prstGeom prst="line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flipV="1">
            <a:off x="5027312" y="3125910"/>
            <a:ext cx="1638677" cy="536249"/>
          </a:xfrm>
          <a:prstGeom prst="line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5040894" y="3679028"/>
            <a:ext cx="1638675" cy="570052"/>
          </a:xfrm>
          <a:prstGeom prst="line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V="1">
            <a:off x="5040892" y="4284443"/>
            <a:ext cx="1638677" cy="536249"/>
          </a:xfrm>
          <a:prstGeom prst="line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5040894" y="4812416"/>
            <a:ext cx="1638675" cy="570052"/>
          </a:xfrm>
          <a:prstGeom prst="line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 flipV="1">
            <a:off x="5040892" y="5417831"/>
            <a:ext cx="1638677" cy="536249"/>
          </a:xfrm>
          <a:prstGeom prst="line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5040894" y="5951609"/>
            <a:ext cx="1638675" cy="570052"/>
          </a:xfrm>
          <a:prstGeom prst="line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Стрелка влево 37"/>
          <p:cNvSpPr/>
          <p:nvPr/>
        </p:nvSpPr>
        <p:spPr>
          <a:xfrm>
            <a:off x="4525600" y="1336858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Стрелка влево 38"/>
          <p:cNvSpPr/>
          <p:nvPr/>
        </p:nvSpPr>
        <p:spPr>
          <a:xfrm>
            <a:off x="4525600" y="2468245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трелка влево 39"/>
          <p:cNvSpPr/>
          <p:nvPr/>
        </p:nvSpPr>
        <p:spPr>
          <a:xfrm>
            <a:off x="4539180" y="3616670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Стрелка влево 40"/>
          <p:cNvSpPr/>
          <p:nvPr/>
        </p:nvSpPr>
        <p:spPr>
          <a:xfrm>
            <a:off x="4539179" y="4756614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Стрелка влево 41"/>
          <p:cNvSpPr/>
          <p:nvPr/>
        </p:nvSpPr>
        <p:spPr>
          <a:xfrm>
            <a:off x="4525600" y="5896558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Стрелка влево 42"/>
          <p:cNvSpPr/>
          <p:nvPr/>
        </p:nvSpPr>
        <p:spPr>
          <a:xfrm rot="10800000">
            <a:off x="6679569" y="1901992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Стрелка влево 43"/>
          <p:cNvSpPr/>
          <p:nvPr/>
        </p:nvSpPr>
        <p:spPr>
          <a:xfrm rot="10800000">
            <a:off x="6706352" y="3057264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Стрелка влево 44"/>
          <p:cNvSpPr/>
          <p:nvPr/>
        </p:nvSpPr>
        <p:spPr>
          <a:xfrm rot="10800000">
            <a:off x="6692392" y="4212536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Стрелка влево 45"/>
          <p:cNvSpPr/>
          <p:nvPr/>
        </p:nvSpPr>
        <p:spPr>
          <a:xfrm rot="10800000">
            <a:off x="6679569" y="5354999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Стрелка влево 46"/>
          <p:cNvSpPr/>
          <p:nvPr/>
        </p:nvSpPr>
        <p:spPr>
          <a:xfrm rot="10800000">
            <a:off x="6679565" y="6469918"/>
            <a:ext cx="501712" cy="104499"/>
          </a:xfrm>
          <a:prstGeom prst="leftArrow">
            <a:avLst/>
          </a:prstGeom>
          <a:ln w="76200">
            <a:solidFill>
              <a:srgbClr val="DE4BE5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55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16599" y="0"/>
            <a:ext cx="12192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5">
                    <a:lumMod val="50000"/>
                  </a:schemeClr>
                </a:solidFill>
              </a:rPr>
              <a:t>Документы, утверждение которых, как правило необходимо для любой системы, независимо от ее классификации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1083471"/>
            <a:ext cx="121754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i="1" u="sng" dirty="0">
                <a:solidFill>
                  <a:schemeClr val="accent6">
                    <a:lumMod val="50000"/>
                  </a:schemeClr>
                </a:solidFill>
              </a:rPr>
              <a:t>Приказ о назначении ответственного за организацию обработки персональных данных и администратора безопасности информации</a:t>
            </a:r>
            <a:endParaRPr lang="ru-RU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0" y="2111026"/>
            <a:ext cx="8655113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Bef>
                <a:spcPts val="12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Этим приказом назначаются: ответственный за организацию обработки персональных данных и администратор безопасности.</a:t>
            </a:r>
          </a:p>
          <a:p>
            <a:pPr indent="360000" algn="just">
              <a:spcBef>
                <a:spcPts val="12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Необходимость назначения ответственного за организацию обработки персональных данных обусловлена ст. 18.1 закона «О персональных данных».</a:t>
            </a:r>
          </a:p>
          <a:p>
            <a:pPr indent="360000" algn="just">
              <a:spcBef>
                <a:spcPts val="12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Необходимость администратора безопасности обусловлена, например, приказом ФСТЭК № 117, регулирующего ГИС, но требования которого применимы и к ПД.</a:t>
            </a:r>
          </a:p>
          <a:p>
            <a:pPr indent="360000" algn="just">
              <a:spcBef>
                <a:spcPts val="12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Отличаются эти лица тем, что «ответственный» больше по бумажной части, а «администратор» по технической.</a:t>
            </a:r>
          </a:p>
          <a:p>
            <a:pPr indent="360000" algn="just">
              <a:spcBef>
                <a:spcPts val="12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Для того чтобы ответственный и администратор понимали свои задачи и полномочия им полагаются инструкции.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191" y="2815250"/>
            <a:ext cx="3446209" cy="23142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5327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16599" y="0"/>
            <a:ext cx="12192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5">
                    <a:lumMod val="50000"/>
                  </a:schemeClr>
                </a:solidFill>
              </a:rPr>
              <a:t>Документы, утверждение которых, как правило необходимо для любой системы, независимо от ее классификации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1083471"/>
            <a:ext cx="121754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i="1" u="sng" dirty="0">
                <a:solidFill>
                  <a:schemeClr val="accent6">
                    <a:lumMod val="50000"/>
                  </a:schemeClr>
                </a:solidFill>
              </a:rPr>
              <a:t>Приказ о назначении ответственного за организацию обработки персональных данных и администратора безопасности информации</a:t>
            </a:r>
            <a:endParaRPr lang="ru-RU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2" y="1956097"/>
            <a:ext cx="12191998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Bef>
                <a:spcPts val="3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1.	Наименование организации и реквизиты документа (номер, дата).</a:t>
            </a:r>
          </a:p>
          <a:p>
            <a:pPr indent="360000" algn="just">
              <a:spcBef>
                <a:spcPts val="3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2.	Заголовок: «О назначении ответственного за организацию обработки персональных данных и администратора безопасности информации».</a:t>
            </a:r>
          </a:p>
          <a:p>
            <a:pPr indent="360000" algn="just">
              <a:spcBef>
                <a:spcPts val="3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3.	Основание для издания приказа: ссылка на соответствующий федеральный закон или локальный нормативный акт.</a:t>
            </a:r>
          </a:p>
          <a:p>
            <a:pPr indent="360000" algn="just">
              <a:spcBef>
                <a:spcPts val="3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4.	Указание на должность, фамилию, имя, отчество и структурное подразделение сотрудника, ответственного за обработку персональных данных.</a:t>
            </a:r>
          </a:p>
          <a:p>
            <a:pPr indent="360000" algn="just">
              <a:spcBef>
                <a:spcPts val="3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5.	Указание на должность, фамилию, имя, отчество и структурное подразделение сотрудника, ответственного за обеспечение информационной безопасности.</a:t>
            </a:r>
          </a:p>
          <a:p>
            <a:pPr indent="360000" algn="just">
              <a:spcBef>
                <a:spcPts val="3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6.	Обязанности и полномочия назначенных сотрудников, включая ответственность за соблюдение законодательства о персональных данных и информационной безопасности.</a:t>
            </a:r>
          </a:p>
          <a:p>
            <a:pPr indent="360000" algn="just">
              <a:spcBef>
                <a:spcPts val="3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7.	Контроль за исполнением приказа и подпись руководителя.</a:t>
            </a:r>
          </a:p>
          <a:p>
            <a:pPr indent="360000" algn="just">
              <a:spcBef>
                <a:spcPts val="3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8.	Ознакомление сотрудников с приказом и их подписи.</a:t>
            </a:r>
          </a:p>
          <a:p>
            <a:pPr indent="360000" algn="just">
              <a:spcBef>
                <a:spcPts val="3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Приказ должен быть составлен в письменной форме и подписан руководителем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val="407279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16599" y="0"/>
            <a:ext cx="12192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5">
                    <a:lumMod val="50000"/>
                  </a:schemeClr>
                </a:solidFill>
              </a:rPr>
              <a:t>Документы, утверждение которых, как правило необходимо для любой системы, независимо от ее классификации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1083471"/>
            <a:ext cx="121754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i="1" u="sng" dirty="0">
                <a:solidFill>
                  <a:schemeClr val="accent6">
                    <a:lumMod val="50000"/>
                  </a:schemeClr>
                </a:solidFill>
              </a:rPr>
              <a:t>Инструкция администратора безопасности</a:t>
            </a:r>
            <a:endParaRPr lang="ru-RU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153909" y="1721727"/>
            <a:ext cx="8655113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Bef>
                <a:spcPts val="12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Инструкция администратора безопасности включает общие функции, права и обязанности по обеспечению информационной безопасности, правила работы с учётными записями пользователей, разграничение прав доступа, корректировку разрешительной системы доступа, контроль доступа пользователей к работе, обновление антивирусного программного обеспечения и другие аспекты.</a:t>
            </a:r>
          </a:p>
          <a:p>
            <a:pPr indent="360000" algn="just">
              <a:spcBef>
                <a:spcPts val="1200"/>
              </a:spcBef>
            </a:pPr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Инструкция администратора безопасности также определяет ответственность администратора за сохранность и конфиденциальность информации, соблюдение правил работы с персональными данными, использование программно-технических средств для обеспечения информационной безопасности. Администратор обязан контролировать соблюдение правил работы с информацией, имеющей отношение к коммерческой тайне, и своевременно информировать руководство о возможных угрозах информационной безопасности.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551" y="2020491"/>
            <a:ext cx="3135949" cy="28303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621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16599" y="0"/>
            <a:ext cx="12192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5">
                    <a:lumMod val="50000"/>
                  </a:schemeClr>
                </a:solidFill>
              </a:rPr>
              <a:t>Документы, утверждение которых, как правило необходимо для любой системы, независимо от ее классификации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1083471"/>
            <a:ext cx="12175401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50" i="1" u="sng" dirty="0">
                <a:solidFill>
                  <a:schemeClr val="accent6">
                    <a:lumMod val="50000"/>
                  </a:schemeClr>
                </a:solidFill>
              </a:rPr>
              <a:t>Инструкция ответственного за организацию обработки персональных данных</a:t>
            </a:r>
            <a:endParaRPr lang="ru-RU" sz="26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2442924" y="1571332"/>
            <a:ext cx="973247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1.	Общие положения: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определение ответственного лица и его обязанности;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ответственность за нарушение законодательства о персональных данных.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2.	Функции ответственного лица: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организация обработки персональных данных;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обеспечение соблюдения требований законодательства;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взаимодействие с работниками организации;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контроль за соблюдением требований к защите персональных данных.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3.	Права ответственного лица: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принятие решений в пределах своей компетенции;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взаимодействие с другими структурными подразделениями организации;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обращение к руководству с предложениями по улучшению обработки персональных данных.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4.	Ответственность ответственного лица: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за неисполнение или ненадлежащее исполнение своих обязанностей;</a:t>
            </a:r>
          </a:p>
          <a:p>
            <a:pPr indent="360000" algn="just"/>
            <a:r>
              <a:rPr lang="ru-RU" sz="2100" dirty="0">
                <a:solidFill>
                  <a:schemeClr val="accent5">
                    <a:lumMod val="50000"/>
                  </a:schemeClr>
                </a:solidFill>
              </a:rPr>
              <a:t>за нарушение требований законодательства о персональных данных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53837"/>
          <a:stretch/>
        </p:blipFill>
        <p:spPr>
          <a:xfrm>
            <a:off x="-1" y="1985389"/>
            <a:ext cx="2715080" cy="29637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5485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16599" y="0"/>
            <a:ext cx="12192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5">
                    <a:lumMod val="50000"/>
                  </a:schemeClr>
                </a:solidFill>
              </a:rPr>
              <a:t>Документы, утверждение которых, как правило необходимо для любой системы, независимо от ее классификации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1083471"/>
            <a:ext cx="12175401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50" i="1" u="sng" dirty="0">
                <a:solidFill>
                  <a:schemeClr val="accent6">
                    <a:lumMod val="50000"/>
                  </a:schemeClr>
                </a:solidFill>
              </a:rPr>
              <a:t>Приказ о назначении группы реагирования на инциденты информационной безопасности и о правилах регистрации инцидентов информационной безопасности и реагирования на них</a:t>
            </a:r>
            <a:endParaRPr lang="ru-RU" sz="26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94368" y="2636339"/>
            <a:ext cx="639249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Назначение группы реагирования на инциденты информационной безопасности (ГРИИБ) и её состав.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Утверждение инструкции по реагированию на инциденты информационной безопасности.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Регламентирование работы группы по руководству и контролю над исполнением руководящих документов ФСТЭК России, ФСБ России и государственных стандартов в области информационной безопасности.</a:t>
            </a:r>
          </a:p>
        </p:txBody>
      </p:sp>
      <p:pic>
        <p:nvPicPr>
          <p:cNvPr id="1026" name="Picture 2" descr="Управление инцидентами компьютерной безопасности Компьютерная группа  реагирования на чрезвычайные ситуации Организация, 24x7, компьютерная сеть,  текст, компьютер png | PNGWi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783" b="92935" l="1522" r="9760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861" y="2047186"/>
            <a:ext cx="5823474" cy="526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333" l="10000" r="9125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6950" y="2997151"/>
            <a:ext cx="2693473" cy="202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01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16599" y="0"/>
            <a:ext cx="12192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5">
                    <a:lumMod val="50000"/>
                  </a:schemeClr>
                </a:solidFill>
              </a:rPr>
              <a:t>Документы, утверждение которых, как правило необходимо для любой системы, независимо от ее классификации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1083471"/>
            <a:ext cx="12175401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50" i="1" u="sng" dirty="0">
                <a:solidFill>
                  <a:schemeClr val="accent6">
                    <a:lumMod val="50000"/>
                  </a:schemeClr>
                </a:solidFill>
              </a:rPr>
              <a:t>Инструкция по реагированию на инциденты информационной безопасности</a:t>
            </a:r>
            <a:endParaRPr lang="ru-RU" sz="26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3992221" y="1583608"/>
            <a:ext cx="8199779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Анализ инцидента.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Устранение последствий инцидента.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Формирование перечня мероприятий по недопущению инцидента в будущем.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Проведение внутреннего расследования.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Ознакомление работников с материалами расследования и предоставление им возможности давать комментарии и предоставлять дополнительную информацию.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Устранение причин и последствий инцидента.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Обеспечение конфиденциальности и сохранности всех материалов внутренних расследований, а также ознакомление работников с результатами расследования и принятие мер ответственности к виновным лицам.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00" y="2119972"/>
            <a:ext cx="3958098" cy="39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71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16599" y="0"/>
            <a:ext cx="12192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5">
                    <a:lumMod val="50000"/>
                  </a:schemeClr>
                </a:solidFill>
              </a:rPr>
              <a:t>Документы, утверждение которых, как правило необходимо для любой системы, независимо от ее классификации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" y="1083471"/>
            <a:ext cx="12175401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50" i="1" u="sng" dirty="0">
                <a:solidFill>
                  <a:schemeClr val="accent6">
                    <a:lumMod val="50000"/>
                  </a:schemeClr>
                </a:solidFill>
              </a:rPr>
              <a:t>Инструкция пользователя государственной информационной системы</a:t>
            </a:r>
            <a:endParaRPr lang="ru-RU" sz="26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388410" y="1938611"/>
            <a:ext cx="696982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1.	Общие положения.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2.	Права и обязанности пользователей.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3.	Общие обязанности пользователя по защите информации.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4.	Меры по защите информации.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5.	Работа с криптографическими средствами защиты информации.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6.	Ответственность пользователя за нарушение правил информационной безопасности.</a:t>
            </a:r>
          </a:p>
          <a:p>
            <a:pPr indent="360000" algn="just">
              <a:spcAft>
                <a:spcPts val="600"/>
              </a:spcAft>
            </a:pPr>
            <a:r>
              <a:rPr lang="ru-RU" sz="2300" dirty="0">
                <a:solidFill>
                  <a:schemeClr val="accent5">
                    <a:lumMod val="50000"/>
                  </a:schemeClr>
                </a:solidFill>
              </a:rPr>
              <a:t>7.	Заключительные положения.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638" y="2253022"/>
            <a:ext cx="4476680" cy="27060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192312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2485</TotalTime>
  <Words>873</Words>
  <Application>Microsoft Office PowerPoint</Application>
  <PresentationFormat>Широкоэкранный</PresentationFormat>
  <Paragraphs>78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Светлана Сумина</cp:lastModifiedBy>
  <cp:revision>379</cp:revision>
  <dcterms:created xsi:type="dcterms:W3CDTF">2024-02-04T17:57:17Z</dcterms:created>
  <dcterms:modified xsi:type="dcterms:W3CDTF">2026-09-02T19:24:38Z</dcterms:modified>
</cp:coreProperties>
</file>