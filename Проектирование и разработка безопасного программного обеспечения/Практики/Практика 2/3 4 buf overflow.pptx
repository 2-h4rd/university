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265" r:id="rId26"/>
    <p:sldId id="312" r:id="rId27"/>
    <p:sldId id="310" r:id="rId28"/>
    <p:sldId id="311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F85B8-E6D2-473F-AE97-2FBA6892A9D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17EEC-5D2A-4356-A561-8412DE20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3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50579-E414-4CF9-8C08-0B956232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9B2B76-9D3D-4E9F-8672-6188FC91F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D4A0B-F425-459C-A514-C3CE8469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667DCA-E4ED-4B6B-B712-D8FB4F1A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9D67D-C8AA-4A92-A814-3168D9A8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4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C9A75-752D-4CCC-8651-C027E70B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AA574B-5271-4883-B021-2BAF134AE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9C4F82-00E0-448E-9A00-8D8B1B37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1AD081-C072-41A5-AF5C-B7BB4517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C5498-BE86-4E84-8AFA-43000B87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94FD1-8382-4960-82B8-DA26C19A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95E0FE-FB49-48F4-8CC2-6EACE089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0A342-DBF2-4C3B-9FC0-5339E683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8CAAAE-D1D6-4194-A09C-DB3BD355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71AAB-A9A1-46FA-8D06-10495B71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27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7A0F4-B6E0-4D55-A8E6-10984D19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CBCB7-86BC-4828-A096-D2979B730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7754A0-0E0E-4E23-A019-670969529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B1D0E1-24CA-4129-9A94-DA297F8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98C564-6A6D-4D77-8F1F-BFFFA88D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75CE9F-4FD9-4986-A455-F4FE8716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24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13B4D-0469-4DE3-9514-AF783F470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D677A9-CF49-43EC-BB9B-61B5B9A7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70700C-B851-4430-A3D8-0C4CA8B40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9DA956-F423-4CCF-9F5D-621489970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7DEA14-8084-4228-9283-A9E275EF9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28071E-8FC8-46C4-91AA-CCDF6827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EC82C0-2718-4DC3-8D11-A206BD89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A2DCC2-BA01-4584-BF94-A11FF593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34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2BFBE-0D9B-40AE-ADD3-56A8F5FC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DB845A-AB51-4E4C-A27A-7F6E1386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C39898-B309-4C42-8EA5-C84CDB5A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BE7466-8E4B-499F-9F29-D7EFE90B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89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4E94201-6EF4-4F5B-A286-F772A19D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B474DD-7EF3-4074-B96F-AF9B1534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98A0E0-7F9B-466B-96F2-423EC4A8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4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DBC74-C9DB-44A7-940E-4EB8B77F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32EAC8-6B4B-4762-919A-82E7DD06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3F1D1-B65D-419A-A742-E6336E5C9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FBC31F-0CAF-4AA0-A8C8-6E9A91AE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FA7221-67FD-4306-A704-EEA13B69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D64BB5-0FC3-4C04-9C20-79AB2E1C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2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96368-A267-4237-90CA-25C169A9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8C63C1-0AA8-49ED-B4E1-FD5ECC064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BAE593-D55E-4F20-A9E8-FD85BCB8B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BBD03B-E735-4F9B-9DC1-8CCA261C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08559F-1982-4297-B7ED-43C53827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51FD5D-CA2A-4317-B825-E2313BFB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11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BD8B4-B10A-4D68-A6F9-DCBBE40A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F1C78E-52E1-43E7-A9E2-1FD72D833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D1258-63D5-4CC8-97CA-9DC6F1A8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6405EF-E6D2-4F69-B920-8EEFF06E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FF2CD4-2669-4606-B086-2B5578B8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91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110912-DC0C-4AB6-8C39-EF599925F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1C238B-C1EA-412A-AB10-F06A05D1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418E8-B576-489C-A104-5C30E52A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7B0639-A890-43E0-9FEA-EE9B0FE2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EBF33-F730-4950-89F6-067F9947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7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16BA6-C76B-4D83-A0BF-E2BBB58A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235308-94B0-46E9-943F-6F269CC1C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A527E0-810D-41CC-8190-DDF8C3A6E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EB14-0722-4C49-A727-EC09E33B3088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871E5-1EDE-4D7E-AEEF-D2B8E9324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394237-9A18-4881-B32B-AC3167A4A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43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mamaev@mirea.r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A0123597-A37C-4C21-ADB5-77A3C37DCB6E}"/>
              </a:ext>
            </a:extLst>
          </p:cNvPr>
          <p:cNvSpPr txBox="1">
            <a:spLocks/>
          </p:cNvSpPr>
          <p:nvPr/>
        </p:nvSpPr>
        <p:spPr>
          <a:xfrm>
            <a:off x="6818023" y="5621670"/>
            <a:ext cx="5373977" cy="1659509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ru-RU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  <a:uLnTx/>
                <a:uFillTx/>
                <a:ea typeface="+mn-ea"/>
                <a:cs typeface="+mn-cs"/>
              </a:rPr>
              <a:t>Подготовил:</a:t>
            </a:r>
            <a:endParaRPr lang="ru-RU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Ассистент кафедры КБ-2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Александр Сергеевич Мамаев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BDBD59B-8459-4B01-8480-DEFB31C3C9E6}"/>
              </a:ext>
            </a:extLst>
          </p:cNvPr>
          <p:cNvSpPr txBox="1">
            <a:spLocks/>
          </p:cNvSpPr>
          <p:nvPr/>
        </p:nvSpPr>
        <p:spPr>
          <a:xfrm>
            <a:off x="1019533" y="222116"/>
            <a:ext cx="10189247" cy="249704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МИНОБРНАУКИ РОССИИ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«МИРЭА–Российский технологический университет»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РТУ МИРЭА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Институт кибербезопасности и цифровых технологий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Кафедра КБ-2«Информационно-аналитические системы кибербезопасности»</a:t>
            </a:r>
            <a:endParaRPr lang="en-US" sz="1800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08FACF4-B7DE-4D33-93E7-A1E780A40997}"/>
              </a:ext>
            </a:extLst>
          </p:cNvPr>
          <p:cNvSpPr txBox="1">
            <a:spLocks/>
          </p:cNvSpPr>
          <p:nvPr/>
        </p:nvSpPr>
        <p:spPr>
          <a:xfrm>
            <a:off x="1316231" y="3205841"/>
            <a:ext cx="9559538" cy="1275372"/>
          </a:xfrm>
          <a:prstGeom prst="rect">
            <a:avLst/>
          </a:prstGeom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  <a:ea typeface="+mj-ea"/>
                <a:cs typeface="+mj-cs"/>
              </a:rPr>
              <a:t>Занятие на тему:</a:t>
            </a:r>
          </a:p>
          <a:p>
            <a:pPr lvl="0" algn="ctr"/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</a:rPr>
              <a:t>Разработка безопасного программного обеспечения: бинарные уязвимости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C08B1A-68ED-49F8-A895-326423E7C69C}"/>
              </a:ext>
            </a:extLst>
          </p:cNvPr>
          <p:cNvSpPr txBox="1">
            <a:spLocks/>
          </p:cNvSpPr>
          <p:nvPr/>
        </p:nvSpPr>
        <p:spPr>
          <a:xfrm>
            <a:off x="1316231" y="6108351"/>
            <a:ext cx="9559538" cy="68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>
                <a:effectLst>
                  <a:glow rad="254000">
                    <a:schemeClr val="bg1"/>
                  </a:glow>
                </a:effectLst>
                <a:latin typeface="+mn-lt"/>
                <a:ea typeface="+mn-ea"/>
                <a:cs typeface="+mn-cs"/>
              </a:rPr>
              <a:t>Москва, 2026 г.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06AA2A-8562-411A-87EC-8E61D56B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61" y="-7939"/>
            <a:ext cx="1397964" cy="15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14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Актуальность проблемы бинарных уязвимостей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838167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Актуальность проблемы обусловлена широким распространением уязвимостей переполнения буфера. Согласно рейтингу CWE Top 25 за 2024 год, категория Out-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of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bounds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Write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занимает второе место по опасности.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Крупнейшие инциденты: червь Морриса (1988), Code Red (2001, свыше 359 тыс. систем), SQL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Slammer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(2003, 250 тыс. систем за 10 минут),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Heartbleed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(2014).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2025 году выявлена CVE-2025-40634 в TP-Link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Archer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AX50, что подтверждает сохранение угрозы.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8517C6-44C3-43EC-A48D-42E11BFD6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042" y="1476343"/>
            <a:ext cx="7473975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2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Переполнение буфера: определение и механизм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3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282763" y="1375982"/>
            <a:ext cx="3646254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Переполнение буфера — запись данных за пределами выделенной области памяти. Возникает при отсутствии контроля границ при копировании.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Классификация: стековое, кучевое, целочисленное, ошибки форматной строки.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Стековое переполнение — классический и наиболее изученный случай: перезапись локальных переменных, указателя кадра и адреса возврата.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D79523-41C1-467A-8B4C-0040EC27F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16" y="1375982"/>
            <a:ext cx="7891131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6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Стек вызовов: структура кадра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267097"/>
            <a:ext cx="3285275" cy="54083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Стек вызовов — область памяти для хранения локальных переменных, адресов возврата и аргументов. Рост стека направлен вниз.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Регистр ESP указывает на вершину, EBP — на начало кадра. Инструкция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call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помещает адрес возврата в стек,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извлекает его.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Структура кадра: локальные переменные, сохранённый EBP, адрес возврата, аргументы.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568870-A56F-49A1-A5FC-273A807B8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93" y="1242834"/>
            <a:ext cx="8185298" cy="545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2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Перезапись адреса возврата: принцип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123274" y="1375982"/>
            <a:ext cx="3805743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 переполнении буфера возможно перезаписать сохранённый EBP и адрес возврата. При завершении функции управление передаётся по адресу из перезаписанного адреса возврата.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Это позволяет перенаправить поток исполнения на произвольный код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шеллкод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или существующую функцию.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Для успешной атаки требуется точное знание адреса целевой инструкции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AC196A-98CF-4BB9-8633-985B5A098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54" y="1375982"/>
            <a:ext cx="7541315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9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Пример уязвимого кода и его компиляция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6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380968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Уязвимый код: функция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read_string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использует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scanf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("%s", buffer)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без ограничения длины ввода. Буфер фиксированного размера, ввод превышает его.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Компиляция с отключением защит: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gcc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-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fno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-stack-protector -z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execstack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-m32 -g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main.c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-o main.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Отключение защит необходимо для демонстрации уязвимости в учебных целях.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80CDE3-F057-402E-8ABA-6F4B90521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638" y="1476343"/>
            <a:ext cx="7913454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6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Демонстрация переполнения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7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985051" y="1375982"/>
            <a:ext cx="3943966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 вводе строки, превышающей размер буфера, возникает ошибка сегментации. Это происходит из-за перезаписи адреса возврата и попытки перехода по некорректному адресу.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Программа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аварийно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завершается с сообщением «Ошибка сегментирования (образ памяти сброшен на диск)».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Демонстрация подтверждает возможность перезаписи адреса возврата.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104DE0-01BC-4E63-A268-CF61C0F8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04310"/>
            <a:ext cx="7403091" cy="515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Дизассемблирование функции </a:t>
            </a:r>
            <a:r>
              <a:rPr lang="en-US" dirty="0" err="1">
                <a:effectLst>
                  <a:glow rad="254000">
                    <a:schemeClr val="bg1"/>
                  </a:glow>
                </a:effectLst>
              </a:rPr>
              <a:t>read_string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8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636150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Дизассемблирование функции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read_string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 GDB показывает выделение буфера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sub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esp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0x14) и вызов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scanf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без проверки границ.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Адрес возврата расположен по адресу [ebp+4]. При переполнении буфера возможно достижение этой области.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Отсутствие проверок делает функцию уязвимой.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1C183F-87E4-4075-A3E0-A5C10CFA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124" y="1476343"/>
            <a:ext cx="7672978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51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Дизассемблирование функции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main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9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974419" y="1375982"/>
            <a:ext cx="3954598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Дизассемблирование функции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main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показывает вызов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read_string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и отсутствие дополнительных проверок ввода.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Уязвимость локализована именно 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read_string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что подтверждается анализом.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Main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не выполняет обработки ошибок, что упрощает эксплуатацию и создаёт предпосылки для атаки.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4A12EA-CC3F-42BB-ACF8-30F5C3F51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7504814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9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Практическое переполнение с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DCBA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10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487293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Практическое переполнение: создаётся файл со строкой, превышающей буфер, и добавляются байты «DCBA» для перезаписи адреса возврата.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Адрес возврата становится 0x41424344 (ASCII-коды D, C, B, A), что приводит к ошибке сегментации при возврате.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Эксперимент подтверждает возможность контроля адреса возврата.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2AD1B-5740-4DEC-AA26-3CBD97F1F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758" y="1476343"/>
            <a:ext cx="7619160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4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Закрытая уязвимость: безопасный код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11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155172" y="1375982"/>
            <a:ext cx="3773845" cy="5024475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Безопасный код использует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fgets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с ограничением размера буфера. При попытке переполнения ввод обрезается до 16 символов.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Адрес возврата не перезаписывается, программа завершается нормально.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Пример демонстрирует эффективность безопасных функций ввода.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6301CF-2561-40D6-9AE9-34EA105DB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7536712" cy="50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1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Типы уязвимостей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3508559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Типы уязвимостей: стековое переполнение (перезапись адреса возврата), переполнение кучи (перезапись метаданных), целочисленное переполнение (ошибки размера), ошибки форматной строки (чтение/запись через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printf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Стековое переполнение — классический пример, но не единственный.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Атаки на кучу становятся актуальными из-за оператора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new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 C++.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07738D-055C-4FE5-AE0B-660AEC620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392" y="1476343"/>
            <a:ext cx="7651712" cy="510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52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Опасные функции языка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C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13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027582" y="1375982"/>
            <a:ext cx="3901436" cy="5299454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Опасные функции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C: gets,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strcpy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strcat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sprintf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scanf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с %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 —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не проверяют границы буфера.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Безопасные альтернативы: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fgets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strncpy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strncat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snprintf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Функция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gets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исключена из стандарта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C11.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Использование опасных функций — основная причина переполнения.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6C872E-9FEF-43A4-BA12-B9440740C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7540791" cy="529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3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Статистика и реальные инциденты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306540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CWE-787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занимает 2-е место в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CWE Top 25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за 2024 год.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Крупные инциденты: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Morris worm (1988), Code Red (2001, 359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тыс. систем),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SQL Slammer (2003, 250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тыс. систем за 10 минут),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Heartbleed (2014).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Масштаб ущерба подтверждает критичность проблемы.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640BB7-F957-44AD-8ADB-504C4FEB1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56" y="1476343"/>
            <a:ext cx="8186356" cy="515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09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Современный пример: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CVE-2025-40634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718698" y="1375982"/>
            <a:ext cx="3210319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CVE-2025-40634: переполнение буфера в стеке в TP-Link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Archer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AX50 (прошивка до 1.0.15).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Позволяет выполнять произвольный код через локальную и глобальную сети. Категория CWE-121.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Дата публикации: 20 мая 2025 года. Современный пример сохранения угрозы.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0745B0-0C17-470F-8171-7D1D5C5A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49" y="1267097"/>
            <a:ext cx="8201614" cy="518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66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Защитный механизм: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Stack Canary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16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369994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Stack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Canary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— случайное значение, помещаемое в стек перед адресом возврата. При выходе из функции проверяется целостность.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 несовпадении программа завершается. Это эффективная защита, но не абсолютная.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Канарейка может быть обойдена при утечке значения или размещении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reference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word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writable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-памяти.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921FBA-C458-4393-98B9-500B236C2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124" y="1476343"/>
            <a:ext cx="7619161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55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Обход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Stack Canary: DCR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17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506047" y="1375982"/>
            <a:ext cx="3422970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Обход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Stack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Canary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: если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reference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word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находится 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writable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-памяти, переполнение перезаписывает и его, и сохранённую копию, и адрес возврата одним значением V.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Проверка V == V проходит, управление передаётся на адрес V.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Dynamic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Canary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Randomization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(DCR)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перерандомизирует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канарейки во время выполнения.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9FA328-95E2-4514-AE9B-43518EE85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267097"/>
            <a:ext cx="7930829" cy="52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4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ASLR: 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принцип работы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18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3678680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ASLR — рандомизация адресов стека, кучи, библиотек при каждом запуске программы.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Цель — затруднить предсказание адресов для эксплойта.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ASLR повышает сложность эксплуатации, но не является абсолютной защитой. На 32-битных системах энтропия ограничена.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75E722-ACAE-4E50-8EF8-7447B2D36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963" y="1460425"/>
            <a:ext cx="7855687" cy="509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7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Обход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ASLR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19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016949" y="1375982"/>
            <a:ext cx="3912068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Методы обхода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ASLR: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утечки адресов (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info leak), heap spraying, Return-Oriented Programming (ROP).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Пример: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CVE-2025-22457 (Ivanti Connect Secure)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использует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heap spraying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ROP.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Heap spraying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размещает множество копий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шеллкода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 куче для повышения вероятности попадания.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8A001D-9D71-4B28-AF97-6F3797792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7619159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66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NX/DEP: 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принцип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20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3508559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NX/DEP — запрет на исполнение кода из областей памяти, предназначенных для данных (стек, куча).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Предотвращает выполнение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шеллкода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размещённого на стеке.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Поддерживается на уровне процессора и ОС. Попытка исполнения из стека вызывает исключение.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CAEA77-8B9B-4B5B-814C-081FD9DFF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638" y="1476343"/>
            <a:ext cx="7867380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9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Обход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NX/DEP: return-to-</a:t>
            </a:r>
            <a:r>
              <a:rPr lang="en-US" dirty="0" err="1">
                <a:effectLst>
                  <a:glow rad="254000">
                    <a:schemeClr val="bg1"/>
                  </a:glow>
                </a:effectLst>
              </a:rPr>
              <a:t>libc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21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304028" y="1375982"/>
            <a:ext cx="3624989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Return-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to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libc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: вместо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шеллкода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используется существующий код библиотеки C, например,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system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Перезапись адреса возврата на адрес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system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 с аргументом "/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bin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/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sh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". При возврате управление передаётся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system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Позволяет обойти NX/DEP. Является частным случаем ROP.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106773-E2D4-44F5-B204-D1E5D8243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51" y="1375982"/>
            <a:ext cx="7880127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11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ROP: 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определение и гаджеты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3731843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ROP — техника построения исполнения из коротких последовательностей инструкций, заканчивающихся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(гаджетов).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Гаджеты берутся из существующего кода (библиотек). Цепочка гаджетов размещается на стеке.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ROP обходит NX и ASLR, так как используется существующий исполнимый код. Обобщение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return-to-libc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9A9F1F-1E67-4005-91FE-8434386C1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858" y="1476343"/>
            <a:ext cx="7619159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5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Статический анализ кода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23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974419" y="1375982"/>
            <a:ext cx="3954598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Статический анализ выявляет уязвимости до запуска: построение графа потока управления (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CFG),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абстрактного синтаксического дерева (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AST),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отслеживание потока данных.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Инструменты: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SonarQube, PVS-Studio.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Чек-лист опасных функций: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gets,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strcpy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strcat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sprintf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en-US" sz="2000" dirty="0" err="1">
                <a:effectLst>
                  <a:glow rad="127000">
                    <a:schemeClr val="bg1"/>
                  </a:glow>
                </a:effectLst>
              </a:rPr>
              <a:t>scanf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с %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Позволяет обнаружить уязвимости на ранних этапах.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A2D028-44C4-4037-BCF8-4F5372638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5" y="1375982"/>
            <a:ext cx="7619161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53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Выводы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168350" y="1476343"/>
            <a:ext cx="4018922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Переполнение буфера остаётся актуальной угрозой (CWE-787 на 2 месте в 2024, CVE-2025-40634).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Защитные механизмы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Stack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Canary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ASLR, NX/DEP) повышают сложность эксплуатации, но не абсолютны.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Методы обхода: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return-to-libc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ROP,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heap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spraying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Необходима комплексная защита: безопасное программирование, статический и динамический анализ.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00B45B-0CF8-438B-9D51-A9C302425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489" y="1476343"/>
            <a:ext cx="7619161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9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D3DE8-2CC3-4786-9209-18F1F525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235" y="387428"/>
            <a:ext cx="10515600" cy="1084534"/>
          </a:xfrm>
        </p:spPr>
        <p:txBody>
          <a:bodyPr anchor="t">
            <a:noAutofit/>
          </a:bodyPr>
          <a:lstStyle/>
          <a:p>
            <a:pPr algn="ctr"/>
            <a:r>
              <a:rPr lang="ru-RU" sz="9600" dirty="0">
                <a:effectLst>
                  <a:glow rad="254000">
                    <a:schemeClr val="bg1"/>
                  </a:glow>
                </a:effectLst>
              </a:rPr>
              <a:t>СПАСИБО ЗА ВНИМАНИЕ!</a:t>
            </a:r>
            <a:endParaRPr lang="ru-RU" sz="9600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446971-32D8-4578-8E47-063497E4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095" y="22303"/>
            <a:ext cx="72590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E392B05-0D7C-4B2D-9822-0A9A789F921C}"/>
              </a:ext>
            </a:extLst>
          </p:cNvPr>
          <p:cNvSpPr txBox="1">
            <a:spLocks/>
          </p:cNvSpPr>
          <p:nvPr/>
        </p:nvSpPr>
        <p:spPr>
          <a:xfrm>
            <a:off x="1363288" y="3428999"/>
            <a:ext cx="9459884" cy="3041573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 </a:t>
            </a:r>
          </a:p>
          <a:p>
            <a:pPr marL="0" indent="0" algn="ctr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  <a:p>
            <a:pPr marL="0" indent="0" algn="ctr">
              <a:buNone/>
            </a:pP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Контактная информация:</a:t>
            </a:r>
          </a:p>
          <a:p>
            <a:pPr marL="0" indent="0" algn="ctr">
              <a:buNone/>
            </a:pPr>
            <a:r>
              <a:rPr lang="en-US" dirty="0">
                <a:effectLst>
                  <a:glow rad="127000">
                    <a:schemeClr val="bg1"/>
                  </a:glow>
                </a:effectLst>
                <a:hlinkClick r:id="rId3"/>
              </a:rPr>
              <a:t>mamaev@mirea.ru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 (Мамаев А.С., ассистент КБ-2)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5C59F2D-1F84-4563-A191-FE2BE2B50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82" y="487361"/>
            <a:ext cx="2111641" cy="233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72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A0123597-A37C-4C21-ADB5-77A3C37DCB6E}"/>
              </a:ext>
            </a:extLst>
          </p:cNvPr>
          <p:cNvSpPr txBox="1">
            <a:spLocks/>
          </p:cNvSpPr>
          <p:nvPr/>
        </p:nvSpPr>
        <p:spPr>
          <a:xfrm>
            <a:off x="6818023" y="5621670"/>
            <a:ext cx="5373977" cy="1659509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ru-RU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  <a:uLnTx/>
                <a:uFillTx/>
                <a:ea typeface="+mn-ea"/>
                <a:cs typeface="+mn-cs"/>
              </a:rPr>
              <a:t>Подготовил:</a:t>
            </a:r>
            <a:endParaRPr lang="ru-RU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Ассистент кафедры КБ-2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Александр Сергеевич Мамаев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BDBD59B-8459-4B01-8480-DEFB31C3C9E6}"/>
              </a:ext>
            </a:extLst>
          </p:cNvPr>
          <p:cNvSpPr txBox="1">
            <a:spLocks/>
          </p:cNvSpPr>
          <p:nvPr/>
        </p:nvSpPr>
        <p:spPr>
          <a:xfrm>
            <a:off x="1019533" y="222116"/>
            <a:ext cx="10189247" cy="249704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МИНОБРНАУКИ РОССИИ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«МИРЭА–Российский технологический университет»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РТУ МИРЭА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Институт кибербезопасности и цифровых технологий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Кафедра КБ-2«Информационно-аналитические системы кибербезопасности»</a:t>
            </a:r>
            <a:endParaRPr lang="en-US" sz="1800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08FACF4-B7DE-4D33-93E7-A1E780A40997}"/>
              </a:ext>
            </a:extLst>
          </p:cNvPr>
          <p:cNvSpPr txBox="1">
            <a:spLocks/>
          </p:cNvSpPr>
          <p:nvPr/>
        </p:nvSpPr>
        <p:spPr>
          <a:xfrm>
            <a:off x="1316231" y="3205841"/>
            <a:ext cx="9559538" cy="1275372"/>
          </a:xfrm>
          <a:prstGeom prst="rect">
            <a:avLst/>
          </a:prstGeom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  <a:ea typeface="+mj-ea"/>
                <a:cs typeface="+mj-cs"/>
              </a:rPr>
              <a:t>Занятие на тему:</a:t>
            </a:r>
          </a:p>
          <a:p>
            <a:pPr lvl="0" algn="ctr"/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</a:rPr>
              <a:t>Разработка безопасного программного обеспечения: бинарные уязвимости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C08B1A-68ED-49F8-A895-326423E7C69C}"/>
              </a:ext>
            </a:extLst>
          </p:cNvPr>
          <p:cNvSpPr txBox="1">
            <a:spLocks/>
          </p:cNvSpPr>
          <p:nvPr/>
        </p:nvSpPr>
        <p:spPr>
          <a:xfrm>
            <a:off x="1316231" y="6108351"/>
            <a:ext cx="9559538" cy="68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>
                <a:effectLst>
                  <a:glow rad="254000">
                    <a:schemeClr val="bg1"/>
                  </a:glow>
                </a:effectLst>
                <a:latin typeface="+mn-lt"/>
                <a:ea typeface="+mn-ea"/>
                <a:cs typeface="+mn-cs"/>
              </a:rPr>
              <a:t>Москва, 2026 г.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06AA2A-8562-411A-87EC-8E61D56B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61" y="-7939"/>
            <a:ext cx="1397964" cy="15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586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27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</a:t>
            </a:r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ы</a:t>
            </a:r>
          </a:p>
          <a:p>
            <a:pPr marL="0" indent="0" algn="just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1742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28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</a:t>
            </a:r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ы</a:t>
            </a:r>
          </a:p>
          <a:p>
            <a:pPr marL="0" indent="0" algn="just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12027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4163</TotalTime>
  <Words>1459</Words>
  <Application>Microsoft Office PowerPoint</Application>
  <PresentationFormat>Широкоэкранный</PresentationFormat>
  <Paragraphs>152</Paragraphs>
  <Slides>28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Euphemia</vt:lpstr>
      <vt:lpstr>Wingdings 3</vt:lpstr>
      <vt:lpstr>Тема Office</vt:lpstr>
      <vt:lpstr>Презентация PowerPoint</vt:lpstr>
      <vt:lpstr>Актуальность проблемы бинарных уязвимостей</vt:lpstr>
      <vt:lpstr>Переполнение буфера: определение и механизм</vt:lpstr>
      <vt:lpstr>Стек вызовов: структура кадра</vt:lpstr>
      <vt:lpstr>Перезапись адреса возврата: принцип</vt:lpstr>
      <vt:lpstr>Пример уязвимого кода и его компиляция</vt:lpstr>
      <vt:lpstr>Демонстрация переполнения</vt:lpstr>
      <vt:lpstr>Дизассемблирование функции read_string</vt:lpstr>
      <vt:lpstr>Дизассемблирование функции main</vt:lpstr>
      <vt:lpstr>Практическое переполнение с DCBA</vt:lpstr>
      <vt:lpstr>Закрытая уязвимость: безопасный код</vt:lpstr>
      <vt:lpstr>Типы уязвимостей</vt:lpstr>
      <vt:lpstr>Опасные функции языка C</vt:lpstr>
      <vt:lpstr>Статистика и реальные инциденты</vt:lpstr>
      <vt:lpstr>Современный пример: CVE-2025-40634</vt:lpstr>
      <vt:lpstr>Защитный механизм: Stack Canary</vt:lpstr>
      <vt:lpstr>Обход Stack Canary: DCR</vt:lpstr>
      <vt:lpstr>ASLR: принцип работы</vt:lpstr>
      <vt:lpstr>Обход ASLR</vt:lpstr>
      <vt:lpstr>NX/DEP: принцип</vt:lpstr>
      <vt:lpstr>Обход NX/DEP: return-to-libc</vt:lpstr>
      <vt:lpstr>ROP: определение и гаджеты</vt:lpstr>
      <vt:lpstr>Статический анализ кода</vt:lpstr>
      <vt:lpstr>Выводы</vt:lpstr>
      <vt:lpstr>СПАСИБО ЗА ВНИМАНИЕ!</vt:lpstr>
      <vt:lpstr>Презентация PowerPoint</vt:lpstr>
      <vt:lpstr>ы</vt:lpstr>
      <vt:lpstr>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Мамаев</dc:creator>
  <cp:lastModifiedBy>Александр Мамаев</cp:lastModifiedBy>
  <cp:revision>328</cp:revision>
  <dcterms:created xsi:type="dcterms:W3CDTF">2023-04-17T10:12:03Z</dcterms:created>
  <dcterms:modified xsi:type="dcterms:W3CDTF">2026-09-17T11:51:11Z</dcterms:modified>
</cp:coreProperties>
</file>