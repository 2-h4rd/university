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56" r:id="rId2"/>
    <p:sldId id="313" r:id="rId3"/>
    <p:sldId id="314" r:id="rId4"/>
    <p:sldId id="315" r:id="rId5"/>
    <p:sldId id="316" r:id="rId6"/>
    <p:sldId id="317" r:id="rId7"/>
    <p:sldId id="318" r:id="rId8"/>
    <p:sldId id="319" r:id="rId9"/>
    <p:sldId id="320" r:id="rId10"/>
    <p:sldId id="321" r:id="rId11"/>
    <p:sldId id="322" r:id="rId12"/>
    <p:sldId id="323" r:id="rId13"/>
    <p:sldId id="324" r:id="rId14"/>
    <p:sldId id="325" r:id="rId15"/>
    <p:sldId id="326" r:id="rId16"/>
    <p:sldId id="327" r:id="rId17"/>
    <p:sldId id="328" r:id="rId18"/>
    <p:sldId id="329" r:id="rId19"/>
    <p:sldId id="330" r:id="rId20"/>
    <p:sldId id="331" r:id="rId21"/>
    <p:sldId id="332" r:id="rId22"/>
    <p:sldId id="265" r:id="rId23"/>
    <p:sldId id="312" r:id="rId24"/>
    <p:sldId id="310" r:id="rId25"/>
    <p:sldId id="311" r:id="rId2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552" autoAdjust="0"/>
    <p:restoredTop sz="94660"/>
  </p:normalViewPr>
  <p:slideViewPr>
    <p:cSldViewPr snapToGrid="0">
      <p:cViewPr>
        <p:scale>
          <a:sx n="100" d="100"/>
          <a:sy n="100" d="100"/>
        </p:scale>
        <p:origin x="-318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7F85B8-E6D2-473F-AE97-2FBA6892A9D8}" type="datetimeFigureOut">
              <a:rPr lang="ru-RU" smtClean="0"/>
              <a:t>08.09.2026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B17EEC-5D2A-4356-A561-8412DE2066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85310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5450579-E414-4CF9-8C08-0B956232AB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F9B2B76-9D3D-4E9F-8672-6188FC91F3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61D4A0B-F425-459C-A514-C3CE84691A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AEB14-0722-4C49-A727-EC09E33B3088}" type="datetimeFigureOut">
              <a:rPr lang="ru-RU" smtClean="0"/>
              <a:t>08.09.2026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5667DCA-E4ED-4B6B-B712-D8FB4F1AE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079D67D-C8AA-4A92-A814-3168D9A80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D7C3A-2EA1-48AA-A2BC-256FB9E135B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741493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D2C9A75-752D-4CCC-8651-C027E70BEE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AAA574B-5271-4883-B021-2BAF134AEF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59C4F82-00E0-448E-9A00-8D8B1B37B1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AEB14-0722-4C49-A727-EC09E33B3088}" type="datetimeFigureOut">
              <a:rPr lang="ru-RU" smtClean="0"/>
              <a:t>08.09.2026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31AD081-C072-41A5-AF5C-B7BB45179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BAC5498-BE86-4E84-8AFA-43000B87D9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D7C3A-2EA1-48AA-A2BC-256FB9E135B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78412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D694FD1-8382-4960-82B8-DA26C19A7E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395E0FE-FB49-48F4-8CC2-6EACE089C0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050A342-DBF2-4C3B-9FC0-5339E6835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AEB14-0722-4C49-A727-EC09E33B3088}" type="datetimeFigureOut">
              <a:rPr lang="ru-RU" smtClean="0"/>
              <a:t>08.09.2026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C8CAAAE-D1D6-4194-A09C-DB3BD355DA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8671AAB-A9A1-46FA-8D06-10495B717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D7C3A-2EA1-48AA-A2BC-256FB9E135B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322764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37A0F4-B6E0-4D55-A8E6-10984D19F5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5CCBCB7-86BC-4828-A096-D2979B730B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87754A0-0E0E-4E23-A019-6709695296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CB1D0E1-24CA-4129-9A94-DA297F88B0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AEB14-0722-4C49-A727-EC09E33B3088}" type="datetimeFigureOut">
              <a:rPr lang="ru-RU" smtClean="0"/>
              <a:t>08.09.2026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C98C564-6A6D-4D77-8F1F-BFFFA88DAB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C75CE9F-4FD9-4986-A455-F4FE871672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D7C3A-2EA1-48AA-A2BC-256FB9E135B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062418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C913B4D-0469-4DE3-9514-AF783F470D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CD677A9-CF49-43EC-BB9B-61B5B9A7D1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870700C-B851-4430-A3D8-0C4CA8B406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289DA956-F423-4CCF-9F5D-621489970A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0C7DEA14-8084-4228-9283-A9E275EF91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DA28071E-8FC8-46C4-91AA-CCDF682785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AEB14-0722-4C49-A727-EC09E33B3088}" type="datetimeFigureOut">
              <a:rPr lang="ru-RU" smtClean="0"/>
              <a:t>08.09.2026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52EC82C0-2718-4DC3-8D11-A206BD893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70A2DCC2-BA01-4584-BF94-A11FF593D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D7C3A-2EA1-48AA-A2BC-256FB9E135B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53412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BD2BFBE-0D9B-40AE-ADD3-56A8F5FC03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4FDB845A-AB51-4E4C-A27A-7F6E138692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AEB14-0722-4C49-A727-EC09E33B3088}" type="datetimeFigureOut">
              <a:rPr lang="ru-RU" smtClean="0"/>
              <a:t>08.09.2026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6DC39898-B309-4C42-8EA5-C84CDB5AD2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EBE7466-8E4B-499F-9F29-D7EFE90B8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D7C3A-2EA1-48AA-A2BC-256FB9E135B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318923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24E94201-6EF4-4F5B-A286-F772A19D7C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AEB14-0722-4C49-A727-EC09E33B3088}" type="datetimeFigureOut">
              <a:rPr lang="ru-RU" smtClean="0"/>
              <a:t>08.09.2026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66B474DD-7EF3-4074-B96F-AF9B1534F1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D98A0E0-7F9B-466B-96F2-423EC4A8A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D7C3A-2EA1-48AA-A2BC-256FB9E135B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06437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11DBC74-C9DB-44A7-940E-4EB8B77F83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832EAC8-6B4B-4762-919A-82E7DD064F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183F1D1-B65D-419A-A742-E6336E5C9E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8FBC31F-0CAF-4AA0-A8C8-6E9A91AEC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AEB14-0722-4C49-A727-EC09E33B3088}" type="datetimeFigureOut">
              <a:rPr lang="ru-RU" smtClean="0"/>
              <a:t>08.09.2026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AFA7221-67FD-4306-A704-EEA13B69E1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CD64BB5-0FC3-4C04-9C20-79AB2E1CA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D7C3A-2EA1-48AA-A2BC-256FB9E135B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48276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696368-A267-4237-90CA-25C169A9D8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A08C63C1-0AA8-49ED-B4E1-FD5ECC0646E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9BAE593-D55E-4F20-A9E8-FD85BCB8B6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DBBD03B-E735-4F9B-9DC1-8CCA261C01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AEB14-0722-4C49-A727-EC09E33B3088}" type="datetimeFigureOut">
              <a:rPr lang="ru-RU" smtClean="0"/>
              <a:t>08.09.2026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E08559F-1982-4297-B7ED-43C53827F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A51FD5D-CA2A-4317-B825-E2313BFB7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D7C3A-2EA1-48AA-A2BC-256FB9E135B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41113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CBD8B4-B10A-4D68-A6F9-DCBBE40AC1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FF1C78E-52E1-43E7-A9E2-1FD72D833A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F6D1258-63D5-4CC8-97CA-9DC6F1A8D0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AEB14-0722-4C49-A727-EC09E33B3088}" type="datetimeFigureOut">
              <a:rPr lang="ru-RU" smtClean="0"/>
              <a:t>08.09.2026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76405EF-E6D2-4F69-B920-8EEFF06EBA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2FF2CD4-2669-4606-B086-2B5578B86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D7C3A-2EA1-48AA-A2BC-256FB9E135B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419174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AF110912-DC0C-4AB6-8C39-EF599925F27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01C238B-C1EA-412A-AB10-F06A05D1C6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5D418E8-B576-489C-A104-5C30E52A63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2AEB14-0722-4C49-A727-EC09E33B3088}" type="datetimeFigureOut">
              <a:rPr lang="ru-RU" smtClean="0"/>
              <a:t>08.09.2026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07B0639-A890-43E0-9FEA-EE9B0FE266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D5EBF33-F730-4950-89F6-067F9947C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8D7C3A-2EA1-48AA-A2BC-256FB9E135B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253735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8F16BA6-C76B-4D83-A0BF-E2BBB58AE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5235308-94B0-46E9-943F-6F269CC1CC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3A527E0-810D-41CC-8190-DDF8C3A6EE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2AEB14-0722-4C49-A727-EC09E33B3088}" type="datetimeFigureOut">
              <a:rPr lang="ru-RU" smtClean="0"/>
              <a:t>08.09.2026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73871E5-1EDE-4D7E-AEEF-D2B8E9324B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0394237-9A18-4881-B32B-AC3167A4A7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8D7C3A-2EA1-48AA-A2BC-256FB9E135B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8430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mailto:mamaev@mirea.ru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одзаголовок 2">
            <a:extLst>
              <a:ext uri="{FF2B5EF4-FFF2-40B4-BE49-F238E27FC236}">
                <a16:creationId xmlns:a16="http://schemas.microsoft.com/office/drawing/2014/main" id="{A0123597-A37C-4C21-ADB5-77A3C37DCB6E}"/>
              </a:ext>
            </a:extLst>
          </p:cNvPr>
          <p:cNvSpPr txBox="1">
            <a:spLocks/>
          </p:cNvSpPr>
          <p:nvPr/>
        </p:nvSpPr>
        <p:spPr>
          <a:xfrm>
            <a:off x="6818023" y="5621670"/>
            <a:ext cx="5373977" cy="1659509"/>
          </a:xfrm>
          <a:prstGeom prst="rect">
            <a:avLst/>
          </a:prstGeom>
          <a:effectLst/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defRPr sz="2000" kern="1200" cap="all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Pct val="125000"/>
              <a:buFont typeface="Arial" panose="020B0604020202020204" pitchFamily="34" charset="0"/>
              <a:buNone/>
              <a:tabLst/>
              <a:defRPr/>
            </a:pPr>
            <a:r>
              <a:rPr kumimoji="0" lang="ru-RU" b="0" i="0" u="none" strike="noStrike" kern="1200" cap="all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glow rad="254000">
                    <a:schemeClr val="bg1"/>
                  </a:glow>
                </a:effectLst>
                <a:uLnTx/>
                <a:uFillTx/>
                <a:ea typeface="+mn-ea"/>
                <a:cs typeface="+mn-cs"/>
              </a:rPr>
              <a:t>Подготовил:</a:t>
            </a:r>
            <a:endParaRPr lang="ru-RU" dirty="0">
              <a:solidFill>
                <a:schemeClr val="tx1"/>
              </a:solidFill>
              <a:effectLst>
                <a:glow rad="254000">
                  <a:schemeClr val="bg1"/>
                </a:glow>
              </a:effectLst>
            </a:endParaRPr>
          </a:p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Pct val="125000"/>
              <a:buFont typeface="Arial" panose="020B0604020202020204" pitchFamily="34" charset="0"/>
              <a:buNone/>
              <a:tabLst/>
              <a:defRPr/>
            </a:pPr>
            <a:r>
              <a:rPr lang="ru-RU" sz="1600" dirty="0">
                <a:solidFill>
                  <a:schemeClr val="tx1"/>
                </a:solidFill>
                <a:effectLst>
                  <a:glow rad="254000">
                    <a:schemeClr val="bg1"/>
                  </a:glow>
                </a:effectLst>
              </a:rPr>
              <a:t>Ассистент кафедры КБ-2</a:t>
            </a:r>
          </a:p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Pct val="125000"/>
              <a:buFont typeface="Arial" panose="020B0604020202020204" pitchFamily="34" charset="0"/>
              <a:buNone/>
              <a:tabLst/>
              <a:defRPr/>
            </a:pPr>
            <a:r>
              <a:rPr lang="ru-RU" sz="1600" dirty="0">
                <a:solidFill>
                  <a:schemeClr val="tx1"/>
                </a:solidFill>
                <a:effectLst>
                  <a:glow rad="254000">
                    <a:schemeClr val="bg1"/>
                  </a:glow>
                </a:effectLst>
              </a:rPr>
              <a:t>Александр Сергеевич Мамаев</a:t>
            </a:r>
          </a:p>
        </p:txBody>
      </p:sp>
      <p:sp>
        <p:nvSpPr>
          <p:cNvPr id="10" name="Подзаголовок 2">
            <a:extLst>
              <a:ext uri="{FF2B5EF4-FFF2-40B4-BE49-F238E27FC236}">
                <a16:creationId xmlns:a16="http://schemas.microsoft.com/office/drawing/2014/main" id="{2BDBD59B-8459-4B01-8480-DEFB31C3C9E6}"/>
              </a:ext>
            </a:extLst>
          </p:cNvPr>
          <p:cNvSpPr txBox="1">
            <a:spLocks/>
          </p:cNvSpPr>
          <p:nvPr/>
        </p:nvSpPr>
        <p:spPr>
          <a:xfrm>
            <a:off x="1019533" y="222116"/>
            <a:ext cx="10189247" cy="2497044"/>
          </a:xfrm>
          <a:prstGeom prst="rect">
            <a:avLst/>
          </a:prstGeom>
          <a:effectLst/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pPr lvl="0" algn="ctr">
              <a:spcBef>
                <a:spcPts val="0"/>
              </a:spcBef>
              <a:spcAft>
                <a:spcPts val="600"/>
              </a:spcAft>
              <a:buClr>
                <a:srgbClr val="252C36">
                  <a:lumMod val="40000"/>
                  <a:lumOff val="60000"/>
                </a:srgbClr>
              </a:buClr>
              <a:defRPr/>
            </a:pPr>
            <a:r>
              <a:rPr lang="ru-RU" sz="1800" dirty="0">
                <a:solidFill>
                  <a:schemeClr val="tx1"/>
                </a:solidFill>
                <a:effectLst>
                  <a:glow rad="254000">
                    <a:schemeClr val="bg1"/>
                  </a:glow>
                </a:effectLst>
              </a:rPr>
              <a:t>МИНОБРНАУКИ РОССИИ </a:t>
            </a:r>
          </a:p>
          <a:p>
            <a:pPr lvl="0" algn="ctr">
              <a:spcBef>
                <a:spcPts val="0"/>
              </a:spcBef>
              <a:spcAft>
                <a:spcPts val="600"/>
              </a:spcAft>
              <a:buClr>
                <a:srgbClr val="252C36">
                  <a:lumMod val="40000"/>
                  <a:lumOff val="60000"/>
                </a:srgbClr>
              </a:buClr>
              <a:defRPr/>
            </a:pPr>
            <a:r>
              <a:rPr lang="ru-RU" sz="1800" dirty="0">
                <a:solidFill>
                  <a:schemeClr val="tx1"/>
                </a:solidFill>
                <a:effectLst>
                  <a:glow rad="254000">
                    <a:schemeClr val="bg1"/>
                  </a:glow>
                </a:effectLst>
              </a:rPr>
              <a:t>Федеральное государственное бюджетное образовательное учреждение высшего образования </a:t>
            </a:r>
          </a:p>
          <a:p>
            <a:pPr lvl="0" algn="ctr">
              <a:spcBef>
                <a:spcPts val="0"/>
              </a:spcBef>
              <a:spcAft>
                <a:spcPts val="600"/>
              </a:spcAft>
              <a:buClr>
                <a:srgbClr val="252C36">
                  <a:lumMod val="40000"/>
                  <a:lumOff val="60000"/>
                </a:srgbClr>
              </a:buClr>
              <a:defRPr/>
            </a:pPr>
            <a:r>
              <a:rPr lang="ru-RU" sz="1800" dirty="0">
                <a:solidFill>
                  <a:schemeClr val="tx1"/>
                </a:solidFill>
                <a:effectLst>
                  <a:glow rad="254000">
                    <a:schemeClr val="bg1"/>
                  </a:glow>
                </a:effectLst>
              </a:rPr>
              <a:t>«МИРЭА–Российский технологический университет» </a:t>
            </a:r>
          </a:p>
          <a:p>
            <a:pPr lvl="0" algn="ctr">
              <a:spcBef>
                <a:spcPts val="0"/>
              </a:spcBef>
              <a:spcAft>
                <a:spcPts val="600"/>
              </a:spcAft>
              <a:buClr>
                <a:srgbClr val="252C36">
                  <a:lumMod val="40000"/>
                  <a:lumOff val="60000"/>
                </a:srgbClr>
              </a:buClr>
              <a:defRPr/>
            </a:pPr>
            <a:r>
              <a:rPr lang="ru-RU" sz="1800" dirty="0">
                <a:solidFill>
                  <a:schemeClr val="tx1"/>
                </a:solidFill>
                <a:effectLst>
                  <a:glow rad="254000">
                    <a:schemeClr val="bg1"/>
                  </a:glow>
                </a:effectLst>
              </a:rPr>
              <a:t>РТУ МИРЭА</a:t>
            </a:r>
          </a:p>
          <a:p>
            <a:pPr lvl="0" algn="ctr">
              <a:spcBef>
                <a:spcPts val="0"/>
              </a:spcBef>
              <a:spcAft>
                <a:spcPts val="600"/>
              </a:spcAft>
              <a:buClr>
                <a:srgbClr val="252C36">
                  <a:lumMod val="40000"/>
                  <a:lumOff val="60000"/>
                </a:srgbClr>
              </a:buClr>
              <a:defRPr/>
            </a:pPr>
            <a:r>
              <a:rPr lang="ru-RU" sz="1800" dirty="0">
                <a:solidFill>
                  <a:schemeClr val="tx1"/>
                </a:solidFill>
                <a:effectLst>
                  <a:glow rad="254000">
                    <a:schemeClr val="bg1"/>
                  </a:glow>
                </a:effectLst>
              </a:rPr>
              <a:t>Институт кибербезопасности и цифровых технологий </a:t>
            </a:r>
          </a:p>
          <a:p>
            <a:pPr lvl="0" algn="ctr">
              <a:spcBef>
                <a:spcPts val="0"/>
              </a:spcBef>
              <a:spcAft>
                <a:spcPts val="600"/>
              </a:spcAft>
              <a:buClr>
                <a:srgbClr val="252C36">
                  <a:lumMod val="40000"/>
                  <a:lumOff val="60000"/>
                </a:srgbClr>
              </a:buClr>
              <a:defRPr/>
            </a:pPr>
            <a:r>
              <a:rPr lang="ru-RU" sz="1800" dirty="0">
                <a:solidFill>
                  <a:schemeClr val="tx1"/>
                </a:solidFill>
                <a:effectLst>
                  <a:glow rad="254000">
                    <a:schemeClr val="bg1"/>
                  </a:glow>
                </a:effectLst>
              </a:rPr>
              <a:t>Кафедра КБ-2«Информационно-аналитические системы кибербезопасности»</a:t>
            </a:r>
            <a:endParaRPr lang="en-US" sz="1800" dirty="0">
              <a:solidFill>
                <a:schemeClr val="tx1"/>
              </a:solidFill>
              <a:effectLst>
                <a:glow rad="254000">
                  <a:schemeClr val="bg1"/>
                </a:glow>
              </a:effectLst>
            </a:endParaRPr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808FACF4-B7DE-4D33-93E7-A1E780A40997}"/>
              </a:ext>
            </a:extLst>
          </p:cNvPr>
          <p:cNvSpPr txBox="1">
            <a:spLocks/>
          </p:cNvSpPr>
          <p:nvPr/>
        </p:nvSpPr>
        <p:spPr>
          <a:xfrm>
            <a:off x="1316231" y="3205841"/>
            <a:ext cx="9559538" cy="1275372"/>
          </a:xfrm>
          <a:prstGeom prst="rect">
            <a:avLst/>
          </a:prstGeom>
          <a:effectLst>
            <a:softEdge rad="0"/>
          </a:effectLst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ctr"/>
            <a:r>
              <a:rPr kumimoji="0" lang="ru-RU" sz="2000" b="1" i="0" u="none" strike="noStrike" kern="1200" cap="none" spc="0" normalizeH="0" baseline="0" noProof="0" dirty="0">
                <a:ln>
                  <a:noFill/>
                </a:ln>
                <a:effectLst>
                  <a:glow rad="254000">
                    <a:schemeClr val="bg1"/>
                  </a:glow>
                </a:effectLst>
                <a:uLnTx/>
                <a:uFillTx/>
                <a:ea typeface="+mj-ea"/>
                <a:cs typeface="+mj-cs"/>
              </a:rPr>
              <a:t>Занятие на тему:</a:t>
            </a:r>
          </a:p>
          <a:p>
            <a:pPr lvl="0" algn="ctr"/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effectLst>
                  <a:glow rad="254000">
                    <a:schemeClr val="bg1"/>
                  </a:glow>
                </a:effectLst>
                <a:uLnTx/>
                <a:uFillTx/>
              </a:rPr>
              <a:t>SQL-инъекции: природа уязвимости, методы эксплуатации и современные подходы к защите</a:t>
            </a:r>
          </a:p>
        </p:txBody>
      </p:sp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A3C08B1A-68ED-49F8-A895-326423E7C69C}"/>
              </a:ext>
            </a:extLst>
          </p:cNvPr>
          <p:cNvSpPr txBox="1">
            <a:spLocks/>
          </p:cNvSpPr>
          <p:nvPr/>
        </p:nvSpPr>
        <p:spPr>
          <a:xfrm>
            <a:off x="1316231" y="6108351"/>
            <a:ext cx="9559538" cy="68614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all" baseline="0">
                <a:solidFill>
                  <a:schemeClr val="tx1"/>
                </a:solidFill>
                <a:effectLst>
                  <a:outerShdw blurRad="177800" dist="38100" dir="2700000" algn="tl">
                    <a:srgbClr val="000000">
                      <a:alpha val="24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1600" dirty="0">
                <a:effectLst>
                  <a:glow rad="254000">
                    <a:schemeClr val="bg1"/>
                  </a:glow>
                </a:effectLst>
                <a:latin typeface="+mn-lt"/>
                <a:ea typeface="+mn-ea"/>
                <a:cs typeface="+mn-cs"/>
              </a:rPr>
              <a:t>Москва, 2026 г.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306AA2A-8562-411A-87EC-8E61D56B22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661" y="-7939"/>
            <a:ext cx="1397964" cy="1545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341484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D27514FA-1577-470D-BA04-A552C7B20D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63"/>
            <a:ext cx="10515600" cy="1084534"/>
          </a:xfrm>
        </p:spPr>
        <p:txBody>
          <a:bodyPr anchor="t">
            <a:normAutofit/>
          </a:bodyPr>
          <a:lstStyle/>
          <a:p>
            <a:pPr algn="ctr"/>
            <a:r>
              <a:rPr lang="ru-RU" dirty="0">
                <a:effectLst>
                  <a:glow rad="254000">
                    <a:schemeClr val="bg1"/>
                  </a:glow>
                </a:effectLst>
              </a:rPr>
              <a:t>Введение – определение и актуальность</a:t>
            </a:r>
            <a:endParaRPr lang="ru-RU" dirty="0">
              <a:effectLst>
                <a:glow rad="444500">
                  <a:schemeClr val="bg1"/>
                </a:glow>
              </a:effectLst>
            </a:endParaRPr>
          </a:p>
        </p:txBody>
      </p:sp>
      <p:sp>
        <p:nvSpPr>
          <p:cNvPr id="6" name="Номер слайда 3">
            <a:extLst>
              <a:ext uri="{FF2B5EF4-FFF2-40B4-BE49-F238E27FC236}">
                <a16:creationId xmlns:a16="http://schemas.microsoft.com/office/drawing/2014/main" id="{5437F25C-FC0D-4920-8536-14C019140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66035" y="22303"/>
            <a:ext cx="525965" cy="365125"/>
          </a:xfrm>
        </p:spPr>
        <p:txBody>
          <a:bodyPr/>
          <a:lstStyle/>
          <a:p>
            <a:pPr algn="ctr"/>
            <a:fld id="{BC8D7C3A-2EA1-48AA-A2BC-256FB9E135B5}" type="slidenum">
              <a:rPr lang="ru-RU" sz="2400" smtClean="0">
                <a:solidFill>
                  <a:schemeClr val="tx1"/>
                </a:solidFill>
                <a:effectLst>
                  <a:glow rad="444500">
                    <a:schemeClr val="bg1"/>
                  </a:glow>
                </a:effectLst>
              </a:rPr>
              <a:pPr algn="ctr"/>
              <a:t>2</a:t>
            </a:fld>
            <a:endParaRPr lang="ru-RU" sz="2400" dirty="0">
              <a:solidFill>
                <a:schemeClr val="tx1"/>
              </a:solidFill>
              <a:effectLst>
                <a:glow rad="444500">
                  <a:schemeClr val="bg1"/>
                </a:glow>
              </a:effectLst>
            </a:endParaRP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826C498A-7B31-419A-A0C8-0BBD021382C3}"/>
              </a:ext>
            </a:extLst>
          </p:cNvPr>
          <p:cNvSpPr txBox="1">
            <a:spLocks/>
          </p:cNvSpPr>
          <p:nvPr/>
        </p:nvSpPr>
        <p:spPr>
          <a:xfrm>
            <a:off x="297898" y="1476343"/>
            <a:ext cx="5426070" cy="5079440"/>
          </a:xfrm>
          <a:prstGeom prst="rect">
            <a:avLst/>
          </a:prstGeom>
          <a:blipFill dpi="0" rotWithShape="1">
            <a:blip r:embed="rId2">
              <a:alphaModFix amt="28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0" sx="100000" sy="100000" flip="none" algn="tl"/>
          </a:blipFill>
          <a:ln w="28575">
            <a:solidFill>
              <a:schemeClr val="tx1">
                <a:alpha val="45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ᐅ SQL-инъекция представляет собой класс уязвимостей веб-приложений, возникающих вследствие некорректной фильтрации входных данных, что позволяет злоумышленнику модифицировать логику SQL-запроса и выполнять произвольный код в СУБД.</a:t>
            </a:r>
          </a:p>
          <a:p>
            <a:pPr marL="0" indent="0" algn="just">
              <a:buNone/>
            </a:pP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ᐅ Согласно OWASP Top 10 (2021), инъекции занимают третью позицию (A03:2021) и остаются одной из наиболее критичных угроз для веб-безопасности. По данным ежегодного отчёта Verizon DBIR, доля инцидентов, связанных с SQL-инъекциями, сохраняется на уровне 10–15% от общего числа атак на веб-приложения</a:t>
            </a:r>
            <a:endParaRPr lang="ru-RU" dirty="0">
              <a:effectLst>
                <a:glow rad="127000">
                  <a:schemeClr val="bg1"/>
                </a:glow>
              </a:effectLst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2419B19-B2CB-4831-9248-62BCB6956A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9812" y="1476343"/>
            <a:ext cx="6183405" cy="5079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60705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D27514FA-1577-470D-BA04-A552C7B20D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63"/>
            <a:ext cx="10515600" cy="1084534"/>
          </a:xfrm>
        </p:spPr>
        <p:txBody>
          <a:bodyPr anchor="t">
            <a:normAutofit/>
          </a:bodyPr>
          <a:lstStyle/>
          <a:p>
            <a:pPr algn="ctr"/>
            <a:r>
              <a:rPr lang="ru-RU" dirty="0">
                <a:effectLst>
                  <a:glow rad="254000">
                    <a:schemeClr val="bg1"/>
                  </a:glow>
                </a:effectLst>
              </a:rPr>
              <a:t>Причины возникновения</a:t>
            </a:r>
            <a:endParaRPr lang="ru-RU" dirty="0">
              <a:effectLst>
                <a:glow rad="444500">
                  <a:schemeClr val="bg1"/>
                </a:glow>
              </a:effectLst>
            </a:endParaRPr>
          </a:p>
        </p:txBody>
      </p:sp>
      <p:sp>
        <p:nvSpPr>
          <p:cNvPr id="6" name="Номер слайда 3">
            <a:extLst>
              <a:ext uri="{FF2B5EF4-FFF2-40B4-BE49-F238E27FC236}">
                <a16:creationId xmlns:a16="http://schemas.microsoft.com/office/drawing/2014/main" id="{5437F25C-FC0D-4920-8536-14C019140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66035" y="22303"/>
            <a:ext cx="525965" cy="365125"/>
          </a:xfrm>
        </p:spPr>
        <p:txBody>
          <a:bodyPr/>
          <a:lstStyle/>
          <a:p>
            <a:pPr algn="ctr"/>
            <a:fld id="{BC8D7C3A-2EA1-48AA-A2BC-256FB9E135B5}" type="slidenum">
              <a:rPr lang="ru-RU" sz="2400" smtClean="0">
                <a:solidFill>
                  <a:schemeClr val="tx1"/>
                </a:solidFill>
                <a:effectLst>
                  <a:glow rad="444500">
                    <a:schemeClr val="bg1"/>
                  </a:glow>
                </a:effectLst>
              </a:rPr>
              <a:pPr algn="ctr"/>
              <a:t>3</a:t>
            </a:fld>
            <a:endParaRPr lang="ru-RU" sz="2400" dirty="0">
              <a:solidFill>
                <a:schemeClr val="tx1"/>
              </a:solidFill>
              <a:effectLst>
                <a:glow rad="444500">
                  <a:schemeClr val="bg1"/>
                </a:glow>
              </a:effectLst>
            </a:endParaRP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826C498A-7B31-419A-A0C8-0BBD021382C3}"/>
              </a:ext>
            </a:extLst>
          </p:cNvPr>
          <p:cNvSpPr txBox="1">
            <a:spLocks/>
          </p:cNvSpPr>
          <p:nvPr/>
        </p:nvSpPr>
        <p:spPr>
          <a:xfrm>
            <a:off x="7436224" y="1375982"/>
            <a:ext cx="4492793" cy="5079440"/>
          </a:xfrm>
          <a:prstGeom prst="rect">
            <a:avLst/>
          </a:prstGeom>
          <a:blipFill dpi="0" rotWithShape="1">
            <a:blip r:embed="rId2">
              <a:alphaModFix amt="28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0" sx="100000" sy="100000" flip="none" algn="tl"/>
          </a:blipFill>
          <a:ln w="28575">
            <a:solidFill>
              <a:schemeClr val="tx1">
                <a:alpha val="45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ᐅ Основная причина уязвимости – прямая подстановка пользовательского ввода в текст SQL-запроса без какой-либо </a:t>
            </a:r>
            <a:r>
              <a:rPr lang="ru-RU" sz="2000" dirty="0" err="1">
                <a:effectLst>
                  <a:glow rad="127000">
                    <a:schemeClr val="bg1"/>
                  </a:glow>
                </a:effectLst>
              </a:rPr>
              <a:t>санитизации</a:t>
            </a: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. Пример уязвимого кода на PHP:</a:t>
            </a:r>
          </a:p>
          <a:p>
            <a:pPr marL="0" indent="0" algn="just">
              <a:buNone/>
            </a:pPr>
            <a:r>
              <a:rPr lang="ru-RU" sz="2000" b="1" dirty="0">
                <a:effectLst>
                  <a:glow rad="127000">
                    <a:schemeClr val="bg1"/>
                  </a:glow>
                </a:effectLst>
              </a:rPr>
              <a:t>$</a:t>
            </a:r>
            <a:r>
              <a:rPr lang="ru-RU" sz="2000" b="1" dirty="0" err="1">
                <a:effectLst>
                  <a:glow rad="127000">
                    <a:schemeClr val="bg1"/>
                  </a:glow>
                </a:effectLst>
              </a:rPr>
              <a:t>id</a:t>
            </a:r>
            <a:r>
              <a:rPr lang="ru-RU" sz="2000" b="1" dirty="0">
                <a:effectLst>
                  <a:glow rad="127000">
                    <a:schemeClr val="bg1"/>
                  </a:glow>
                </a:effectLst>
              </a:rPr>
              <a:t> = $_GET['</a:t>
            </a:r>
            <a:r>
              <a:rPr lang="ru-RU" sz="2000" b="1" dirty="0" err="1">
                <a:effectLst>
                  <a:glow rad="127000">
                    <a:schemeClr val="bg1"/>
                  </a:glow>
                </a:effectLst>
              </a:rPr>
              <a:t>id</a:t>
            </a:r>
            <a:r>
              <a:rPr lang="ru-RU" sz="2000" b="1" dirty="0">
                <a:effectLst>
                  <a:glow rad="127000">
                    <a:schemeClr val="bg1"/>
                  </a:glow>
                </a:effectLst>
              </a:rPr>
              <a:t>']; $</a:t>
            </a:r>
            <a:r>
              <a:rPr lang="ru-RU" sz="2000" b="1" dirty="0" err="1">
                <a:effectLst>
                  <a:glow rad="127000">
                    <a:schemeClr val="bg1"/>
                  </a:glow>
                </a:effectLst>
              </a:rPr>
              <a:t>result</a:t>
            </a:r>
            <a:r>
              <a:rPr lang="ru-RU" sz="2000" b="1" dirty="0">
                <a:effectLst>
                  <a:glow rad="127000">
                    <a:schemeClr val="bg1"/>
                  </a:glow>
                </a:effectLst>
              </a:rPr>
              <a:t> = </a:t>
            </a:r>
            <a:r>
              <a:rPr lang="ru-RU" sz="2000" b="1" dirty="0" err="1">
                <a:effectLst>
                  <a:glow rad="127000">
                    <a:schemeClr val="bg1"/>
                  </a:glow>
                </a:effectLst>
              </a:rPr>
              <a:t>mysql_query</a:t>
            </a:r>
            <a:r>
              <a:rPr lang="ru-RU" sz="2000" b="1" dirty="0">
                <a:effectLst>
                  <a:glow rad="127000">
                    <a:schemeClr val="bg1"/>
                  </a:glow>
                </a:effectLst>
              </a:rPr>
              <a:t>("SELECT * FROM </a:t>
            </a:r>
            <a:r>
              <a:rPr lang="ru-RU" sz="2000" b="1" dirty="0" err="1">
                <a:effectLst>
                  <a:glow rad="127000">
                    <a:schemeClr val="bg1"/>
                  </a:glow>
                </a:effectLst>
              </a:rPr>
              <a:t>news</a:t>
            </a:r>
            <a:r>
              <a:rPr lang="ru-RU" sz="2000" b="1" dirty="0">
                <a:effectLst>
                  <a:glow rad="127000">
                    <a:schemeClr val="bg1"/>
                  </a:glow>
                </a:effectLst>
              </a:rPr>
              <a:t> WHERE </a:t>
            </a:r>
            <a:r>
              <a:rPr lang="ru-RU" sz="2000" b="1" dirty="0" err="1">
                <a:effectLst>
                  <a:glow rad="127000">
                    <a:schemeClr val="bg1"/>
                  </a:glow>
                </a:effectLst>
              </a:rPr>
              <a:t>id</a:t>
            </a:r>
            <a:r>
              <a:rPr lang="ru-RU" sz="2000" b="1" dirty="0">
                <a:effectLst>
                  <a:glow rad="127000">
                    <a:schemeClr val="bg1"/>
                  </a:glow>
                </a:effectLst>
              </a:rPr>
              <a:t> = $</a:t>
            </a:r>
            <a:r>
              <a:rPr lang="ru-RU" sz="2000" b="1" dirty="0" err="1">
                <a:effectLst>
                  <a:glow rad="127000">
                    <a:schemeClr val="bg1"/>
                  </a:glow>
                </a:effectLst>
              </a:rPr>
              <a:t>id</a:t>
            </a:r>
            <a:r>
              <a:rPr lang="ru-RU" sz="2000" b="1" dirty="0">
                <a:effectLst>
                  <a:glow rad="127000">
                    <a:schemeClr val="bg1"/>
                  </a:glow>
                </a:effectLst>
              </a:rPr>
              <a:t>");</a:t>
            </a:r>
          </a:p>
          <a:p>
            <a:pPr marL="0" indent="0" algn="just">
              <a:buNone/>
            </a:pP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ᐅ Источниками вредоносных данных могут выступать не только поля веб-форм, но также </a:t>
            </a:r>
            <a:r>
              <a:rPr lang="ru-RU" sz="2000" dirty="0" err="1">
                <a:effectLst>
                  <a:glow rad="127000">
                    <a:schemeClr val="bg1"/>
                  </a:glow>
                </a:effectLst>
              </a:rPr>
              <a:t>cookie</a:t>
            </a: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, заголовки HTTP, скрытые поля и параметры URL. Недостаточная фильтрация позволяет внедрить дополнительные SQL-конструкции, изменяя предполагаемую логику выборки.</a:t>
            </a:r>
            <a:endParaRPr lang="ru-RU" dirty="0">
              <a:effectLst>
                <a:glow rad="127000">
                  <a:schemeClr val="bg1"/>
                </a:glow>
              </a:effectLst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790A91A-AD53-4664-825A-376C674F81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983" y="1375982"/>
            <a:ext cx="6842312" cy="4561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81476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D27514FA-1577-470D-BA04-A552C7B20D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63"/>
            <a:ext cx="10515600" cy="1084534"/>
          </a:xfrm>
        </p:spPr>
        <p:txBody>
          <a:bodyPr anchor="t">
            <a:normAutofit/>
          </a:bodyPr>
          <a:lstStyle/>
          <a:p>
            <a:pPr algn="ctr"/>
            <a:r>
              <a:rPr lang="ru-RU" dirty="0">
                <a:effectLst>
                  <a:glow rad="254000">
                    <a:schemeClr val="bg1"/>
                  </a:glow>
                </a:effectLst>
              </a:rPr>
              <a:t>Классическая </a:t>
            </a:r>
            <a:r>
              <a:rPr lang="en-US" dirty="0">
                <a:effectLst>
                  <a:glow rad="254000">
                    <a:schemeClr val="bg1"/>
                  </a:glow>
                </a:effectLst>
              </a:rPr>
              <a:t>SQL-</a:t>
            </a:r>
            <a:r>
              <a:rPr lang="ru-RU" dirty="0">
                <a:effectLst>
                  <a:glow rad="254000">
                    <a:schemeClr val="bg1"/>
                  </a:glow>
                </a:effectLst>
              </a:rPr>
              <a:t>инъекция</a:t>
            </a:r>
            <a:endParaRPr lang="ru-RU" dirty="0">
              <a:effectLst>
                <a:glow rad="444500">
                  <a:schemeClr val="bg1"/>
                </a:glow>
              </a:effectLst>
            </a:endParaRPr>
          </a:p>
        </p:txBody>
      </p:sp>
      <p:sp>
        <p:nvSpPr>
          <p:cNvPr id="6" name="Номер слайда 3">
            <a:extLst>
              <a:ext uri="{FF2B5EF4-FFF2-40B4-BE49-F238E27FC236}">
                <a16:creationId xmlns:a16="http://schemas.microsoft.com/office/drawing/2014/main" id="{5437F25C-FC0D-4920-8536-14C019140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66035" y="22303"/>
            <a:ext cx="525965" cy="365125"/>
          </a:xfrm>
        </p:spPr>
        <p:txBody>
          <a:bodyPr/>
          <a:lstStyle/>
          <a:p>
            <a:pPr algn="ctr"/>
            <a:fld id="{BC8D7C3A-2EA1-48AA-A2BC-256FB9E135B5}" type="slidenum">
              <a:rPr lang="ru-RU" sz="2400" smtClean="0">
                <a:solidFill>
                  <a:schemeClr val="tx1"/>
                </a:solidFill>
                <a:effectLst>
                  <a:glow rad="444500">
                    <a:schemeClr val="bg1"/>
                  </a:glow>
                </a:effectLst>
              </a:rPr>
              <a:pPr algn="ctr"/>
              <a:t>4</a:t>
            </a:fld>
            <a:endParaRPr lang="ru-RU" sz="2400" dirty="0">
              <a:solidFill>
                <a:schemeClr val="tx1"/>
              </a:solidFill>
              <a:effectLst>
                <a:glow rad="444500">
                  <a:schemeClr val="bg1"/>
                </a:glow>
              </a:effectLst>
            </a:endParaRP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826C498A-7B31-419A-A0C8-0BBD021382C3}"/>
              </a:ext>
            </a:extLst>
          </p:cNvPr>
          <p:cNvSpPr txBox="1">
            <a:spLocks/>
          </p:cNvSpPr>
          <p:nvPr/>
        </p:nvSpPr>
        <p:spPr>
          <a:xfrm>
            <a:off x="189493" y="1267097"/>
            <a:ext cx="4032056" cy="5079440"/>
          </a:xfrm>
          <a:prstGeom prst="rect">
            <a:avLst/>
          </a:prstGeom>
          <a:blipFill dpi="0" rotWithShape="1">
            <a:blip r:embed="rId2">
              <a:alphaModFix amt="28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0" sx="100000" sy="100000" flip="none" algn="tl"/>
          </a:blipFill>
          <a:ln w="28575">
            <a:solidFill>
              <a:schemeClr val="tx1">
                <a:alpha val="45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iu-Cans-CA" sz="2000" dirty="0">
                <a:effectLst>
                  <a:glow rad="127000">
                    <a:schemeClr val="bg1"/>
                  </a:glow>
                </a:effectLst>
              </a:rPr>
              <a:t>ᐅ </a:t>
            </a: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Простейший способ проверки на уязвимость – передача в параметр строки ' </a:t>
            </a:r>
            <a:r>
              <a:rPr lang="en-US" sz="2000" dirty="0">
                <a:effectLst>
                  <a:glow rad="127000">
                    <a:schemeClr val="bg1"/>
                  </a:glow>
                </a:effectLst>
              </a:rPr>
              <a:t>OR '1'='1. </a:t>
            </a: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При этом условие </a:t>
            </a:r>
            <a:r>
              <a:rPr lang="en-US" sz="2000" dirty="0">
                <a:effectLst>
                  <a:glow rad="127000">
                    <a:schemeClr val="bg1"/>
                  </a:glow>
                </a:effectLst>
              </a:rPr>
              <a:t>WHERE </a:t>
            </a: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становится всегда истинным, что приводит к возврату всех записей таблицы.</a:t>
            </a:r>
          </a:p>
          <a:p>
            <a:pPr marL="0" indent="0" algn="just">
              <a:buNone/>
            </a:pPr>
            <a:r>
              <a:rPr lang="iu-Cans-CA" sz="2000" dirty="0">
                <a:effectLst>
                  <a:glow rad="127000">
                    <a:schemeClr val="bg1"/>
                  </a:glow>
                </a:effectLst>
              </a:rPr>
              <a:t>ᐅ </a:t>
            </a: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Например, запрос </a:t>
            </a:r>
            <a:r>
              <a:rPr lang="en-US" sz="2000" dirty="0">
                <a:effectLst>
                  <a:glow rad="127000">
                    <a:schemeClr val="bg1"/>
                  </a:glow>
                </a:effectLst>
              </a:rPr>
              <a:t>SELECT * FROM users WHERE username = '$username' </a:t>
            </a: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при подстановке ' </a:t>
            </a:r>
            <a:r>
              <a:rPr lang="en-US" sz="2000" dirty="0">
                <a:effectLst>
                  <a:glow rad="127000">
                    <a:schemeClr val="bg1"/>
                  </a:glow>
                </a:effectLst>
              </a:rPr>
              <a:t>OR '1'='1 </a:t>
            </a: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преобразуется в </a:t>
            </a:r>
            <a:r>
              <a:rPr lang="en-US" sz="2000" dirty="0">
                <a:effectLst>
                  <a:glow rad="127000">
                    <a:schemeClr val="bg1"/>
                  </a:glow>
                </a:effectLst>
              </a:rPr>
              <a:t>SELECT * FROM users WHERE username = '' OR '1'='1', </a:t>
            </a: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что эквивалентно </a:t>
            </a:r>
            <a:r>
              <a:rPr lang="en-US" sz="2000" dirty="0">
                <a:effectLst>
                  <a:glow rad="127000">
                    <a:schemeClr val="bg1"/>
                  </a:glow>
                </a:effectLst>
              </a:rPr>
              <a:t>SELECT * FROM users </a:t>
            </a: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и позволяет обойти аутентификацию.</a:t>
            </a:r>
          </a:p>
          <a:p>
            <a:pPr marL="0" indent="0" algn="just">
              <a:buNone/>
            </a:pPr>
            <a:endParaRPr lang="ru-RU" sz="2000" dirty="0">
              <a:effectLst>
                <a:glow rad="127000">
                  <a:schemeClr val="bg1"/>
                </a:glow>
              </a:effectLst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48D8A890-1541-4253-958D-2A6B534095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5294" y="1268395"/>
            <a:ext cx="7617213" cy="5078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9761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D27514FA-1577-470D-BA04-A552C7B20D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63"/>
            <a:ext cx="10515600" cy="1084534"/>
          </a:xfrm>
        </p:spPr>
        <p:txBody>
          <a:bodyPr anchor="t">
            <a:normAutofit fontScale="90000"/>
          </a:bodyPr>
          <a:lstStyle/>
          <a:p>
            <a:pPr algn="ctr"/>
            <a:r>
              <a:rPr lang="ru-RU" dirty="0">
                <a:effectLst>
                  <a:glow rad="254000">
                    <a:schemeClr val="bg1"/>
                  </a:glow>
                </a:effectLst>
              </a:rPr>
              <a:t>UNION-инъекция – несанкционированный доступ к данным</a:t>
            </a:r>
            <a:endParaRPr lang="ru-RU" dirty="0">
              <a:effectLst>
                <a:glow rad="444500">
                  <a:schemeClr val="bg1"/>
                </a:glow>
              </a:effectLst>
            </a:endParaRPr>
          </a:p>
        </p:txBody>
      </p:sp>
      <p:sp>
        <p:nvSpPr>
          <p:cNvPr id="6" name="Номер слайда 3">
            <a:extLst>
              <a:ext uri="{FF2B5EF4-FFF2-40B4-BE49-F238E27FC236}">
                <a16:creationId xmlns:a16="http://schemas.microsoft.com/office/drawing/2014/main" id="{5437F25C-FC0D-4920-8536-14C019140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66035" y="22303"/>
            <a:ext cx="525965" cy="365125"/>
          </a:xfrm>
        </p:spPr>
        <p:txBody>
          <a:bodyPr/>
          <a:lstStyle/>
          <a:p>
            <a:pPr algn="ctr"/>
            <a:fld id="{BC8D7C3A-2EA1-48AA-A2BC-256FB9E135B5}" type="slidenum">
              <a:rPr lang="ru-RU" sz="2400" smtClean="0">
                <a:solidFill>
                  <a:schemeClr val="tx1"/>
                </a:solidFill>
                <a:effectLst>
                  <a:glow rad="444500">
                    <a:schemeClr val="bg1"/>
                  </a:glow>
                </a:effectLst>
              </a:rPr>
              <a:pPr algn="ctr"/>
              <a:t>5</a:t>
            </a:fld>
            <a:endParaRPr lang="ru-RU" sz="2400" dirty="0">
              <a:solidFill>
                <a:schemeClr val="tx1"/>
              </a:solidFill>
              <a:effectLst>
                <a:glow rad="444500">
                  <a:schemeClr val="bg1"/>
                </a:glow>
              </a:effectLst>
            </a:endParaRP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826C498A-7B31-419A-A0C8-0BBD021382C3}"/>
              </a:ext>
            </a:extLst>
          </p:cNvPr>
          <p:cNvSpPr txBox="1">
            <a:spLocks/>
          </p:cNvSpPr>
          <p:nvPr/>
        </p:nvSpPr>
        <p:spPr>
          <a:xfrm>
            <a:off x="5900542" y="1375982"/>
            <a:ext cx="6028475" cy="5079440"/>
          </a:xfrm>
          <a:prstGeom prst="rect">
            <a:avLst/>
          </a:prstGeom>
          <a:blipFill dpi="0" rotWithShape="1">
            <a:blip r:embed="rId2">
              <a:alphaModFix amt="28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0" sx="100000" sy="100000" flip="none" algn="tl"/>
          </a:blipFill>
          <a:ln w="28575">
            <a:solidFill>
              <a:schemeClr val="tx1">
                <a:alpha val="45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ᐅ Оператор UNION позволяет объединить результаты двух запросов. Если исходный запрос не возвращает строк (например, при </a:t>
            </a:r>
            <a:r>
              <a:rPr lang="ru-RU" sz="2000" dirty="0" err="1">
                <a:effectLst>
                  <a:glow rad="127000">
                    <a:schemeClr val="bg1"/>
                  </a:glow>
                </a:effectLst>
              </a:rPr>
              <a:t>id</a:t>
            </a: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 = -1), злоумышленник может подставить второй запрос для чтения данных из других таблиц.</a:t>
            </a:r>
          </a:p>
          <a:p>
            <a:pPr marL="0" indent="0" algn="just">
              <a:buNone/>
            </a:pP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ᐅ Пример: -1 UNION ALL SELECT </a:t>
            </a:r>
            <a:r>
              <a:rPr lang="ru-RU" sz="2000" dirty="0" err="1">
                <a:effectLst>
                  <a:glow rad="127000">
                    <a:schemeClr val="bg1"/>
                  </a:glow>
                </a:effectLst>
              </a:rPr>
              <a:t>username</a:t>
            </a: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, </a:t>
            </a:r>
            <a:r>
              <a:rPr lang="ru-RU" sz="2000" dirty="0" err="1">
                <a:effectLst>
                  <a:glow rad="127000">
                    <a:schemeClr val="bg1"/>
                  </a:glow>
                </a:effectLst>
              </a:rPr>
              <a:t>password</a:t>
            </a: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, NULL FROM </a:t>
            </a:r>
            <a:r>
              <a:rPr lang="ru-RU" sz="2000" dirty="0" err="1">
                <a:effectLst>
                  <a:glow rad="127000">
                    <a:schemeClr val="bg1"/>
                  </a:glow>
                </a:effectLst>
              </a:rPr>
              <a:t>users</a:t>
            </a: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. При этом необходимо соблюдать равенство числа столбцов в обеих выборках, недостающие поля дополняются константами (NULL). Это даёт возможность извлекать конфиденциальную информацию (пароли, </a:t>
            </a:r>
            <a:r>
              <a:rPr lang="ru-RU" sz="2000" dirty="0" err="1">
                <a:effectLst>
                  <a:glow rad="127000">
                    <a:schemeClr val="bg1"/>
                  </a:glow>
                </a:effectLst>
              </a:rPr>
              <a:t>хеши</a:t>
            </a: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) в теле ответа.</a:t>
            </a:r>
            <a:endParaRPr lang="ru-RU" dirty="0">
              <a:effectLst>
                <a:glow rad="127000">
                  <a:schemeClr val="bg1"/>
                </a:glow>
              </a:effectLst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FC0F44E-87F8-4A57-9D20-DB20511D82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983" y="1375982"/>
            <a:ext cx="5395469" cy="5079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73945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D27514FA-1577-470D-BA04-A552C7B20D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63"/>
            <a:ext cx="10515600" cy="1084534"/>
          </a:xfrm>
        </p:spPr>
        <p:txBody>
          <a:bodyPr anchor="t">
            <a:normAutofit/>
          </a:bodyPr>
          <a:lstStyle/>
          <a:p>
            <a:pPr algn="ctr"/>
            <a:r>
              <a:rPr lang="ru-RU" dirty="0">
                <a:effectLst>
                  <a:glow rad="254000">
                    <a:schemeClr val="bg1"/>
                  </a:glow>
                </a:effectLst>
              </a:rPr>
              <a:t>Слепая </a:t>
            </a:r>
            <a:r>
              <a:rPr lang="en-US" dirty="0">
                <a:effectLst>
                  <a:glow rad="254000">
                    <a:schemeClr val="bg1"/>
                  </a:glow>
                </a:effectLst>
              </a:rPr>
              <a:t>SQL-</a:t>
            </a:r>
            <a:r>
              <a:rPr lang="ru-RU" dirty="0">
                <a:effectLst>
                  <a:glow rad="254000">
                    <a:schemeClr val="bg1"/>
                  </a:glow>
                </a:effectLst>
              </a:rPr>
              <a:t>инъекция – </a:t>
            </a:r>
            <a:r>
              <a:rPr lang="en-US" dirty="0">
                <a:effectLst>
                  <a:glow rad="254000">
                    <a:schemeClr val="bg1"/>
                  </a:glow>
                </a:effectLst>
              </a:rPr>
              <a:t>Blind SQL Injection</a:t>
            </a:r>
            <a:endParaRPr lang="ru-RU" dirty="0">
              <a:effectLst>
                <a:glow rad="444500">
                  <a:schemeClr val="bg1"/>
                </a:glow>
              </a:effectLst>
            </a:endParaRPr>
          </a:p>
        </p:txBody>
      </p:sp>
      <p:sp>
        <p:nvSpPr>
          <p:cNvPr id="6" name="Номер слайда 3">
            <a:extLst>
              <a:ext uri="{FF2B5EF4-FFF2-40B4-BE49-F238E27FC236}">
                <a16:creationId xmlns:a16="http://schemas.microsoft.com/office/drawing/2014/main" id="{5437F25C-FC0D-4920-8536-14C019140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66035" y="22303"/>
            <a:ext cx="525965" cy="365125"/>
          </a:xfrm>
        </p:spPr>
        <p:txBody>
          <a:bodyPr/>
          <a:lstStyle/>
          <a:p>
            <a:pPr algn="ctr"/>
            <a:fld id="{BC8D7C3A-2EA1-48AA-A2BC-256FB9E135B5}" type="slidenum">
              <a:rPr lang="ru-RU" sz="2400" smtClean="0">
                <a:solidFill>
                  <a:schemeClr val="tx1"/>
                </a:solidFill>
                <a:effectLst>
                  <a:glow rad="444500">
                    <a:schemeClr val="bg1"/>
                  </a:glow>
                </a:effectLst>
              </a:rPr>
              <a:pPr algn="ctr"/>
              <a:t>6</a:t>
            </a:fld>
            <a:endParaRPr lang="ru-RU" sz="2400" dirty="0">
              <a:solidFill>
                <a:schemeClr val="tx1"/>
              </a:solidFill>
              <a:effectLst>
                <a:glow rad="444500">
                  <a:schemeClr val="bg1"/>
                </a:glow>
              </a:effectLst>
            </a:endParaRP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826C498A-7B31-419A-A0C8-0BBD021382C3}"/>
              </a:ext>
            </a:extLst>
          </p:cNvPr>
          <p:cNvSpPr txBox="1">
            <a:spLocks/>
          </p:cNvSpPr>
          <p:nvPr/>
        </p:nvSpPr>
        <p:spPr>
          <a:xfrm>
            <a:off x="297898" y="1476343"/>
            <a:ext cx="4462362" cy="5079440"/>
          </a:xfrm>
          <a:prstGeom prst="rect">
            <a:avLst/>
          </a:prstGeom>
          <a:blipFill dpi="0" rotWithShape="1">
            <a:blip r:embed="rId2">
              <a:alphaModFix amt="28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0" sx="100000" sy="100000" flip="none" algn="tl"/>
          </a:blipFill>
          <a:ln w="28575">
            <a:solidFill>
              <a:schemeClr val="tx1">
                <a:alpha val="45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ᐅ Слепая инъекция возникает, когда результаты запроса не выводятся непосредственно на страницу, но различие в ответах (например, наличие/отсутствие элемента) позволяет делать логические выводы.</a:t>
            </a:r>
          </a:p>
          <a:p>
            <a:pPr marL="0" indent="0" algn="just">
              <a:buNone/>
            </a:pP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ᐅ Метод основан на посимвольном подборе через конструкцию AND (SUBSTR(@@version, 1, 1) = '5'). При истинном условии страница ведёт себя одним образом, при ложном – другим. Хотя процесс трудоёмок, он позволяет извлечь практически любые данные: версию СУБД, имена таблиц, содержимое полей.</a:t>
            </a:r>
            <a:endParaRPr lang="ru-RU" dirty="0">
              <a:effectLst>
                <a:glow rad="127000">
                  <a:schemeClr val="bg1"/>
                </a:glow>
              </a:effectLst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703CDE9-19FB-45CB-B9F4-6CAEFC6CAA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0714" y="1476343"/>
            <a:ext cx="7083388" cy="5079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65465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D27514FA-1577-470D-BA04-A552C7B20D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63"/>
            <a:ext cx="10515600" cy="1084534"/>
          </a:xfrm>
        </p:spPr>
        <p:txBody>
          <a:bodyPr anchor="t">
            <a:normAutofit/>
          </a:bodyPr>
          <a:lstStyle/>
          <a:p>
            <a:pPr algn="ctr"/>
            <a:r>
              <a:rPr lang="en-US" dirty="0" err="1">
                <a:effectLst>
                  <a:glow rad="254000">
                    <a:schemeClr val="bg1"/>
                  </a:glow>
                </a:effectLst>
              </a:rPr>
              <a:t>Инъекция</a:t>
            </a:r>
            <a:r>
              <a:rPr lang="en-US" dirty="0">
                <a:effectLst>
                  <a:glow rad="254000">
                    <a:schemeClr val="bg1"/>
                  </a:glow>
                </a:effectLst>
              </a:rPr>
              <a:t> в ORDER BY и GROUP BY</a:t>
            </a:r>
            <a:endParaRPr lang="ru-RU" dirty="0">
              <a:effectLst>
                <a:glow rad="444500">
                  <a:schemeClr val="bg1"/>
                </a:glow>
              </a:effectLst>
            </a:endParaRPr>
          </a:p>
        </p:txBody>
      </p:sp>
      <p:sp>
        <p:nvSpPr>
          <p:cNvPr id="6" name="Номер слайда 3">
            <a:extLst>
              <a:ext uri="{FF2B5EF4-FFF2-40B4-BE49-F238E27FC236}">
                <a16:creationId xmlns:a16="http://schemas.microsoft.com/office/drawing/2014/main" id="{5437F25C-FC0D-4920-8536-14C019140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66035" y="22303"/>
            <a:ext cx="525965" cy="365125"/>
          </a:xfrm>
        </p:spPr>
        <p:txBody>
          <a:bodyPr/>
          <a:lstStyle/>
          <a:p>
            <a:pPr algn="ctr"/>
            <a:fld id="{BC8D7C3A-2EA1-48AA-A2BC-256FB9E135B5}" type="slidenum">
              <a:rPr lang="ru-RU" sz="2400" smtClean="0">
                <a:solidFill>
                  <a:schemeClr val="tx1"/>
                </a:solidFill>
                <a:effectLst>
                  <a:glow rad="444500">
                    <a:schemeClr val="bg1"/>
                  </a:glow>
                </a:effectLst>
              </a:rPr>
              <a:pPr algn="ctr"/>
              <a:t>7</a:t>
            </a:fld>
            <a:endParaRPr lang="ru-RU" sz="2400" dirty="0">
              <a:solidFill>
                <a:schemeClr val="tx1"/>
              </a:solidFill>
              <a:effectLst>
                <a:glow rad="444500">
                  <a:schemeClr val="bg1"/>
                </a:glow>
              </a:effectLst>
            </a:endParaRP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826C498A-7B31-419A-A0C8-0BBD021382C3}"/>
              </a:ext>
            </a:extLst>
          </p:cNvPr>
          <p:cNvSpPr txBox="1">
            <a:spLocks/>
          </p:cNvSpPr>
          <p:nvPr/>
        </p:nvSpPr>
        <p:spPr>
          <a:xfrm>
            <a:off x="5900542" y="1375982"/>
            <a:ext cx="6028475" cy="5079440"/>
          </a:xfrm>
          <a:prstGeom prst="rect">
            <a:avLst/>
          </a:prstGeom>
          <a:blipFill dpi="0" rotWithShape="1">
            <a:blip r:embed="rId2">
              <a:alphaModFix amt="28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0" sx="100000" sy="100000" flip="none" algn="tl"/>
          </a:blipFill>
          <a:ln w="28575">
            <a:solidFill>
              <a:schemeClr val="tx1">
                <a:alpha val="45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ᐅ В операторах сортировки и группировки невозможно использовать UNION, однако возможна слепая инъекция через условные конструкции IF или CASE.</a:t>
            </a:r>
          </a:p>
          <a:p>
            <a:pPr marL="0" indent="0" algn="just">
              <a:buNone/>
            </a:pP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ᐅ Пример: ORDER BY IF(1=1, </a:t>
            </a:r>
            <a:r>
              <a:rPr lang="ru-RU" sz="2000" dirty="0" err="1">
                <a:effectLst>
                  <a:glow rad="127000">
                    <a:schemeClr val="bg1"/>
                  </a:glow>
                </a:effectLst>
              </a:rPr>
              <a:t>author</a:t>
            </a: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, </a:t>
            </a:r>
            <a:r>
              <a:rPr lang="ru-RU" sz="2000" dirty="0" err="1">
                <a:effectLst>
                  <a:glow rad="127000">
                    <a:schemeClr val="bg1"/>
                  </a:glow>
                </a:effectLst>
              </a:rPr>
              <a:t>date</a:t>
            </a: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) – при истинном условии сортировка производится по полю </a:t>
            </a:r>
            <a:r>
              <a:rPr lang="ru-RU" sz="2000" dirty="0" err="1">
                <a:effectLst>
                  <a:glow rad="127000">
                    <a:schemeClr val="bg1"/>
                  </a:glow>
                </a:effectLst>
              </a:rPr>
              <a:t>author</a:t>
            </a: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, при ложном – по </a:t>
            </a:r>
            <a:r>
              <a:rPr lang="ru-RU" sz="2000" dirty="0" err="1">
                <a:effectLst>
                  <a:glow rad="127000">
                    <a:schemeClr val="bg1"/>
                  </a:glow>
                </a:effectLst>
              </a:rPr>
              <a:t>date</a:t>
            </a: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. Наблюдая за порядком вывода записей, злоумышленник может проверять любые логические выражения и тем самым извлекать данные. Этот вектор часто остаётся вне внимания автоматических сканеров.</a:t>
            </a:r>
            <a:endParaRPr lang="ru-RU" dirty="0">
              <a:effectLst>
                <a:glow rad="127000">
                  <a:schemeClr val="bg1"/>
                </a:glow>
              </a:effectLst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986D407-F830-471F-9F8F-365E5B15C3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00" y="1375982"/>
            <a:ext cx="5616099" cy="5079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73090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D27514FA-1577-470D-BA04-A552C7B20D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63"/>
            <a:ext cx="10515600" cy="1084534"/>
          </a:xfrm>
        </p:spPr>
        <p:txBody>
          <a:bodyPr anchor="t">
            <a:normAutofit/>
          </a:bodyPr>
          <a:lstStyle/>
          <a:p>
            <a:pPr algn="ctr"/>
            <a:r>
              <a:rPr lang="ru-RU" dirty="0">
                <a:effectLst>
                  <a:glow rad="254000">
                    <a:schemeClr val="bg1"/>
                  </a:glow>
                </a:effectLst>
              </a:rPr>
              <a:t>Демонстрационная среда – </a:t>
            </a:r>
            <a:r>
              <a:rPr lang="en-US" dirty="0">
                <a:effectLst>
                  <a:glow rad="254000">
                    <a:schemeClr val="bg1"/>
                  </a:glow>
                </a:effectLst>
              </a:rPr>
              <a:t>DVWA</a:t>
            </a:r>
            <a:endParaRPr lang="ru-RU" dirty="0">
              <a:effectLst>
                <a:glow rad="444500">
                  <a:schemeClr val="bg1"/>
                </a:glow>
              </a:effectLst>
            </a:endParaRPr>
          </a:p>
        </p:txBody>
      </p:sp>
      <p:sp>
        <p:nvSpPr>
          <p:cNvPr id="6" name="Номер слайда 3">
            <a:extLst>
              <a:ext uri="{FF2B5EF4-FFF2-40B4-BE49-F238E27FC236}">
                <a16:creationId xmlns:a16="http://schemas.microsoft.com/office/drawing/2014/main" id="{5437F25C-FC0D-4920-8536-14C019140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66035" y="22303"/>
            <a:ext cx="525965" cy="365125"/>
          </a:xfrm>
        </p:spPr>
        <p:txBody>
          <a:bodyPr/>
          <a:lstStyle/>
          <a:p>
            <a:pPr algn="ctr"/>
            <a:fld id="{BC8D7C3A-2EA1-48AA-A2BC-256FB9E135B5}" type="slidenum">
              <a:rPr lang="ru-RU" sz="2400" smtClean="0">
                <a:solidFill>
                  <a:schemeClr val="tx1"/>
                </a:solidFill>
                <a:effectLst>
                  <a:glow rad="444500">
                    <a:schemeClr val="bg1"/>
                  </a:glow>
                </a:effectLst>
              </a:rPr>
              <a:pPr algn="ctr"/>
              <a:t>8</a:t>
            </a:fld>
            <a:endParaRPr lang="ru-RU" sz="2400" dirty="0">
              <a:solidFill>
                <a:schemeClr val="tx1"/>
              </a:solidFill>
              <a:effectLst>
                <a:glow rad="444500">
                  <a:schemeClr val="bg1"/>
                </a:glow>
              </a:effectLst>
            </a:endParaRP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826C498A-7B31-419A-A0C8-0BBD021382C3}"/>
              </a:ext>
            </a:extLst>
          </p:cNvPr>
          <p:cNvSpPr txBox="1">
            <a:spLocks/>
          </p:cNvSpPr>
          <p:nvPr/>
        </p:nvSpPr>
        <p:spPr>
          <a:xfrm>
            <a:off x="297897" y="1476343"/>
            <a:ext cx="4852327" cy="5079440"/>
          </a:xfrm>
          <a:prstGeom prst="rect">
            <a:avLst/>
          </a:prstGeom>
          <a:blipFill dpi="0" rotWithShape="1">
            <a:blip r:embed="rId2">
              <a:alphaModFix amt="28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0" sx="100000" sy="100000" flip="none" algn="tl"/>
          </a:blipFill>
          <a:ln w="28575">
            <a:solidFill>
              <a:schemeClr val="tx1">
                <a:alpha val="45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ᐅ </a:t>
            </a:r>
            <a:r>
              <a:rPr lang="ru-RU" sz="2000" dirty="0" err="1">
                <a:effectLst>
                  <a:glow rad="127000">
                    <a:schemeClr val="bg1"/>
                  </a:glow>
                </a:effectLst>
              </a:rPr>
              <a:t>Damn</a:t>
            </a: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 </a:t>
            </a:r>
            <a:r>
              <a:rPr lang="ru-RU" sz="2000" dirty="0" err="1">
                <a:effectLst>
                  <a:glow rad="127000">
                    <a:schemeClr val="bg1"/>
                  </a:glow>
                </a:effectLst>
              </a:rPr>
              <a:t>Vulnerable</a:t>
            </a: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 Web Application (DVWA) – специально разработанное веб-приложение для безопасного изучения веб-уязвимостей, включая SQL-инъекции. Развёртывание производится клонированием репозитория и запуском встроенного PHP-сервера на порту 8000.</a:t>
            </a:r>
          </a:p>
          <a:p>
            <a:pPr marL="0" indent="0" algn="just">
              <a:buNone/>
            </a:pP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ᐅ Для доступа используются учётные данные </a:t>
            </a:r>
            <a:r>
              <a:rPr lang="ru-RU" sz="2000" dirty="0" err="1">
                <a:effectLst>
                  <a:glow rad="127000">
                    <a:schemeClr val="bg1"/>
                  </a:glow>
                </a:effectLst>
              </a:rPr>
              <a:t>admin</a:t>
            </a: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 / </a:t>
            </a:r>
            <a:r>
              <a:rPr lang="ru-RU" sz="2000" dirty="0" err="1">
                <a:effectLst>
                  <a:glow rad="127000">
                    <a:schemeClr val="bg1"/>
                  </a:glow>
                </a:effectLst>
              </a:rPr>
              <a:t>password</a:t>
            </a: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, а уровень безопасности устанавливается в «</a:t>
            </a:r>
            <a:r>
              <a:rPr lang="ru-RU" sz="2000" dirty="0" err="1">
                <a:effectLst>
                  <a:glow rad="127000">
                    <a:schemeClr val="bg1"/>
                  </a:glow>
                </a:effectLst>
              </a:rPr>
              <a:t>Low</a:t>
            </a: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», что отключает все защитные механизмы и позволяет демонстрировать базовые инъекции без ограничений.</a:t>
            </a:r>
            <a:endParaRPr lang="ru-RU" dirty="0">
              <a:effectLst>
                <a:glow rad="127000">
                  <a:schemeClr val="bg1"/>
                </a:glow>
              </a:effectLst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0539AB2-EFF8-46A2-8588-1DFEA4953C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5035" y="1351771"/>
            <a:ext cx="6707841" cy="5204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82364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D27514FA-1577-470D-BA04-A552C7B20D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63"/>
            <a:ext cx="10515600" cy="1084534"/>
          </a:xfrm>
        </p:spPr>
        <p:txBody>
          <a:bodyPr anchor="t">
            <a:normAutofit/>
          </a:bodyPr>
          <a:lstStyle/>
          <a:p>
            <a:pPr algn="ctr"/>
            <a:r>
              <a:rPr lang="ru-RU" dirty="0">
                <a:effectLst>
                  <a:glow rad="254000">
                    <a:schemeClr val="bg1"/>
                  </a:glow>
                </a:effectLst>
              </a:rPr>
              <a:t>Ручная проверка инъекции в DVWA</a:t>
            </a:r>
            <a:endParaRPr lang="ru-RU" dirty="0">
              <a:effectLst>
                <a:glow rad="444500">
                  <a:schemeClr val="bg1"/>
                </a:glow>
              </a:effectLst>
            </a:endParaRPr>
          </a:p>
        </p:txBody>
      </p:sp>
      <p:sp>
        <p:nvSpPr>
          <p:cNvPr id="6" name="Номер слайда 3">
            <a:extLst>
              <a:ext uri="{FF2B5EF4-FFF2-40B4-BE49-F238E27FC236}">
                <a16:creationId xmlns:a16="http://schemas.microsoft.com/office/drawing/2014/main" id="{5437F25C-FC0D-4920-8536-14C019140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66035" y="22303"/>
            <a:ext cx="525965" cy="365125"/>
          </a:xfrm>
        </p:spPr>
        <p:txBody>
          <a:bodyPr/>
          <a:lstStyle/>
          <a:p>
            <a:pPr algn="ctr"/>
            <a:fld id="{BC8D7C3A-2EA1-48AA-A2BC-256FB9E135B5}" type="slidenum">
              <a:rPr lang="ru-RU" sz="2400" smtClean="0">
                <a:solidFill>
                  <a:schemeClr val="tx1"/>
                </a:solidFill>
                <a:effectLst>
                  <a:glow rad="444500">
                    <a:schemeClr val="bg1"/>
                  </a:glow>
                </a:effectLst>
              </a:rPr>
              <a:pPr algn="ctr"/>
              <a:t>9</a:t>
            </a:fld>
            <a:endParaRPr lang="ru-RU" sz="2400" dirty="0">
              <a:solidFill>
                <a:schemeClr val="tx1"/>
              </a:solidFill>
              <a:effectLst>
                <a:glow rad="444500">
                  <a:schemeClr val="bg1"/>
                </a:glow>
              </a:effectLst>
            </a:endParaRP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826C498A-7B31-419A-A0C8-0BBD021382C3}"/>
              </a:ext>
            </a:extLst>
          </p:cNvPr>
          <p:cNvSpPr txBox="1">
            <a:spLocks/>
          </p:cNvSpPr>
          <p:nvPr/>
        </p:nvSpPr>
        <p:spPr>
          <a:xfrm>
            <a:off x="8450001" y="1267096"/>
            <a:ext cx="3607529" cy="5377611"/>
          </a:xfrm>
          <a:prstGeom prst="rect">
            <a:avLst/>
          </a:prstGeom>
          <a:blipFill dpi="0" rotWithShape="1">
            <a:blip r:embed="rId2">
              <a:alphaModFix amt="28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0" sx="100000" sy="100000" flip="none" algn="tl"/>
          </a:blipFill>
          <a:ln w="28575">
            <a:solidFill>
              <a:schemeClr val="tx1">
                <a:alpha val="45000"/>
              </a:schemeClr>
            </a:solidFill>
          </a:ln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ᐅ На странице SQL </a:t>
            </a:r>
            <a:r>
              <a:rPr lang="ru-RU" sz="2000" dirty="0" err="1">
                <a:effectLst>
                  <a:glow rad="127000">
                    <a:schemeClr val="bg1"/>
                  </a:glow>
                </a:effectLst>
              </a:rPr>
              <a:t>Injection</a:t>
            </a: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 в поле User ID вводится строка ' OR '1'='1 и нажимается </a:t>
            </a:r>
            <a:r>
              <a:rPr lang="ru-RU" sz="2000" dirty="0" err="1">
                <a:effectLst>
                  <a:glow rad="127000">
                    <a:schemeClr val="bg1"/>
                  </a:glow>
                </a:effectLst>
              </a:rPr>
              <a:t>Submit</a:t>
            </a: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. В ответ возвращаются данные всех пользователей, что подтверждает наличие уязвимости.</a:t>
            </a:r>
          </a:p>
          <a:p>
            <a:pPr marL="0" indent="0" algn="just">
              <a:buNone/>
            </a:pP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ᐅ Механизм: закрывающая кавычка завершает строковое значение, а добавленное условие OR '1'='1 делает весь предикат истинным. Это базовый приём ручного тестирования, который позволяет убедиться в том, что параметр не фильтруется, прежде чем переходить к автоматизированной </a:t>
            </a:r>
            <a:r>
              <a:rPr lang="ru-RU" sz="2000" dirty="0" err="1">
                <a:effectLst>
                  <a:glow rad="127000">
                    <a:schemeClr val="bg1"/>
                  </a:glow>
                </a:effectLst>
              </a:rPr>
              <a:t>эксплуатаци</a:t>
            </a:r>
            <a:endParaRPr lang="ru-RU" dirty="0">
              <a:effectLst>
                <a:glow rad="127000">
                  <a:schemeClr val="bg1"/>
                </a:glow>
              </a:effectLst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D44A7F9-7AB1-4A2A-BA37-D63324B4D0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364" y="1267096"/>
            <a:ext cx="7814856" cy="5286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7153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D27514FA-1577-470D-BA04-A552C7B20D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63"/>
            <a:ext cx="10515600" cy="1084534"/>
          </a:xfrm>
        </p:spPr>
        <p:txBody>
          <a:bodyPr anchor="t">
            <a:normAutofit/>
          </a:bodyPr>
          <a:lstStyle/>
          <a:p>
            <a:pPr algn="ctr"/>
            <a:r>
              <a:rPr lang="ru-RU" dirty="0">
                <a:effectLst>
                  <a:glow rad="254000">
                    <a:schemeClr val="bg1"/>
                  </a:glow>
                </a:effectLst>
              </a:rPr>
              <a:t>Методы защиты – два золотых правила</a:t>
            </a:r>
            <a:endParaRPr lang="ru-RU" dirty="0">
              <a:effectLst>
                <a:glow rad="444500">
                  <a:schemeClr val="bg1"/>
                </a:glow>
              </a:effectLst>
            </a:endParaRPr>
          </a:p>
        </p:txBody>
      </p:sp>
      <p:sp>
        <p:nvSpPr>
          <p:cNvPr id="6" name="Номер слайда 3">
            <a:extLst>
              <a:ext uri="{FF2B5EF4-FFF2-40B4-BE49-F238E27FC236}">
                <a16:creationId xmlns:a16="http://schemas.microsoft.com/office/drawing/2014/main" id="{5437F25C-FC0D-4920-8536-14C019140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66035" y="22303"/>
            <a:ext cx="525965" cy="365125"/>
          </a:xfrm>
        </p:spPr>
        <p:txBody>
          <a:bodyPr/>
          <a:lstStyle/>
          <a:p>
            <a:pPr algn="ctr"/>
            <a:fld id="{BC8D7C3A-2EA1-48AA-A2BC-256FB9E135B5}" type="slidenum">
              <a:rPr lang="ru-RU" sz="2400" smtClean="0">
                <a:solidFill>
                  <a:schemeClr val="tx1"/>
                </a:solidFill>
                <a:effectLst>
                  <a:glow rad="444500">
                    <a:schemeClr val="bg1"/>
                  </a:glow>
                </a:effectLst>
              </a:rPr>
              <a:pPr algn="ctr"/>
              <a:t>10</a:t>
            </a:fld>
            <a:endParaRPr lang="ru-RU" sz="2400" dirty="0">
              <a:solidFill>
                <a:schemeClr val="tx1"/>
              </a:solidFill>
              <a:effectLst>
                <a:glow rad="444500">
                  <a:schemeClr val="bg1"/>
                </a:glow>
              </a:effectLst>
            </a:endParaRP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826C498A-7B31-419A-A0C8-0BBD021382C3}"/>
              </a:ext>
            </a:extLst>
          </p:cNvPr>
          <p:cNvSpPr txBox="1">
            <a:spLocks/>
          </p:cNvSpPr>
          <p:nvPr/>
        </p:nvSpPr>
        <p:spPr>
          <a:xfrm>
            <a:off x="159125" y="1476343"/>
            <a:ext cx="4785091" cy="5079440"/>
          </a:xfrm>
          <a:prstGeom prst="rect">
            <a:avLst/>
          </a:prstGeom>
          <a:blipFill dpi="0" rotWithShape="1">
            <a:blip r:embed="rId2">
              <a:alphaModFix amt="28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0" sx="100000" sy="100000" flip="none" algn="tl"/>
          </a:blipFill>
          <a:ln w="28575">
            <a:solidFill>
              <a:schemeClr val="tx1">
                <a:alpha val="45000"/>
              </a:schemeClr>
            </a:solidFill>
          </a:ln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ᐅ Исчерпывающая защита от SQL-инъекций обеспечивается выполнением двух правил:</a:t>
            </a:r>
          </a:p>
          <a:p>
            <a:pPr marL="0" indent="0" algn="just">
              <a:buNone/>
            </a:pP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-- для любых данных, независимо от источника, применяются исключительно параметризованные запросы (</a:t>
            </a:r>
            <a:r>
              <a:rPr lang="ru-RU" sz="2000" dirty="0" err="1">
                <a:effectLst>
                  <a:glow rad="127000">
                    <a:schemeClr val="bg1"/>
                  </a:glow>
                </a:effectLst>
              </a:rPr>
              <a:t>плейсхолдеры</a:t>
            </a: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);</a:t>
            </a:r>
          </a:p>
          <a:p>
            <a:pPr marL="0" indent="0" algn="just">
              <a:buNone/>
            </a:pP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-- для идентификаторов (имена таблиц, колонок) и ключевых слов (ASC/DESC) используется только жёстко заданный белый список, прописанный в коде.</a:t>
            </a:r>
          </a:p>
          <a:p>
            <a:pPr marL="0" indent="0" algn="just">
              <a:buNone/>
            </a:pP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ᐅ В отличие от экранирования, эти правила дают формальную гарантию безопасности, поскольку полностью исключают возможность интерпретации пользовательского ввода как управляющих конструкций SQL.</a:t>
            </a:r>
            <a:endParaRPr lang="ru-RU" dirty="0">
              <a:effectLst>
                <a:glow rad="127000">
                  <a:schemeClr val="bg1"/>
                </a:glow>
              </a:effectLst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7BDE66C-7168-4D60-BD99-7AA1AC9E54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4849" y="1476343"/>
            <a:ext cx="6948026" cy="5079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58952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D27514FA-1577-470D-BA04-A552C7B20D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63"/>
            <a:ext cx="10515600" cy="1084534"/>
          </a:xfrm>
        </p:spPr>
        <p:txBody>
          <a:bodyPr anchor="t">
            <a:normAutofit/>
          </a:bodyPr>
          <a:lstStyle/>
          <a:p>
            <a:pPr algn="ctr"/>
            <a:r>
              <a:rPr lang="ru-RU" dirty="0" err="1">
                <a:effectLst>
                  <a:glow rad="254000">
                    <a:schemeClr val="bg1"/>
                  </a:glow>
                </a:effectLst>
              </a:rPr>
              <a:t>Эскейпинг</a:t>
            </a:r>
            <a:r>
              <a:rPr lang="ru-RU" dirty="0">
                <a:effectLst>
                  <a:glow rad="254000">
                    <a:schemeClr val="bg1"/>
                  </a:glow>
                </a:effectLst>
              </a:rPr>
              <a:t> – мифы и реальность</a:t>
            </a:r>
            <a:endParaRPr lang="ru-RU" dirty="0">
              <a:effectLst>
                <a:glow rad="444500">
                  <a:schemeClr val="bg1"/>
                </a:glow>
              </a:effectLst>
            </a:endParaRPr>
          </a:p>
        </p:txBody>
      </p:sp>
      <p:sp>
        <p:nvSpPr>
          <p:cNvPr id="6" name="Номер слайда 3">
            <a:extLst>
              <a:ext uri="{FF2B5EF4-FFF2-40B4-BE49-F238E27FC236}">
                <a16:creationId xmlns:a16="http://schemas.microsoft.com/office/drawing/2014/main" id="{5437F25C-FC0D-4920-8536-14C019140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66035" y="22303"/>
            <a:ext cx="525965" cy="365125"/>
          </a:xfrm>
        </p:spPr>
        <p:txBody>
          <a:bodyPr/>
          <a:lstStyle/>
          <a:p>
            <a:pPr algn="ctr"/>
            <a:fld id="{BC8D7C3A-2EA1-48AA-A2BC-256FB9E135B5}" type="slidenum">
              <a:rPr lang="ru-RU" sz="2400" smtClean="0">
                <a:solidFill>
                  <a:schemeClr val="tx1"/>
                </a:solidFill>
                <a:effectLst>
                  <a:glow rad="444500">
                    <a:schemeClr val="bg1"/>
                  </a:glow>
                </a:effectLst>
              </a:rPr>
              <a:pPr algn="ctr"/>
              <a:t>11</a:t>
            </a:fld>
            <a:endParaRPr lang="ru-RU" sz="2400" dirty="0">
              <a:solidFill>
                <a:schemeClr val="tx1"/>
              </a:solidFill>
              <a:effectLst>
                <a:glow rad="444500">
                  <a:schemeClr val="bg1"/>
                </a:glow>
              </a:effectLst>
            </a:endParaRP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826C498A-7B31-419A-A0C8-0BBD021382C3}"/>
              </a:ext>
            </a:extLst>
          </p:cNvPr>
          <p:cNvSpPr txBox="1">
            <a:spLocks/>
          </p:cNvSpPr>
          <p:nvPr/>
        </p:nvSpPr>
        <p:spPr>
          <a:xfrm>
            <a:off x="7207624" y="1375981"/>
            <a:ext cx="4721393" cy="5299455"/>
          </a:xfrm>
          <a:prstGeom prst="rect">
            <a:avLst/>
          </a:prstGeom>
          <a:blipFill dpi="0" rotWithShape="1">
            <a:blip r:embed="rId2">
              <a:alphaModFix amt="28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0" sx="100000" sy="100000" flip="none" algn="tl"/>
          </a:blipFill>
          <a:ln w="28575">
            <a:solidFill>
              <a:schemeClr val="tx1">
                <a:alpha val="45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ᐅ Функция </a:t>
            </a:r>
            <a:r>
              <a:rPr lang="ru-RU" sz="2000" dirty="0" err="1">
                <a:effectLst>
                  <a:glow rad="127000">
                    <a:schemeClr val="bg1"/>
                  </a:glow>
                </a:effectLst>
              </a:rPr>
              <a:t>mysql_real_escape_string</a:t>
            </a: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() не является средством защиты, а лишь выполняет форматирование строк, экранируя ограничители. Она не применяется к числам и идентификаторам, а также может быть обойдена при определённых условиях.</a:t>
            </a:r>
          </a:p>
          <a:p>
            <a:pPr marL="0" indent="0" algn="just">
              <a:buNone/>
            </a:pP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ᐅ Реальный пример обхода: при установке кодировки GBK и передаче байтовой последовательности \</a:t>
            </a:r>
            <a:r>
              <a:rPr lang="ru-RU" sz="2000" dirty="0" err="1">
                <a:effectLst>
                  <a:glow rad="127000">
                    <a:schemeClr val="bg1"/>
                  </a:glow>
                </a:effectLst>
              </a:rPr>
              <a:t>xbf</a:t>
            </a: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\x27 экранирующий слеш становится частью </a:t>
            </a:r>
            <a:r>
              <a:rPr lang="ru-RU" sz="2000" dirty="0" err="1">
                <a:effectLst>
                  <a:glow rad="127000">
                    <a:schemeClr val="bg1"/>
                  </a:glow>
                </a:effectLst>
              </a:rPr>
              <a:t>многобайтового</a:t>
            </a: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 символа, и кавычка остаётся неэкранированной. Таким образом, полагаться на экранирование как на основной метод защиты недопустимо.</a:t>
            </a:r>
            <a:endParaRPr lang="ru-RU" dirty="0">
              <a:effectLst>
                <a:glow rad="127000">
                  <a:schemeClr val="bg1"/>
                </a:glow>
              </a:effectLst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54C921A-B84C-430C-BFC1-19FF200D74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513" y="1267097"/>
            <a:ext cx="6877405" cy="5409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9022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D27514FA-1577-470D-BA04-A552C7B20D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63"/>
            <a:ext cx="10515600" cy="1084534"/>
          </a:xfrm>
        </p:spPr>
        <p:txBody>
          <a:bodyPr anchor="t">
            <a:normAutofit fontScale="90000"/>
          </a:bodyPr>
          <a:lstStyle/>
          <a:p>
            <a:pPr algn="ctr"/>
            <a:r>
              <a:rPr lang="ru-RU" dirty="0">
                <a:effectLst>
                  <a:glow rad="254000">
                    <a:schemeClr val="bg1"/>
                  </a:glow>
                </a:effectLst>
              </a:rPr>
              <a:t>Подготовленные выражения – достоинства и ограничения</a:t>
            </a:r>
            <a:endParaRPr lang="ru-RU" dirty="0">
              <a:effectLst>
                <a:glow rad="444500">
                  <a:schemeClr val="bg1"/>
                </a:glow>
              </a:effectLst>
            </a:endParaRPr>
          </a:p>
        </p:txBody>
      </p:sp>
      <p:sp>
        <p:nvSpPr>
          <p:cNvPr id="6" name="Номер слайда 3">
            <a:extLst>
              <a:ext uri="{FF2B5EF4-FFF2-40B4-BE49-F238E27FC236}">
                <a16:creationId xmlns:a16="http://schemas.microsoft.com/office/drawing/2014/main" id="{5437F25C-FC0D-4920-8536-14C019140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66035" y="22303"/>
            <a:ext cx="525965" cy="365125"/>
          </a:xfrm>
        </p:spPr>
        <p:txBody>
          <a:bodyPr/>
          <a:lstStyle/>
          <a:p>
            <a:pPr algn="ctr"/>
            <a:fld id="{BC8D7C3A-2EA1-48AA-A2BC-256FB9E135B5}" type="slidenum">
              <a:rPr lang="ru-RU" sz="2400" smtClean="0">
                <a:solidFill>
                  <a:schemeClr val="tx1"/>
                </a:solidFill>
                <a:effectLst>
                  <a:glow rad="444500">
                    <a:schemeClr val="bg1"/>
                  </a:glow>
                </a:effectLst>
              </a:rPr>
              <a:pPr algn="ctr"/>
              <a:t>12</a:t>
            </a:fld>
            <a:endParaRPr lang="ru-RU" sz="2400" dirty="0">
              <a:solidFill>
                <a:schemeClr val="tx1"/>
              </a:solidFill>
              <a:effectLst>
                <a:glow rad="444500">
                  <a:schemeClr val="bg1"/>
                </a:glow>
              </a:effectLst>
            </a:endParaRP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826C498A-7B31-419A-A0C8-0BBD021382C3}"/>
              </a:ext>
            </a:extLst>
          </p:cNvPr>
          <p:cNvSpPr txBox="1">
            <a:spLocks/>
          </p:cNvSpPr>
          <p:nvPr/>
        </p:nvSpPr>
        <p:spPr>
          <a:xfrm>
            <a:off x="297898" y="1476343"/>
            <a:ext cx="4986796" cy="5079440"/>
          </a:xfrm>
          <a:prstGeom prst="rect">
            <a:avLst/>
          </a:prstGeom>
          <a:blipFill dpi="0" rotWithShape="1">
            <a:blip r:embed="rId2">
              <a:alphaModFix amt="28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0" sx="100000" sy="100000" flip="none" algn="tl"/>
          </a:blipFill>
          <a:ln w="28575">
            <a:solidFill>
              <a:schemeClr val="tx1">
                <a:alpha val="45000"/>
              </a:schemeClr>
            </a:solidFill>
          </a:ln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ᐅ Серверные подготовленные выражения (</a:t>
            </a:r>
            <a:r>
              <a:rPr lang="ru-RU" sz="2000" dirty="0" err="1">
                <a:effectLst>
                  <a:glow rad="127000">
                    <a:schemeClr val="bg1"/>
                  </a:glow>
                </a:effectLst>
              </a:rPr>
              <a:t>native</a:t>
            </a: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 </a:t>
            </a:r>
            <a:r>
              <a:rPr lang="ru-RU" sz="2000" dirty="0" err="1">
                <a:effectLst>
                  <a:glow rad="127000">
                    <a:schemeClr val="bg1"/>
                  </a:glow>
                </a:effectLst>
              </a:rPr>
              <a:t>prepared</a:t>
            </a: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 </a:t>
            </a:r>
            <a:r>
              <a:rPr lang="ru-RU" sz="2000" dirty="0" err="1">
                <a:effectLst>
                  <a:glow rad="127000">
                    <a:schemeClr val="bg1"/>
                  </a:glow>
                </a:effectLst>
              </a:rPr>
              <a:t>statements</a:t>
            </a: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) обеспечивают разделение кода и данных, что теоретически гарантирует защиту от инъекций. Однако на практике их применение сопряжено с рядом недостатков: многословность (до 9 строк кода против 2), невозможность параметризации списков IN() и динамических ORDER BY, а также затруднённая отладка из-за отсутствия готового SQL-текста.</a:t>
            </a:r>
          </a:p>
          <a:p>
            <a:pPr marL="0" indent="0" algn="just">
              <a:buNone/>
            </a:pP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ᐅ Согласно результатам бенчмарка, </a:t>
            </a:r>
            <a:r>
              <a:rPr lang="ru-RU" sz="2000" dirty="0" err="1">
                <a:effectLst>
                  <a:glow rad="127000">
                    <a:schemeClr val="bg1"/>
                  </a:glow>
                </a:effectLst>
              </a:rPr>
              <a:t>PDO_prepared</a:t>
            </a: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 требует до 1.5 </a:t>
            </a:r>
            <a:r>
              <a:rPr lang="ru-RU" sz="2000" dirty="0" err="1">
                <a:effectLst>
                  <a:glow rad="127000">
                    <a:schemeClr val="bg1"/>
                  </a:glow>
                </a:effectLst>
              </a:rPr>
              <a:t>кБ</a:t>
            </a: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 дополнительной памяти на один запрос, что критично для высоконагруженных систем. Таким образом, подготовленные выражения не являются универсальным решением.</a:t>
            </a:r>
            <a:endParaRPr lang="ru-RU" dirty="0">
              <a:effectLst>
                <a:glow rad="127000">
                  <a:schemeClr val="bg1"/>
                </a:glow>
              </a:effectLst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D3BC096-C6D3-463F-9F4D-EB12CC6BDE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1485" y="1476343"/>
            <a:ext cx="6442617" cy="5079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15265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D27514FA-1577-470D-BA04-A552C7B20D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63"/>
            <a:ext cx="10515600" cy="1084534"/>
          </a:xfrm>
        </p:spPr>
        <p:txBody>
          <a:bodyPr anchor="t">
            <a:normAutofit fontScale="90000"/>
          </a:bodyPr>
          <a:lstStyle/>
          <a:p>
            <a:pPr algn="ctr"/>
            <a:r>
              <a:rPr lang="ru-RU" dirty="0">
                <a:effectLst>
                  <a:glow rad="254000">
                    <a:schemeClr val="bg1"/>
                  </a:glow>
                </a:effectLst>
              </a:rPr>
              <a:t>Альтернатива – самодельные типизованные </a:t>
            </a:r>
            <a:r>
              <a:rPr lang="ru-RU" dirty="0" err="1">
                <a:effectLst>
                  <a:glow rad="254000">
                    <a:schemeClr val="bg1"/>
                  </a:glow>
                </a:effectLst>
              </a:rPr>
              <a:t>плейсхолдеры</a:t>
            </a:r>
            <a:endParaRPr lang="ru-RU" dirty="0">
              <a:effectLst>
                <a:glow rad="444500">
                  <a:schemeClr val="bg1"/>
                </a:glow>
              </a:effectLst>
            </a:endParaRPr>
          </a:p>
        </p:txBody>
      </p:sp>
      <p:sp>
        <p:nvSpPr>
          <p:cNvPr id="6" name="Номер слайда 3">
            <a:extLst>
              <a:ext uri="{FF2B5EF4-FFF2-40B4-BE49-F238E27FC236}">
                <a16:creationId xmlns:a16="http://schemas.microsoft.com/office/drawing/2014/main" id="{5437F25C-FC0D-4920-8536-14C019140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66035" y="22303"/>
            <a:ext cx="525965" cy="365125"/>
          </a:xfrm>
        </p:spPr>
        <p:txBody>
          <a:bodyPr/>
          <a:lstStyle/>
          <a:p>
            <a:pPr algn="ctr"/>
            <a:fld id="{BC8D7C3A-2EA1-48AA-A2BC-256FB9E135B5}" type="slidenum">
              <a:rPr lang="ru-RU" sz="2400" smtClean="0">
                <a:solidFill>
                  <a:schemeClr val="tx1"/>
                </a:solidFill>
                <a:effectLst>
                  <a:glow rad="444500">
                    <a:schemeClr val="bg1"/>
                  </a:glow>
                </a:effectLst>
              </a:rPr>
              <a:pPr algn="ctr"/>
              <a:t>13</a:t>
            </a:fld>
            <a:endParaRPr lang="ru-RU" sz="2400" dirty="0">
              <a:solidFill>
                <a:schemeClr val="tx1"/>
              </a:solidFill>
              <a:effectLst>
                <a:glow rad="444500">
                  <a:schemeClr val="bg1"/>
                </a:glow>
              </a:effectLst>
            </a:endParaRP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826C498A-7B31-419A-A0C8-0BBD021382C3}"/>
              </a:ext>
            </a:extLst>
          </p:cNvPr>
          <p:cNvSpPr txBox="1">
            <a:spLocks/>
          </p:cNvSpPr>
          <p:nvPr/>
        </p:nvSpPr>
        <p:spPr>
          <a:xfrm>
            <a:off x="6790765" y="1375982"/>
            <a:ext cx="5138252" cy="5079440"/>
          </a:xfrm>
          <a:prstGeom prst="rect">
            <a:avLst/>
          </a:prstGeom>
          <a:blipFill dpi="0" rotWithShape="1">
            <a:blip r:embed="rId2">
              <a:alphaModFix amt="28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0" sx="100000" sy="100000" flip="none" algn="tl"/>
          </a:blipFill>
          <a:ln w="28575">
            <a:solidFill>
              <a:schemeClr val="tx1">
                <a:alpha val="45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ᐅ Альтернативный подход – реализация собственных </a:t>
            </a:r>
            <a:r>
              <a:rPr lang="ru-RU" sz="2000" dirty="0" err="1">
                <a:effectLst>
                  <a:glow rad="127000">
                    <a:schemeClr val="bg1"/>
                  </a:glow>
                </a:effectLst>
              </a:rPr>
              <a:t>плейсхолдеров</a:t>
            </a: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 с указанием типа (%d, %s, a: для массивов). Пример функции </a:t>
            </a:r>
            <a:r>
              <a:rPr lang="ru-RU" sz="2000" dirty="0" err="1">
                <a:effectLst>
                  <a:glow rad="127000">
                    <a:schemeClr val="bg1"/>
                  </a:glow>
                </a:effectLst>
              </a:rPr>
              <a:t>dbget</a:t>
            </a: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(), которая </a:t>
            </a:r>
            <a:r>
              <a:rPr lang="ru-RU" sz="2000" dirty="0" err="1">
                <a:effectLst>
                  <a:glow rad="127000">
                    <a:schemeClr val="bg1"/>
                  </a:glow>
                </a:effectLst>
              </a:rPr>
              <a:t>парсит</a:t>
            </a: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 строку, экранирует строки и </a:t>
            </a:r>
            <a:r>
              <a:rPr lang="ru-RU" sz="2000" dirty="0" err="1">
                <a:effectLst>
                  <a:glow rad="127000">
                    <a:schemeClr val="bg1"/>
                  </a:glow>
                </a:effectLst>
              </a:rPr>
              <a:t>валидирует</a:t>
            </a: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 числа, позволяет сохранить контроль над форматированием и поддерживать оператор IN() с обработкой пустого массива (подстановка NULL).</a:t>
            </a:r>
          </a:p>
          <a:p>
            <a:pPr marL="0" indent="0" algn="just">
              <a:buNone/>
            </a:pP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ᐅ Однако важно понимать, что </a:t>
            </a:r>
            <a:r>
              <a:rPr lang="ru-RU" sz="2000" dirty="0" err="1">
                <a:effectLst>
                  <a:glow rad="127000">
                    <a:schemeClr val="bg1"/>
                  </a:glow>
                </a:effectLst>
              </a:rPr>
              <a:t>sprintf</a:t>
            </a: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() сама по себе не защищает – требуется обязательное экранирование строковых значений и приведение чисел. Такой подход востребован в легаси-проектах и при необходимости тонкой настройки запросов.</a:t>
            </a:r>
            <a:endParaRPr lang="ru-RU" dirty="0">
              <a:effectLst>
                <a:glow rad="127000">
                  <a:schemeClr val="bg1"/>
                </a:glow>
              </a:effectLst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FCA2726-F271-4BC3-864E-A4EB393D35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470" y="1395606"/>
            <a:ext cx="6239435" cy="4951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30410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D27514FA-1577-470D-BA04-A552C7B20D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63"/>
            <a:ext cx="10515600" cy="1084534"/>
          </a:xfrm>
        </p:spPr>
        <p:txBody>
          <a:bodyPr anchor="t">
            <a:normAutofit fontScale="90000"/>
          </a:bodyPr>
          <a:lstStyle/>
          <a:p>
            <a:pPr algn="ctr"/>
            <a:r>
              <a:rPr lang="ru-RU" dirty="0">
                <a:effectLst>
                  <a:glow rad="254000">
                    <a:schemeClr val="bg1"/>
                  </a:glow>
                </a:effectLst>
              </a:rPr>
              <a:t>Белые списки для идентификаторов – OWASP-подход</a:t>
            </a:r>
            <a:endParaRPr lang="ru-RU" dirty="0">
              <a:effectLst>
                <a:glow rad="444500">
                  <a:schemeClr val="bg1"/>
                </a:glow>
              </a:effectLst>
            </a:endParaRPr>
          </a:p>
        </p:txBody>
      </p:sp>
      <p:sp>
        <p:nvSpPr>
          <p:cNvPr id="6" name="Номер слайда 3">
            <a:extLst>
              <a:ext uri="{FF2B5EF4-FFF2-40B4-BE49-F238E27FC236}">
                <a16:creationId xmlns:a16="http://schemas.microsoft.com/office/drawing/2014/main" id="{5437F25C-FC0D-4920-8536-14C019140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66035" y="22303"/>
            <a:ext cx="525965" cy="365125"/>
          </a:xfrm>
        </p:spPr>
        <p:txBody>
          <a:bodyPr/>
          <a:lstStyle/>
          <a:p>
            <a:pPr algn="ctr"/>
            <a:fld id="{BC8D7C3A-2EA1-48AA-A2BC-256FB9E135B5}" type="slidenum">
              <a:rPr lang="ru-RU" sz="2400" smtClean="0">
                <a:solidFill>
                  <a:schemeClr val="tx1"/>
                </a:solidFill>
                <a:effectLst>
                  <a:glow rad="444500">
                    <a:schemeClr val="bg1"/>
                  </a:glow>
                </a:effectLst>
              </a:rPr>
              <a:pPr algn="ctr"/>
              <a:t>14</a:t>
            </a:fld>
            <a:endParaRPr lang="ru-RU" sz="2400" dirty="0">
              <a:solidFill>
                <a:schemeClr val="tx1"/>
              </a:solidFill>
              <a:effectLst>
                <a:glow rad="444500">
                  <a:schemeClr val="bg1"/>
                </a:glow>
              </a:effectLst>
            </a:endParaRP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826C498A-7B31-419A-A0C8-0BBD021382C3}"/>
              </a:ext>
            </a:extLst>
          </p:cNvPr>
          <p:cNvSpPr txBox="1">
            <a:spLocks/>
          </p:cNvSpPr>
          <p:nvPr/>
        </p:nvSpPr>
        <p:spPr>
          <a:xfrm>
            <a:off x="297897" y="1476343"/>
            <a:ext cx="6028475" cy="5079440"/>
          </a:xfrm>
          <a:prstGeom prst="rect">
            <a:avLst/>
          </a:prstGeom>
          <a:blipFill dpi="0" rotWithShape="1">
            <a:blip r:embed="rId2">
              <a:alphaModFix amt="28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0" sx="100000" sy="100000" flip="none" algn="tl"/>
          </a:blipFill>
          <a:ln w="28575">
            <a:solidFill>
              <a:schemeClr val="tx1">
                <a:alpha val="45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ᐅ Для идентификаторов (имена таблиц, колонок, направление сортировки) недопустима прямая подстановка из пользовательского ввода. Единственный безопасный метод – сопоставление с предопределённым массивом допустимых значений. Пример: </a:t>
            </a:r>
            <a:r>
              <a:rPr lang="ru-RU" sz="2000" b="1" dirty="0">
                <a:effectLst>
                  <a:glow rad="127000">
                    <a:schemeClr val="bg1"/>
                  </a:glow>
                </a:effectLst>
              </a:rPr>
              <a:t>$</a:t>
            </a:r>
            <a:r>
              <a:rPr lang="ru-RU" sz="2000" b="1" dirty="0" err="1">
                <a:effectLst>
                  <a:glow rad="127000">
                    <a:schemeClr val="bg1"/>
                  </a:glow>
                </a:effectLst>
              </a:rPr>
              <a:t>allowed</a:t>
            </a:r>
            <a:r>
              <a:rPr lang="ru-RU" sz="2000" b="1" dirty="0">
                <a:effectLst>
                  <a:glow rad="127000">
                    <a:schemeClr val="bg1"/>
                  </a:glow>
                </a:effectLst>
              </a:rPr>
              <a:t> = ['</a:t>
            </a:r>
            <a:r>
              <a:rPr lang="ru-RU" sz="2000" b="1" dirty="0" err="1">
                <a:effectLst>
                  <a:glow rad="127000">
                    <a:schemeClr val="bg1"/>
                  </a:glow>
                </a:effectLst>
              </a:rPr>
              <a:t>name</a:t>
            </a:r>
            <a:r>
              <a:rPr lang="ru-RU" sz="2000" b="1" dirty="0">
                <a:effectLst>
                  <a:glow rad="127000">
                    <a:schemeClr val="bg1"/>
                  </a:glow>
                </a:effectLst>
              </a:rPr>
              <a:t>','</a:t>
            </a:r>
            <a:r>
              <a:rPr lang="ru-RU" sz="2000" b="1" dirty="0" err="1">
                <a:effectLst>
                  <a:glow rad="127000">
                    <a:schemeClr val="bg1"/>
                  </a:glow>
                </a:effectLst>
              </a:rPr>
              <a:t>price</a:t>
            </a:r>
            <a:r>
              <a:rPr lang="ru-RU" sz="2000" b="1" dirty="0">
                <a:effectLst>
                  <a:glow rad="127000">
                    <a:schemeClr val="bg1"/>
                  </a:glow>
                </a:effectLst>
              </a:rPr>
              <a:t>','</a:t>
            </a:r>
            <a:r>
              <a:rPr lang="ru-RU" sz="2000" b="1" dirty="0" err="1">
                <a:effectLst>
                  <a:glow rad="127000">
                    <a:schemeClr val="bg1"/>
                  </a:glow>
                </a:effectLst>
              </a:rPr>
              <a:t>qty</a:t>
            </a:r>
            <a:r>
              <a:rPr lang="ru-RU" sz="2000" b="1" dirty="0">
                <a:effectLst>
                  <a:glow rad="127000">
                    <a:schemeClr val="bg1"/>
                  </a:glow>
                </a:effectLst>
              </a:rPr>
              <a:t>']; $</a:t>
            </a:r>
            <a:r>
              <a:rPr lang="ru-RU" sz="2000" b="1" dirty="0" err="1">
                <a:effectLst>
                  <a:glow rad="127000">
                    <a:schemeClr val="bg1"/>
                  </a:glow>
                </a:effectLst>
              </a:rPr>
              <a:t>key</a:t>
            </a:r>
            <a:r>
              <a:rPr lang="ru-RU" sz="2000" b="1" dirty="0">
                <a:effectLst>
                  <a:glow rad="127000">
                    <a:schemeClr val="bg1"/>
                  </a:glow>
                </a:effectLst>
              </a:rPr>
              <a:t> = </a:t>
            </a:r>
            <a:r>
              <a:rPr lang="ru-RU" sz="2000" b="1" dirty="0" err="1">
                <a:effectLst>
                  <a:glow rad="127000">
                    <a:schemeClr val="bg1"/>
                  </a:glow>
                </a:effectLst>
              </a:rPr>
              <a:t>array_search</a:t>
            </a:r>
            <a:r>
              <a:rPr lang="ru-RU" sz="2000" b="1" dirty="0">
                <a:effectLst>
                  <a:glow rad="127000">
                    <a:schemeClr val="bg1"/>
                  </a:glow>
                </a:effectLst>
              </a:rPr>
              <a:t>($</a:t>
            </a:r>
            <a:r>
              <a:rPr lang="ru-RU" sz="2000" b="1" dirty="0" err="1">
                <a:effectLst>
                  <a:glow rad="127000">
                    <a:schemeClr val="bg1"/>
                  </a:glow>
                </a:effectLst>
              </a:rPr>
              <a:t>sort</a:t>
            </a:r>
            <a:r>
              <a:rPr lang="ru-RU" sz="2000" b="1" dirty="0">
                <a:effectLst>
                  <a:glow rad="127000">
                    <a:schemeClr val="bg1"/>
                  </a:glow>
                </a:effectLst>
              </a:rPr>
              <a:t>, $</a:t>
            </a:r>
            <a:r>
              <a:rPr lang="ru-RU" sz="2000" b="1" dirty="0" err="1">
                <a:effectLst>
                  <a:glow rad="127000">
                    <a:schemeClr val="bg1"/>
                  </a:glow>
                </a:effectLst>
              </a:rPr>
              <a:t>allowed</a:t>
            </a:r>
            <a:r>
              <a:rPr lang="ru-RU" sz="2000" b="1" dirty="0">
                <a:effectLst>
                  <a:glow rad="127000">
                    <a:schemeClr val="bg1"/>
                  </a:glow>
                </a:effectLst>
              </a:rPr>
              <a:t>); $</a:t>
            </a:r>
            <a:r>
              <a:rPr lang="ru-RU" sz="2000" b="1" dirty="0" err="1">
                <a:effectLst>
                  <a:glow rad="127000">
                    <a:schemeClr val="bg1"/>
                  </a:glow>
                </a:effectLst>
              </a:rPr>
              <a:t>orderby</a:t>
            </a:r>
            <a:r>
              <a:rPr lang="ru-RU" sz="2000" b="1" dirty="0">
                <a:effectLst>
                  <a:glow rad="127000">
                    <a:schemeClr val="bg1"/>
                  </a:glow>
                </a:effectLst>
              </a:rPr>
              <a:t> = $</a:t>
            </a:r>
            <a:r>
              <a:rPr lang="ru-RU" sz="2000" b="1" dirty="0" err="1">
                <a:effectLst>
                  <a:glow rad="127000">
                    <a:schemeClr val="bg1"/>
                  </a:glow>
                </a:effectLst>
              </a:rPr>
              <a:t>allowed</a:t>
            </a:r>
            <a:r>
              <a:rPr lang="ru-RU" sz="2000" b="1" dirty="0">
                <a:effectLst>
                  <a:glow rad="127000">
                    <a:schemeClr val="bg1"/>
                  </a:glow>
                </a:effectLst>
              </a:rPr>
              <a:t>[$</a:t>
            </a:r>
            <a:r>
              <a:rPr lang="ru-RU" sz="2000" b="1" dirty="0" err="1">
                <a:effectLst>
                  <a:glow rad="127000">
                    <a:schemeClr val="bg1"/>
                  </a:glow>
                </a:effectLst>
              </a:rPr>
              <a:t>key</a:t>
            </a:r>
            <a:r>
              <a:rPr lang="ru-RU" sz="2000" b="1" dirty="0">
                <a:effectLst>
                  <a:glow rad="127000">
                    <a:schemeClr val="bg1"/>
                  </a:glow>
                </a:effectLst>
              </a:rPr>
              <a:t>];</a:t>
            </a:r>
          </a:p>
          <a:p>
            <a:pPr marL="0" indent="0" algn="just">
              <a:buNone/>
            </a:pP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ᐅ Данный подход настоятельно рекомендуется OWASP в разделе «</a:t>
            </a:r>
            <a:r>
              <a:rPr lang="ru-RU" sz="2000" dirty="0" err="1">
                <a:effectLst>
                  <a:glow rad="127000">
                    <a:schemeClr val="bg1"/>
                  </a:glow>
                </a:effectLst>
              </a:rPr>
              <a:t>Option</a:t>
            </a: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 3: </a:t>
            </a:r>
            <a:r>
              <a:rPr lang="ru-RU" sz="2000" dirty="0" err="1">
                <a:effectLst>
                  <a:glow rad="127000">
                    <a:schemeClr val="bg1"/>
                  </a:glow>
                </a:effectLst>
              </a:rPr>
              <a:t>Allow-list</a:t>
            </a: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 </a:t>
            </a:r>
            <a:r>
              <a:rPr lang="ru-RU" sz="2000" dirty="0" err="1">
                <a:effectLst>
                  <a:glow rad="127000">
                    <a:schemeClr val="bg1"/>
                  </a:glow>
                </a:effectLst>
              </a:rPr>
              <a:t>Input</a:t>
            </a: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 </a:t>
            </a:r>
            <a:r>
              <a:rPr lang="ru-RU" sz="2000" dirty="0" err="1">
                <a:effectLst>
                  <a:glow rad="127000">
                    <a:schemeClr val="bg1"/>
                  </a:glow>
                </a:effectLst>
              </a:rPr>
              <a:t>Validation</a:t>
            </a: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». Он исключает возможность инъекции даже в тех случаях, когда подготовленные выражения неприменимы (например, для динамических ORDER BY).</a:t>
            </a:r>
          </a:p>
          <a:p>
            <a:pPr marL="0" indent="0" algn="just">
              <a:buNone/>
            </a:pPr>
            <a:endParaRPr lang="ru-RU" sz="2000" dirty="0">
              <a:effectLst>
                <a:glow rad="127000">
                  <a:schemeClr val="bg1"/>
                </a:glow>
              </a:effectLst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EB86D37-76B1-4AC5-BAC1-92C9D66652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4587" y="1476343"/>
            <a:ext cx="5474429" cy="5079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15740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D27514FA-1577-470D-BA04-A552C7B20D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63"/>
            <a:ext cx="10515600" cy="1084534"/>
          </a:xfrm>
        </p:spPr>
        <p:txBody>
          <a:bodyPr anchor="t">
            <a:normAutofit/>
          </a:bodyPr>
          <a:lstStyle/>
          <a:p>
            <a:pPr algn="ctr"/>
            <a:r>
              <a:rPr lang="ru-RU" dirty="0">
                <a:effectLst>
                  <a:glow rad="254000">
                    <a:schemeClr val="bg1"/>
                  </a:glow>
                </a:effectLst>
              </a:rPr>
              <a:t>Статический анализ – </a:t>
            </a:r>
            <a:r>
              <a:rPr lang="en-US" dirty="0">
                <a:effectLst>
                  <a:glow rad="254000">
                    <a:schemeClr val="bg1"/>
                  </a:glow>
                </a:effectLst>
              </a:rPr>
              <a:t>SonarQube</a:t>
            </a:r>
            <a:endParaRPr lang="ru-RU" dirty="0">
              <a:effectLst>
                <a:glow rad="444500">
                  <a:schemeClr val="bg1"/>
                </a:glow>
              </a:effectLst>
            </a:endParaRPr>
          </a:p>
        </p:txBody>
      </p:sp>
      <p:sp>
        <p:nvSpPr>
          <p:cNvPr id="6" name="Номер слайда 3">
            <a:extLst>
              <a:ext uri="{FF2B5EF4-FFF2-40B4-BE49-F238E27FC236}">
                <a16:creationId xmlns:a16="http://schemas.microsoft.com/office/drawing/2014/main" id="{5437F25C-FC0D-4920-8536-14C019140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66035" y="22303"/>
            <a:ext cx="525965" cy="365125"/>
          </a:xfrm>
        </p:spPr>
        <p:txBody>
          <a:bodyPr/>
          <a:lstStyle/>
          <a:p>
            <a:pPr algn="ctr"/>
            <a:fld id="{BC8D7C3A-2EA1-48AA-A2BC-256FB9E135B5}" type="slidenum">
              <a:rPr lang="ru-RU" sz="2400" smtClean="0">
                <a:solidFill>
                  <a:schemeClr val="tx1"/>
                </a:solidFill>
                <a:effectLst>
                  <a:glow rad="444500">
                    <a:schemeClr val="bg1"/>
                  </a:glow>
                </a:effectLst>
              </a:rPr>
              <a:pPr algn="ctr"/>
              <a:t>15</a:t>
            </a:fld>
            <a:endParaRPr lang="ru-RU" sz="2400" dirty="0">
              <a:solidFill>
                <a:schemeClr val="tx1"/>
              </a:solidFill>
              <a:effectLst>
                <a:glow rad="444500">
                  <a:schemeClr val="bg1"/>
                </a:glow>
              </a:effectLst>
            </a:endParaRP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826C498A-7B31-419A-A0C8-0BBD021382C3}"/>
              </a:ext>
            </a:extLst>
          </p:cNvPr>
          <p:cNvSpPr txBox="1">
            <a:spLocks/>
          </p:cNvSpPr>
          <p:nvPr/>
        </p:nvSpPr>
        <p:spPr>
          <a:xfrm>
            <a:off x="5900542" y="1375982"/>
            <a:ext cx="6028475" cy="5079440"/>
          </a:xfrm>
          <a:prstGeom prst="rect">
            <a:avLst/>
          </a:prstGeom>
          <a:blipFill dpi="0" rotWithShape="1">
            <a:blip r:embed="rId2">
              <a:alphaModFix amt="28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0" sx="100000" sy="100000" flip="none" algn="tl"/>
          </a:blipFill>
          <a:ln w="28575">
            <a:solidFill>
              <a:schemeClr val="tx1">
                <a:alpha val="45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ᐅ Инструменты статического анализа, такие как </a:t>
            </a:r>
            <a:r>
              <a:rPr lang="ru-RU" sz="2000" dirty="0" err="1">
                <a:effectLst>
                  <a:glow rad="127000">
                    <a:schemeClr val="bg1"/>
                  </a:glow>
                </a:effectLst>
              </a:rPr>
              <a:t>SonarQube</a:t>
            </a: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, выявляют потенциальные SQL-инъекции путём отслеживания потока данных от источника ввода до места использования в запросе без </a:t>
            </a:r>
            <a:r>
              <a:rPr lang="ru-RU" sz="2000" dirty="0" err="1">
                <a:effectLst>
                  <a:glow rad="127000">
                    <a:schemeClr val="bg1"/>
                  </a:glow>
                </a:effectLst>
              </a:rPr>
              <a:t>санитизации</a:t>
            </a: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. Правило срабатывает, когда удаётся проследить путь от пользовательского ввода к SQL-вызову.</a:t>
            </a:r>
          </a:p>
          <a:p>
            <a:pPr marL="0" indent="0" algn="just">
              <a:buNone/>
            </a:pP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ᐅ В сравнительном исследовании на выборке из 62 образцов </a:t>
            </a:r>
            <a:r>
              <a:rPr lang="ru-RU" sz="2000" dirty="0" err="1">
                <a:effectLst>
                  <a:glow rad="127000">
                    <a:schemeClr val="bg1"/>
                  </a:glow>
                </a:effectLst>
              </a:rPr>
              <a:t>SonarQube</a:t>
            </a: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 показал </a:t>
            </a:r>
            <a:r>
              <a:rPr lang="ru-RU" sz="2000" dirty="0" err="1">
                <a:effectLst>
                  <a:glow rad="127000">
                    <a:schemeClr val="bg1"/>
                  </a:glow>
                </a:effectLst>
              </a:rPr>
              <a:t>обнаруживаемость</a:t>
            </a: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 71,0% SQL-инъекций, что превышает показатель </a:t>
            </a:r>
            <a:r>
              <a:rPr lang="ru-RU" sz="2000" dirty="0" err="1">
                <a:effectLst>
                  <a:glow rad="127000">
                    <a:schemeClr val="bg1"/>
                  </a:glow>
                </a:effectLst>
              </a:rPr>
              <a:t>SpotBugs</a:t>
            </a: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 (66,1%). Внедрение статического анализа в CI/CD-</a:t>
            </a:r>
            <a:r>
              <a:rPr lang="ru-RU" sz="2000" dirty="0" err="1">
                <a:effectLst>
                  <a:glow rad="127000">
                    <a:schemeClr val="bg1"/>
                  </a:glow>
                </a:effectLst>
              </a:rPr>
              <a:t>пайплайн</a:t>
            </a: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 позволяет выявлять уязвимости на этапе разработки до попадания в продуктивную среду.</a:t>
            </a:r>
            <a:endParaRPr lang="ru-RU" dirty="0">
              <a:effectLst>
                <a:glow rad="127000">
                  <a:schemeClr val="bg1"/>
                </a:glow>
              </a:effectLst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523FC0A-C9FD-4596-82A4-CD93BB01CC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983" y="1267097"/>
            <a:ext cx="5369857" cy="5408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46361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D27514FA-1577-470D-BA04-A552C7B20D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63"/>
            <a:ext cx="10515600" cy="1084534"/>
          </a:xfrm>
        </p:spPr>
        <p:txBody>
          <a:bodyPr anchor="t">
            <a:normAutofit/>
          </a:bodyPr>
          <a:lstStyle/>
          <a:p>
            <a:pPr algn="ctr"/>
            <a:r>
              <a:rPr lang="ru-RU" dirty="0">
                <a:effectLst>
                  <a:glow rad="254000">
                    <a:schemeClr val="bg1"/>
                  </a:glow>
                </a:effectLst>
              </a:rPr>
              <a:t>Динамическое тестирование – </a:t>
            </a:r>
            <a:r>
              <a:rPr lang="en-US" dirty="0" err="1">
                <a:effectLst>
                  <a:glow rad="254000">
                    <a:schemeClr val="bg1"/>
                  </a:glow>
                </a:effectLst>
              </a:rPr>
              <a:t>sqlmap</a:t>
            </a:r>
            <a:endParaRPr lang="ru-RU" dirty="0">
              <a:effectLst>
                <a:glow rad="444500">
                  <a:schemeClr val="bg1"/>
                </a:glow>
              </a:effectLst>
            </a:endParaRPr>
          </a:p>
        </p:txBody>
      </p:sp>
      <p:sp>
        <p:nvSpPr>
          <p:cNvPr id="6" name="Номер слайда 3">
            <a:extLst>
              <a:ext uri="{FF2B5EF4-FFF2-40B4-BE49-F238E27FC236}">
                <a16:creationId xmlns:a16="http://schemas.microsoft.com/office/drawing/2014/main" id="{5437F25C-FC0D-4920-8536-14C019140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66035" y="22303"/>
            <a:ext cx="525965" cy="365125"/>
          </a:xfrm>
        </p:spPr>
        <p:txBody>
          <a:bodyPr/>
          <a:lstStyle/>
          <a:p>
            <a:pPr algn="ctr"/>
            <a:fld id="{BC8D7C3A-2EA1-48AA-A2BC-256FB9E135B5}" type="slidenum">
              <a:rPr lang="ru-RU" sz="2400" smtClean="0">
                <a:solidFill>
                  <a:schemeClr val="tx1"/>
                </a:solidFill>
                <a:effectLst>
                  <a:glow rad="444500">
                    <a:schemeClr val="bg1"/>
                  </a:glow>
                </a:effectLst>
              </a:rPr>
              <a:pPr algn="ctr"/>
              <a:t>16</a:t>
            </a:fld>
            <a:endParaRPr lang="ru-RU" sz="2400" dirty="0">
              <a:solidFill>
                <a:schemeClr val="tx1"/>
              </a:solidFill>
              <a:effectLst>
                <a:glow rad="444500">
                  <a:schemeClr val="bg1"/>
                </a:glow>
              </a:effectLst>
            </a:endParaRP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826C498A-7B31-419A-A0C8-0BBD021382C3}"/>
              </a:ext>
            </a:extLst>
          </p:cNvPr>
          <p:cNvSpPr txBox="1">
            <a:spLocks/>
          </p:cNvSpPr>
          <p:nvPr/>
        </p:nvSpPr>
        <p:spPr>
          <a:xfrm>
            <a:off x="297897" y="1476343"/>
            <a:ext cx="6028475" cy="5079440"/>
          </a:xfrm>
          <a:prstGeom prst="rect">
            <a:avLst/>
          </a:prstGeom>
          <a:blipFill dpi="0" rotWithShape="1">
            <a:blip r:embed="rId2">
              <a:alphaModFix amt="28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0" sx="100000" sy="100000" flip="none" algn="tl"/>
          </a:blipFill>
          <a:ln w="28575">
            <a:solidFill>
              <a:schemeClr val="tx1">
                <a:alpha val="45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ᐅ </a:t>
            </a:r>
            <a:r>
              <a:rPr lang="ru-RU" sz="2000" dirty="0" err="1">
                <a:effectLst>
                  <a:glow rad="127000">
                    <a:schemeClr val="bg1"/>
                  </a:glow>
                </a:effectLst>
              </a:rPr>
              <a:t>sqlmap</a:t>
            </a: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 – автоматизированный инструмент для обнаружения и эксплуатации SQL-инъекций, написанный на Python. Установка производится через </a:t>
            </a:r>
            <a:r>
              <a:rPr lang="ru-RU" sz="2000" dirty="0" err="1">
                <a:effectLst>
                  <a:glow rad="127000">
                    <a:schemeClr val="bg1"/>
                  </a:glow>
                </a:effectLst>
              </a:rPr>
              <a:t>pip</a:t>
            </a: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, запуск требует передачи параметров --</a:t>
            </a:r>
            <a:r>
              <a:rPr lang="ru-RU" sz="2000" dirty="0" err="1">
                <a:effectLst>
                  <a:glow rad="127000">
                    <a:schemeClr val="bg1"/>
                  </a:glow>
                </a:effectLst>
              </a:rPr>
              <a:t>cookie</a:t>
            </a: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 для аутентификации и флагов --</a:t>
            </a:r>
            <a:r>
              <a:rPr lang="ru-RU" sz="2000" dirty="0" err="1">
                <a:effectLst>
                  <a:glow rad="127000">
                    <a:schemeClr val="bg1"/>
                  </a:glow>
                </a:effectLst>
              </a:rPr>
              <a:t>dbs</a:t>
            </a: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, --</a:t>
            </a:r>
            <a:r>
              <a:rPr lang="ru-RU" sz="2000" dirty="0" err="1">
                <a:effectLst>
                  <a:glow rad="127000">
                    <a:schemeClr val="bg1"/>
                  </a:glow>
                </a:effectLst>
              </a:rPr>
              <a:t>tables</a:t>
            </a: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, --</a:t>
            </a:r>
            <a:r>
              <a:rPr lang="ru-RU" sz="2000" dirty="0" err="1">
                <a:effectLst>
                  <a:glow rad="127000">
                    <a:schemeClr val="bg1"/>
                  </a:glow>
                </a:effectLst>
              </a:rPr>
              <a:t>dump</a:t>
            </a: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 для извлечения структуры и данных.</a:t>
            </a:r>
          </a:p>
          <a:p>
            <a:pPr marL="0" indent="0" algn="just">
              <a:buNone/>
            </a:pP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ᐅ В рамках бенчмарка </a:t>
            </a:r>
            <a:r>
              <a:rPr lang="ru-RU" sz="2000" dirty="0" err="1">
                <a:effectLst>
                  <a:glow rad="127000">
                    <a:schemeClr val="bg1"/>
                  </a:glow>
                </a:effectLst>
              </a:rPr>
              <a:t>sqlmap</a:t>
            </a: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 успешно обнаружил 27 целей базовой сложности и 4 цели продвинутой сложности. Демонстрация дампа таблицы </a:t>
            </a:r>
            <a:r>
              <a:rPr lang="ru-RU" sz="2000" dirty="0" err="1">
                <a:effectLst>
                  <a:glow rad="127000">
                    <a:schemeClr val="bg1"/>
                  </a:glow>
                </a:effectLst>
              </a:rPr>
              <a:t>users</a:t>
            </a: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 показывает, что даже </a:t>
            </a:r>
            <a:r>
              <a:rPr lang="ru-RU" sz="2000" dirty="0" err="1">
                <a:effectLst>
                  <a:glow rad="127000">
                    <a:schemeClr val="bg1"/>
                  </a:glow>
                </a:effectLst>
              </a:rPr>
              <a:t>хеши</a:t>
            </a: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 паролей (например, MD5) могут быть извлечены, что подчёркивает серьёзность последствий. Использование </a:t>
            </a:r>
            <a:r>
              <a:rPr lang="ru-RU" sz="2000" dirty="0" err="1">
                <a:effectLst>
                  <a:glow rad="127000">
                    <a:schemeClr val="bg1"/>
                  </a:glow>
                </a:effectLst>
              </a:rPr>
              <a:t>sqlmap</a:t>
            </a: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 допустимо только при наличии законного разрешения на тестирование.</a:t>
            </a:r>
            <a:endParaRPr lang="ru-RU" dirty="0">
              <a:effectLst>
                <a:glow rad="127000">
                  <a:schemeClr val="bg1"/>
                </a:glow>
              </a:effectLst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DF6A03C-67F0-403A-A7BF-0C521DA9D2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1481" y="1476343"/>
            <a:ext cx="5447535" cy="5079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42100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D27514FA-1577-470D-BA04-A552C7B20D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63"/>
            <a:ext cx="10515600" cy="1084534"/>
          </a:xfrm>
        </p:spPr>
        <p:txBody>
          <a:bodyPr anchor="t">
            <a:normAutofit/>
          </a:bodyPr>
          <a:lstStyle/>
          <a:p>
            <a:pPr algn="ctr"/>
            <a:r>
              <a:rPr lang="ru-RU" dirty="0">
                <a:effectLst>
                  <a:glow rad="254000">
                    <a:schemeClr val="bg1"/>
                  </a:glow>
                </a:effectLst>
              </a:rPr>
              <a:t>Перехват трафика – </a:t>
            </a:r>
            <a:r>
              <a:rPr lang="en-US" dirty="0">
                <a:effectLst>
                  <a:glow rad="254000">
                    <a:schemeClr val="bg1"/>
                  </a:glow>
                </a:effectLst>
              </a:rPr>
              <a:t>Burp Proxy</a:t>
            </a:r>
            <a:endParaRPr lang="ru-RU" dirty="0">
              <a:effectLst>
                <a:glow rad="444500">
                  <a:schemeClr val="bg1"/>
                </a:glow>
              </a:effectLst>
            </a:endParaRPr>
          </a:p>
        </p:txBody>
      </p:sp>
      <p:sp>
        <p:nvSpPr>
          <p:cNvPr id="6" name="Номер слайда 3">
            <a:extLst>
              <a:ext uri="{FF2B5EF4-FFF2-40B4-BE49-F238E27FC236}">
                <a16:creationId xmlns:a16="http://schemas.microsoft.com/office/drawing/2014/main" id="{5437F25C-FC0D-4920-8536-14C019140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66035" y="22303"/>
            <a:ext cx="525965" cy="365125"/>
          </a:xfrm>
        </p:spPr>
        <p:txBody>
          <a:bodyPr/>
          <a:lstStyle/>
          <a:p>
            <a:pPr algn="ctr"/>
            <a:fld id="{BC8D7C3A-2EA1-48AA-A2BC-256FB9E135B5}" type="slidenum">
              <a:rPr lang="ru-RU" sz="2400" smtClean="0">
                <a:solidFill>
                  <a:schemeClr val="tx1"/>
                </a:solidFill>
                <a:effectLst>
                  <a:glow rad="444500">
                    <a:schemeClr val="bg1"/>
                  </a:glow>
                </a:effectLst>
              </a:rPr>
              <a:pPr algn="ctr"/>
              <a:t>17</a:t>
            </a:fld>
            <a:endParaRPr lang="ru-RU" sz="2400" dirty="0">
              <a:solidFill>
                <a:schemeClr val="tx1"/>
              </a:solidFill>
              <a:effectLst>
                <a:glow rad="444500">
                  <a:schemeClr val="bg1"/>
                </a:glow>
              </a:effectLst>
            </a:endParaRP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826C498A-7B31-419A-A0C8-0BBD021382C3}"/>
              </a:ext>
            </a:extLst>
          </p:cNvPr>
          <p:cNvSpPr txBox="1">
            <a:spLocks/>
          </p:cNvSpPr>
          <p:nvPr/>
        </p:nvSpPr>
        <p:spPr>
          <a:xfrm>
            <a:off x="5900542" y="1375982"/>
            <a:ext cx="6028475" cy="5079440"/>
          </a:xfrm>
          <a:prstGeom prst="rect">
            <a:avLst/>
          </a:prstGeom>
          <a:blipFill dpi="0" rotWithShape="1">
            <a:blip r:embed="rId2">
              <a:alphaModFix amt="28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0" sx="100000" sy="100000" flip="none" algn="tl"/>
          </a:blipFill>
          <a:ln w="28575">
            <a:solidFill>
              <a:schemeClr val="tx1">
                <a:alpha val="45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ᐅ </a:t>
            </a:r>
            <a:r>
              <a:rPr lang="ru-RU" sz="2000" dirty="0" err="1">
                <a:effectLst>
                  <a:glow rad="127000">
                    <a:schemeClr val="bg1"/>
                  </a:glow>
                </a:effectLst>
              </a:rPr>
              <a:t>Burp</a:t>
            </a: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 Suite </a:t>
            </a:r>
            <a:r>
              <a:rPr lang="ru-RU" sz="2000" dirty="0" err="1">
                <a:effectLst>
                  <a:glow rad="127000">
                    <a:schemeClr val="bg1"/>
                  </a:glow>
                </a:effectLst>
              </a:rPr>
              <a:t>Proxy</a:t>
            </a: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 является базовым инструментом для ручного тестирования веб-безопасности. Он позволяет перехватывать HTTP-трафик между браузером и сервером, просматривать сырые запросы (метод, заголовки, тело) и модифицировать их перед отправкой.</a:t>
            </a:r>
          </a:p>
          <a:p>
            <a:pPr marL="0" indent="0" algn="just">
              <a:buNone/>
            </a:pP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ᐅ Базовый рабочий процесс: включение режима </a:t>
            </a:r>
            <a:r>
              <a:rPr lang="ru-RU" sz="2000" dirty="0" err="1">
                <a:effectLst>
                  <a:glow rad="127000">
                    <a:schemeClr val="bg1"/>
                  </a:glow>
                </a:effectLst>
              </a:rPr>
              <a:t>Intercept</a:t>
            </a: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, отправка запроса из браузера, анализ перехваченного запроса, нажатие </a:t>
            </a:r>
            <a:r>
              <a:rPr lang="ru-RU" sz="2000" dirty="0" err="1">
                <a:effectLst>
                  <a:glow rad="127000">
                    <a:schemeClr val="bg1"/>
                  </a:glow>
                </a:effectLst>
              </a:rPr>
              <a:t>Forward</a:t>
            </a: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 для продолжения. Этот механизм даёт возможность вручную подставлять полезные нагрузки в любые параметры (включая заголовки и </a:t>
            </a:r>
            <a:r>
              <a:rPr lang="ru-RU" sz="2000" dirty="0" err="1">
                <a:effectLst>
                  <a:glow rad="127000">
                    <a:schemeClr val="bg1"/>
                  </a:glow>
                </a:effectLst>
              </a:rPr>
              <a:t>cookie</a:t>
            </a: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) и анализировать ответы сервера, что критически важно для поиска сложных инъекций.</a:t>
            </a:r>
            <a:endParaRPr lang="ru-RU" dirty="0">
              <a:effectLst>
                <a:glow rad="127000">
                  <a:schemeClr val="bg1"/>
                </a:glow>
              </a:effectLst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5A375C6-985E-4A17-A934-7EDB0E9CFF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983" y="1273355"/>
            <a:ext cx="5392626" cy="5284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66841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D27514FA-1577-470D-BA04-A552C7B20D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63"/>
            <a:ext cx="10515600" cy="1084534"/>
          </a:xfrm>
        </p:spPr>
        <p:txBody>
          <a:bodyPr anchor="t">
            <a:normAutofit/>
          </a:bodyPr>
          <a:lstStyle/>
          <a:p>
            <a:pPr algn="ctr"/>
            <a:r>
              <a:rPr lang="ru-RU" dirty="0">
                <a:effectLst>
                  <a:glow rad="254000">
                    <a:schemeClr val="bg1"/>
                  </a:glow>
                </a:effectLst>
              </a:rPr>
              <a:t>Разоблачение суеверий – мифы о защите</a:t>
            </a:r>
            <a:endParaRPr lang="ru-RU" dirty="0">
              <a:effectLst>
                <a:glow rad="444500">
                  <a:schemeClr val="bg1"/>
                </a:glow>
              </a:effectLst>
            </a:endParaRPr>
          </a:p>
        </p:txBody>
      </p:sp>
      <p:sp>
        <p:nvSpPr>
          <p:cNvPr id="6" name="Номер слайда 3">
            <a:extLst>
              <a:ext uri="{FF2B5EF4-FFF2-40B4-BE49-F238E27FC236}">
                <a16:creationId xmlns:a16="http://schemas.microsoft.com/office/drawing/2014/main" id="{5437F25C-FC0D-4920-8536-14C019140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66035" y="22303"/>
            <a:ext cx="525965" cy="365125"/>
          </a:xfrm>
        </p:spPr>
        <p:txBody>
          <a:bodyPr/>
          <a:lstStyle/>
          <a:p>
            <a:pPr algn="ctr"/>
            <a:fld id="{BC8D7C3A-2EA1-48AA-A2BC-256FB9E135B5}" type="slidenum">
              <a:rPr lang="ru-RU" sz="2400" smtClean="0">
                <a:solidFill>
                  <a:schemeClr val="tx1"/>
                </a:solidFill>
                <a:effectLst>
                  <a:glow rad="444500">
                    <a:schemeClr val="bg1"/>
                  </a:glow>
                </a:effectLst>
              </a:rPr>
              <a:pPr algn="ctr"/>
              <a:t>18</a:t>
            </a:fld>
            <a:endParaRPr lang="ru-RU" sz="2400" dirty="0">
              <a:solidFill>
                <a:schemeClr val="tx1"/>
              </a:solidFill>
              <a:effectLst>
                <a:glow rad="444500">
                  <a:schemeClr val="bg1"/>
                </a:glow>
              </a:effectLst>
            </a:endParaRP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826C498A-7B31-419A-A0C8-0BBD021382C3}"/>
              </a:ext>
            </a:extLst>
          </p:cNvPr>
          <p:cNvSpPr txBox="1">
            <a:spLocks/>
          </p:cNvSpPr>
          <p:nvPr/>
        </p:nvSpPr>
        <p:spPr>
          <a:xfrm>
            <a:off x="297897" y="1476343"/>
            <a:ext cx="6028475" cy="5079440"/>
          </a:xfrm>
          <a:prstGeom prst="rect">
            <a:avLst/>
          </a:prstGeom>
          <a:blipFill dpi="0" rotWithShape="1">
            <a:blip r:embed="rId2">
              <a:alphaModFix amt="28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0" sx="100000" sy="100000" flip="none" algn="tl"/>
          </a:blipFill>
          <a:ln w="28575">
            <a:solidFill>
              <a:schemeClr val="tx1">
                <a:alpha val="45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ᐅ Распространённые заблуждения:</a:t>
            </a:r>
          </a:p>
          <a:p>
            <a:pPr marL="0" indent="0" algn="just">
              <a:buNone/>
            </a:pP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-- проверка на «опасные» слова (UNION, SELECT) бессмысленна, так как блокирует легитимные данные и легко обходится;</a:t>
            </a:r>
          </a:p>
          <a:p>
            <a:pPr marL="0" indent="0" algn="just">
              <a:buNone/>
            </a:pP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-- </a:t>
            </a:r>
            <a:r>
              <a:rPr lang="ru-RU" sz="2000" dirty="0" err="1">
                <a:effectLst>
                  <a:glow rad="127000">
                    <a:schemeClr val="bg1"/>
                  </a:glow>
                </a:effectLst>
              </a:rPr>
              <a:t>magic_quotes_gpc</a:t>
            </a: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 была официально удалена из PHP 5.4 как неэффективный и вредный механизм, создающий ложное чувство безопасности;</a:t>
            </a:r>
          </a:p>
          <a:p>
            <a:pPr marL="0" indent="0" algn="just">
              <a:buNone/>
            </a:pP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-- универсальная фильтрация всех входных данных приводит к двойному экранированию и порче данных в других контекстах (HTML, JSON);</a:t>
            </a:r>
          </a:p>
          <a:p>
            <a:pPr marL="0" indent="0" algn="just">
              <a:buNone/>
            </a:pP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-- экранирование не является защитой, а лишь форматированием строк.</a:t>
            </a:r>
          </a:p>
          <a:p>
            <a:pPr marL="0" indent="0" algn="just">
              <a:buNone/>
            </a:pP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ᐅ Опровержение этих мифов опирается на официальную документацию PHP и рекомендации OWASP.</a:t>
            </a:r>
            <a:endParaRPr lang="ru-RU" dirty="0">
              <a:effectLst>
                <a:glow rad="127000">
                  <a:schemeClr val="bg1"/>
                </a:glow>
              </a:effectLst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19CAC3A-1984-4D2C-AF8B-60747494B4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8376" y="1476343"/>
            <a:ext cx="5544670" cy="5079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41657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D27514FA-1577-470D-BA04-A552C7B20D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63"/>
            <a:ext cx="10515600" cy="1084534"/>
          </a:xfrm>
        </p:spPr>
        <p:txBody>
          <a:bodyPr anchor="t">
            <a:normAutofit/>
          </a:bodyPr>
          <a:lstStyle/>
          <a:p>
            <a:pPr algn="ctr"/>
            <a:r>
              <a:rPr lang="ru-RU" dirty="0">
                <a:effectLst>
                  <a:glow rad="254000">
                    <a:schemeClr val="bg1"/>
                  </a:glow>
                </a:effectLst>
              </a:rPr>
              <a:t>Проблемы кодировки – </a:t>
            </a:r>
            <a:r>
              <a:rPr lang="en-US" dirty="0">
                <a:effectLst>
                  <a:glow rad="254000">
                    <a:schemeClr val="bg1"/>
                  </a:glow>
                </a:effectLst>
              </a:rPr>
              <a:t>GBK-</a:t>
            </a:r>
            <a:r>
              <a:rPr lang="ru-RU" dirty="0">
                <a:effectLst>
                  <a:glow rad="254000">
                    <a:schemeClr val="bg1"/>
                  </a:glow>
                </a:effectLst>
              </a:rPr>
              <a:t>инъекция</a:t>
            </a:r>
            <a:endParaRPr lang="ru-RU" dirty="0">
              <a:effectLst>
                <a:glow rad="444500">
                  <a:schemeClr val="bg1"/>
                </a:glow>
              </a:effectLst>
            </a:endParaRPr>
          </a:p>
        </p:txBody>
      </p:sp>
      <p:sp>
        <p:nvSpPr>
          <p:cNvPr id="6" name="Номер слайда 3">
            <a:extLst>
              <a:ext uri="{FF2B5EF4-FFF2-40B4-BE49-F238E27FC236}">
                <a16:creationId xmlns:a16="http://schemas.microsoft.com/office/drawing/2014/main" id="{5437F25C-FC0D-4920-8536-14C019140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66035" y="22303"/>
            <a:ext cx="525965" cy="365125"/>
          </a:xfrm>
        </p:spPr>
        <p:txBody>
          <a:bodyPr/>
          <a:lstStyle/>
          <a:p>
            <a:pPr algn="ctr"/>
            <a:fld id="{BC8D7C3A-2EA1-48AA-A2BC-256FB9E135B5}" type="slidenum">
              <a:rPr lang="ru-RU" sz="2400" smtClean="0">
                <a:solidFill>
                  <a:schemeClr val="tx1"/>
                </a:solidFill>
                <a:effectLst>
                  <a:glow rad="444500">
                    <a:schemeClr val="bg1"/>
                  </a:glow>
                </a:effectLst>
              </a:rPr>
              <a:pPr algn="ctr"/>
              <a:t>19</a:t>
            </a:fld>
            <a:endParaRPr lang="ru-RU" sz="2400" dirty="0">
              <a:solidFill>
                <a:schemeClr val="tx1"/>
              </a:solidFill>
              <a:effectLst>
                <a:glow rad="444500">
                  <a:schemeClr val="bg1"/>
                </a:glow>
              </a:effectLst>
            </a:endParaRP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826C498A-7B31-419A-A0C8-0BBD021382C3}"/>
              </a:ext>
            </a:extLst>
          </p:cNvPr>
          <p:cNvSpPr txBox="1">
            <a:spLocks/>
          </p:cNvSpPr>
          <p:nvPr/>
        </p:nvSpPr>
        <p:spPr>
          <a:xfrm>
            <a:off x="7194176" y="1375982"/>
            <a:ext cx="4734841" cy="5079440"/>
          </a:xfrm>
          <a:prstGeom prst="rect">
            <a:avLst/>
          </a:prstGeom>
          <a:blipFill dpi="0" rotWithShape="1">
            <a:blip r:embed="rId2">
              <a:alphaModFix amt="28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0" sx="100000" sy="100000" flip="none" algn="tl"/>
          </a:blipFill>
          <a:ln w="28575">
            <a:solidFill>
              <a:schemeClr val="tx1">
                <a:alpha val="45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ᐅ Атака через </a:t>
            </a:r>
            <a:r>
              <a:rPr lang="ru-RU" sz="2000" dirty="0" err="1">
                <a:effectLst>
                  <a:glow rad="127000">
                    <a:schemeClr val="bg1"/>
                  </a:glow>
                </a:effectLst>
              </a:rPr>
              <a:t>многобайтовую</a:t>
            </a: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 кодировку GBK возможна, если для соединения используется SET NAMES </a:t>
            </a:r>
            <a:r>
              <a:rPr lang="ru-RU" sz="2000" dirty="0" err="1">
                <a:effectLst>
                  <a:glow rad="127000">
                    <a:schemeClr val="bg1"/>
                  </a:glow>
                </a:effectLst>
              </a:rPr>
              <a:t>gbk</a:t>
            </a: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 вместо </a:t>
            </a:r>
            <a:r>
              <a:rPr lang="ru-RU" sz="2000" dirty="0" err="1">
                <a:effectLst>
                  <a:glow rad="127000">
                    <a:schemeClr val="bg1"/>
                  </a:glow>
                </a:effectLst>
              </a:rPr>
              <a:t>mysql_set_charset</a:t>
            </a: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(). При этом последовательность \</a:t>
            </a:r>
            <a:r>
              <a:rPr lang="ru-RU" sz="2000" dirty="0" err="1">
                <a:effectLst>
                  <a:glow rad="127000">
                    <a:schemeClr val="bg1"/>
                  </a:glow>
                </a:effectLst>
              </a:rPr>
              <a:t>xbf</a:t>
            </a: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\x27 после экранирования превращается в \</a:t>
            </a:r>
            <a:r>
              <a:rPr lang="ru-RU" sz="2000" dirty="0" err="1">
                <a:effectLst>
                  <a:glow rad="127000">
                    <a:schemeClr val="bg1"/>
                  </a:glow>
                </a:effectLst>
              </a:rPr>
              <a:t>xbf</a:t>
            </a: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\x5c\x27, где \</a:t>
            </a:r>
            <a:r>
              <a:rPr lang="ru-RU" sz="2000" dirty="0" err="1">
                <a:effectLst>
                  <a:glow rad="127000">
                    <a:schemeClr val="bg1"/>
                  </a:glow>
                </a:effectLst>
              </a:rPr>
              <a:t>xbf</a:t>
            </a: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\x5c интерпретируется как один иероглиф, а кавычка остаётся неэкранированной.</a:t>
            </a:r>
          </a:p>
          <a:p>
            <a:pPr marL="0" indent="0" algn="just">
              <a:buNone/>
            </a:pP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ᐅ Корректное решение – использовать функцию </a:t>
            </a:r>
            <a:r>
              <a:rPr lang="ru-RU" sz="2000" dirty="0" err="1">
                <a:effectLst>
                  <a:glow rad="127000">
                    <a:schemeClr val="bg1"/>
                  </a:glow>
                </a:effectLst>
              </a:rPr>
              <a:t>mysql_set_charset</a:t>
            </a: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('</a:t>
            </a:r>
            <a:r>
              <a:rPr lang="ru-RU" sz="2000" dirty="0" err="1">
                <a:effectLst>
                  <a:glow rad="127000">
                    <a:schemeClr val="bg1"/>
                  </a:glow>
                </a:effectLst>
              </a:rPr>
              <a:t>gbk</a:t>
            </a: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', $</a:t>
            </a:r>
            <a:r>
              <a:rPr lang="ru-RU" sz="2000" dirty="0" err="1">
                <a:effectLst>
                  <a:glow rad="127000">
                    <a:schemeClr val="bg1"/>
                  </a:glow>
                </a:effectLst>
              </a:rPr>
              <a:t>connection</a:t>
            </a: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) или аналогичный параметр в DSN для PDO. Это гарантирует, что драйвер правильно учитывает кодировку при экранировании. Данная проблема особенно актуальна для версий MySQL ниже 5.5.37.</a:t>
            </a:r>
            <a:endParaRPr lang="ru-RU" dirty="0">
              <a:effectLst>
                <a:glow rad="127000">
                  <a:schemeClr val="bg1"/>
                </a:glow>
              </a:effectLst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9694DBF-4C26-4746-86BE-DF3DC34202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983" y="1375982"/>
            <a:ext cx="6689146" cy="5079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21260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D27514FA-1577-470D-BA04-A552C7B20D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63"/>
            <a:ext cx="10515600" cy="1084534"/>
          </a:xfrm>
        </p:spPr>
        <p:txBody>
          <a:bodyPr anchor="t">
            <a:normAutofit fontScale="90000"/>
          </a:bodyPr>
          <a:lstStyle/>
          <a:p>
            <a:pPr algn="ctr"/>
            <a:r>
              <a:rPr lang="ru-RU" dirty="0">
                <a:effectLst>
                  <a:glow rad="254000">
                    <a:schemeClr val="bg1"/>
                  </a:glow>
                </a:effectLst>
              </a:rPr>
              <a:t>Выводы – часть 1: Ключевые результаты анализ</a:t>
            </a:r>
            <a:endParaRPr lang="ru-RU" dirty="0">
              <a:effectLst>
                <a:glow rad="444500">
                  <a:schemeClr val="bg1"/>
                </a:glow>
              </a:effectLst>
            </a:endParaRPr>
          </a:p>
        </p:txBody>
      </p:sp>
      <p:sp>
        <p:nvSpPr>
          <p:cNvPr id="6" name="Номер слайда 3">
            <a:extLst>
              <a:ext uri="{FF2B5EF4-FFF2-40B4-BE49-F238E27FC236}">
                <a16:creationId xmlns:a16="http://schemas.microsoft.com/office/drawing/2014/main" id="{5437F25C-FC0D-4920-8536-14C019140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66035" y="22303"/>
            <a:ext cx="525965" cy="365125"/>
          </a:xfrm>
        </p:spPr>
        <p:txBody>
          <a:bodyPr/>
          <a:lstStyle/>
          <a:p>
            <a:pPr algn="ctr"/>
            <a:fld id="{BC8D7C3A-2EA1-48AA-A2BC-256FB9E135B5}" type="slidenum">
              <a:rPr lang="ru-RU" sz="2400" smtClean="0">
                <a:solidFill>
                  <a:schemeClr val="tx1"/>
                </a:solidFill>
                <a:effectLst>
                  <a:glow rad="444500">
                    <a:schemeClr val="bg1"/>
                  </a:glow>
                </a:effectLst>
              </a:rPr>
              <a:pPr algn="ctr"/>
              <a:t>20</a:t>
            </a:fld>
            <a:endParaRPr lang="ru-RU" sz="2400" dirty="0">
              <a:solidFill>
                <a:schemeClr val="tx1"/>
              </a:solidFill>
              <a:effectLst>
                <a:glow rad="444500">
                  <a:schemeClr val="bg1"/>
                </a:glow>
              </a:effectLst>
            </a:endParaRP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826C498A-7B31-419A-A0C8-0BBD021382C3}"/>
              </a:ext>
            </a:extLst>
          </p:cNvPr>
          <p:cNvSpPr txBox="1">
            <a:spLocks/>
          </p:cNvSpPr>
          <p:nvPr/>
        </p:nvSpPr>
        <p:spPr>
          <a:xfrm>
            <a:off x="297897" y="1476343"/>
            <a:ext cx="5403656" cy="5079440"/>
          </a:xfrm>
          <a:prstGeom prst="rect">
            <a:avLst/>
          </a:prstGeom>
          <a:blipFill dpi="0" rotWithShape="1">
            <a:blip r:embed="rId2">
              <a:alphaModFix amt="28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0" sx="100000" sy="100000" flip="none" algn="tl"/>
          </a:blipFill>
          <a:ln w="28575">
            <a:solidFill>
              <a:schemeClr val="tx1">
                <a:alpha val="45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ᐅ В ходе исследования установлено, что SQL-инъекции остаются критической уязвимостью, несмотря на многолетнюю известность. Гарантированная защита достигается только комбинацией двух правил: использование </a:t>
            </a:r>
            <a:r>
              <a:rPr lang="ru-RU" sz="2000" dirty="0" err="1">
                <a:effectLst>
                  <a:glow rad="127000">
                    <a:schemeClr val="bg1"/>
                  </a:glow>
                </a:effectLst>
              </a:rPr>
              <a:t>плейсхолдеров</a:t>
            </a: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 для данных и белых списков для идентификаторов и ключевых слов.</a:t>
            </a:r>
          </a:p>
          <a:p>
            <a:pPr marL="0" indent="0" algn="just">
              <a:buNone/>
            </a:pP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ᐅ </a:t>
            </a:r>
            <a:r>
              <a:rPr lang="ru-RU" sz="2000" dirty="0" err="1">
                <a:effectLst>
                  <a:glow rad="127000">
                    <a:schemeClr val="bg1"/>
                  </a:glow>
                </a:effectLst>
              </a:rPr>
              <a:t>Эскейпинг</a:t>
            </a: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 и устаревшие механизмы (</a:t>
            </a:r>
            <a:r>
              <a:rPr lang="ru-RU" sz="2000" dirty="0" err="1">
                <a:effectLst>
                  <a:glow rad="127000">
                    <a:schemeClr val="bg1"/>
                  </a:glow>
                </a:effectLst>
              </a:rPr>
              <a:t>magic_quotes</a:t>
            </a: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) признаны несостоятельными, что подтверждается как историческими фактами (удаление из PHP), так и практическими примерами обхода через </a:t>
            </a:r>
            <a:r>
              <a:rPr lang="ru-RU" sz="2000" dirty="0" err="1">
                <a:effectLst>
                  <a:glow rad="127000">
                    <a:schemeClr val="bg1"/>
                  </a:glow>
                </a:effectLst>
              </a:rPr>
              <a:t>многобайтовые</a:t>
            </a: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 кодировки. Подготовленные выражения имеют ограничения по производительности и функциональности, что требует гибкого подхода при выборе метода защиты</a:t>
            </a:r>
            <a:endParaRPr lang="ru-RU" dirty="0">
              <a:effectLst>
                <a:glow rad="127000">
                  <a:schemeClr val="bg1"/>
                </a:glow>
              </a:effectLst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4B80510-BF71-45D3-AE76-D842E83FB5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2918" y="1476343"/>
            <a:ext cx="6142120" cy="5079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80453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D27514FA-1577-470D-BA04-A552C7B20D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63"/>
            <a:ext cx="10515600" cy="1084534"/>
          </a:xfrm>
        </p:spPr>
        <p:txBody>
          <a:bodyPr anchor="t">
            <a:normAutofit fontScale="90000"/>
          </a:bodyPr>
          <a:lstStyle/>
          <a:p>
            <a:pPr algn="ctr"/>
            <a:r>
              <a:rPr lang="ru-RU" dirty="0">
                <a:effectLst>
                  <a:glow rad="254000">
                    <a:schemeClr val="bg1"/>
                  </a:glow>
                </a:effectLst>
              </a:rPr>
              <a:t>Выводы – часть 2: Количественные оценки и рекомендации</a:t>
            </a:r>
            <a:endParaRPr lang="ru-RU" dirty="0">
              <a:effectLst>
                <a:glow rad="444500">
                  <a:schemeClr val="bg1"/>
                </a:glow>
              </a:effectLst>
            </a:endParaRPr>
          </a:p>
        </p:txBody>
      </p:sp>
      <p:sp>
        <p:nvSpPr>
          <p:cNvPr id="6" name="Номер слайда 3">
            <a:extLst>
              <a:ext uri="{FF2B5EF4-FFF2-40B4-BE49-F238E27FC236}">
                <a16:creationId xmlns:a16="http://schemas.microsoft.com/office/drawing/2014/main" id="{5437F25C-FC0D-4920-8536-14C019140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66035" y="22303"/>
            <a:ext cx="525965" cy="365125"/>
          </a:xfrm>
        </p:spPr>
        <p:txBody>
          <a:bodyPr/>
          <a:lstStyle/>
          <a:p>
            <a:pPr algn="ctr"/>
            <a:fld id="{BC8D7C3A-2EA1-48AA-A2BC-256FB9E135B5}" type="slidenum">
              <a:rPr lang="ru-RU" sz="2400" smtClean="0">
                <a:solidFill>
                  <a:schemeClr val="tx1"/>
                </a:solidFill>
                <a:effectLst>
                  <a:glow rad="444500">
                    <a:schemeClr val="bg1"/>
                  </a:glow>
                </a:effectLst>
              </a:rPr>
              <a:pPr algn="ctr"/>
              <a:t>21</a:t>
            </a:fld>
            <a:endParaRPr lang="ru-RU" sz="2400" dirty="0">
              <a:solidFill>
                <a:schemeClr val="tx1"/>
              </a:solidFill>
              <a:effectLst>
                <a:glow rad="444500">
                  <a:schemeClr val="bg1"/>
                </a:glow>
              </a:effectLst>
            </a:endParaRP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826C498A-7B31-419A-A0C8-0BBD021382C3}"/>
              </a:ext>
            </a:extLst>
          </p:cNvPr>
          <p:cNvSpPr txBox="1">
            <a:spLocks/>
          </p:cNvSpPr>
          <p:nvPr/>
        </p:nvSpPr>
        <p:spPr>
          <a:xfrm>
            <a:off x="5900542" y="1375982"/>
            <a:ext cx="6028475" cy="5079440"/>
          </a:xfrm>
          <a:prstGeom prst="rect">
            <a:avLst/>
          </a:prstGeom>
          <a:blipFill dpi="0" rotWithShape="1">
            <a:blip r:embed="rId2">
              <a:alphaModFix amt="28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0" sx="100000" sy="100000" flip="none" algn="tl"/>
          </a:blipFill>
          <a:ln w="28575">
            <a:solidFill>
              <a:schemeClr val="tx1">
                <a:alpha val="45000"/>
              </a:schemeClr>
            </a:solidFill>
          </a:ln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ᐅ Представлены следующие количественные данные: </a:t>
            </a:r>
            <a:r>
              <a:rPr lang="ru-RU" sz="2000" dirty="0" err="1">
                <a:effectLst>
                  <a:glow rad="127000">
                    <a:schemeClr val="bg1"/>
                  </a:glow>
                </a:effectLst>
              </a:rPr>
              <a:t>SonarQube</a:t>
            </a: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 обнаруживает 71,0% SQL-инъекций (на выборке 62 образцов); </a:t>
            </a:r>
            <a:r>
              <a:rPr lang="ru-RU" sz="2000" dirty="0" err="1">
                <a:effectLst>
                  <a:glow rad="127000">
                    <a:schemeClr val="bg1"/>
                  </a:glow>
                </a:effectLst>
              </a:rPr>
              <a:t>sqlmap</a:t>
            </a: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 успешно эксплуатирует 27 из 31 целевой системы базовой сложности; подготовленные выражения PDO требуют до 1,5 </a:t>
            </a:r>
            <a:r>
              <a:rPr lang="ru-RU" sz="2000" dirty="0" err="1">
                <a:effectLst>
                  <a:glow rad="127000">
                    <a:schemeClr val="bg1"/>
                  </a:glow>
                </a:effectLst>
              </a:rPr>
              <a:t>кБ</a:t>
            </a: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 дополнительной памяти на запрос.</a:t>
            </a:r>
          </a:p>
          <a:p>
            <a:pPr marL="0" indent="0" algn="just">
              <a:buNone/>
            </a:pP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ᐅ Рекомендуется:</a:t>
            </a:r>
          </a:p>
          <a:p>
            <a:pPr marL="0" indent="0" algn="just">
              <a:buNone/>
            </a:pP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-- внедрять статический анализ в CI/CD-</a:t>
            </a:r>
            <a:r>
              <a:rPr lang="ru-RU" sz="2000" dirty="0" err="1">
                <a:effectLst>
                  <a:glow rad="127000">
                    <a:schemeClr val="bg1"/>
                  </a:glow>
                </a:effectLst>
              </a:rPr>
              <a:t>пайплайн</a:t>
            </a: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;</a:t>
            </a:r>
          </a:p>
          <a:p>
            <a:pPr marL="0" indent="0" algn="just">
              <a:buNone/>
            </a:pP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-- использовать параметризованные запросы с </a:t>
            </a:r>
            <a:r>
              <a:rPr lang="ru-RU" sz="2000" dirty="0" err="1">
                <a:effectLst>
                  <a:glow rad="127000">
                    <a:schemeClr val="bg1"/>
                  </a:glow>
                </a:effectLst>
              </a:rPr>
              <a:t>плейсхолдерами</a:t>
            </a: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 для всех данных;</a:t>
            </a:r>
          </a:p>
          <a:p>
            <a:pPr marL="0" indent="0" algn="just">
              <a:buNone/>
            </a:pP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-- применять белые списки для динамических идентификаторов;</a:t>
            </a:r>
          </a:p>
          <a:p>
            <a:pPr marL="0" indent="0" algn="just">
              <a:buNone/>
            </a:pP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-- исключить ручное экранирование как основной метод;</a:t>
            </a:r>
          </a:p>
          <a:p>
            <a:pPr marL="0" indent="0" algn="just">
              <a:buNone/>
            </a:pP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-- регулярно проводить динамическое тестирование с использованием </a:t>
            </a:r>
            <a:r>
              <a:rPr lang="ru-RU" sz="2000" dirty="0" err="1">
                <a:effectLst>
                  <a:glow rad="127000">
                    <a:schemeClr val="bg1"/>
                  </a:glow>
                </a:effectLst>
              </a:rPr>
              <a:t>sqlmap</a:t>
            </a: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 и </a:t>
            </a:r>
            <a:r>
              <a:rPr lang="ru-RU" sz="2000" dirty="0" err="1">
                <a:effectLst>
                  <a:glow rad="127000">
                    <a:schemeClr val="bg1"/>
                  </a:glow>
                </a:effectLst>
              </a:rPr>
              <a:t>Burp</a:t>
            </a:r>
            <a:r>
              <a:rPr lang="ru-RU" sz="2000" dirty="0">
                <a:effectLst>
                  <a:glow rad="127000">
                    <a:schemeClr val="bg1"/>
                  </a:glow>
                </a:effectLst>
              </a:rPr>
              <a:t> Suite.</a:t>
            </a:r>
            <a:endParaRPr lang="ru-RU" dirty="0">
              <a:effectLst>
                <a:glow rad="127000">
                  <a:schemeClr val="bg1"/>
                </a:glow>
              </a:effectLst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1E7CCBD-EAAE-414D-8223-967E7EA053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25" y="1375982"/>
            <a:ext cx="5833017" cy="5079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28689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A5D3DE8-2CC3-4786-9209-18F1F52574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2235" y="387428"/>
            <a:ext cx="10515600" cy="1084534"/>
          </a:xfrm>
        </p:spPr>
        <p:txBody>
          <a:bodyPr anchor="t">
            <a:noAutofit/>
          </a:bodyPr>
          <a:lstStyle/>
          <a:p>
            <a:pPr algn="ctr"/>
            <a:r>
              <a:rPr lang="ru-RU" sz="9600" dirty="0">
                <a:effectLst>
                  <a:glow rad="254000">
                    <a:schemeClr val="bg1"/>
                  </a:glow>
                </a:effectLst>
              </a:rPr>
              <a:t>СПАСИБО ЗА ВНИМАНИЕ!</a:t>
            </a:r>
            <a:endParaRPr lang="ru-RU" sz="9600" dirty="0">
              <a:effectLst>
                <a:glow rad="444500">
                  <a:schemeClr val="bg1"/>
                </a:glow>
              </a:effectLst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8446971-32D8-4578-8E47-063497E401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66095" y="22303"/>
            <a:ext cx="725905" cy="365125"/>
          </a:xfrm>
        </p:spPr>
        <p:txBody>
          <a:bodyPr/>
          <a:lstStyle/>
          <a:p>
            <a:pPr algn="ctr"/>
            <a:fld id="{BC8D7C3A-2EA1-48AA-A2BC-256FB9E135B5}" type="slidenum">
              <a:rPr lang="ru-RU" sz="2400" smtClean="0">
                <a:solidFill>
                  <a:schemeClr val="tx1"/>
                </a:solidFill>
                <a:effectLst>
                  <a:glow rad="444500">
                    <a:schemeClr val="bg1"/>
                  </a:glow>
                </a:effectLst>
              </a:rPr>
              <a:pPr algn="ctr"/>
              <a:t>22</a:t>
            </a:fld>
            <a:endParaRPr lang="ru-RU" sz="2400" dirty="0">
              <a:solidFill>
                <a:schemeClr val="tx1"/>
              </a:solidFill>
              <a:effectLst>
                <a:glow rad="444500">
                  <a:schemeClr val="bg1"/>
                </a:glow>
              </a:effectLst>
            </a:endParaRP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DE392B05-0D7C-4B2D-9822-0A9A789F921C}"/>
              </a:ext>
            </a:extLst>
          </p:cNvPr>
          <p:cNvSpPr txBox="1">
            <a:spLocks/>
          </p:cNvSpPr>
          <p:nvPr/>
        </p:nvSpPr>
        <p:spPr>
          <a:xfrm>
            <a:off x="1363288" y="3428999"/>
            <a:ext cx="9459884" cy="3041573"/>
          </a:xfrm>
          <a:prstGeom prst="rect">
            <a:avLst/>
          </a:prstGeom>
          <a:blipFill dpi="0" rotWithShape="1">
            <a:blip r:embed="rId2">
              <a:alphaModFix amt="28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0" sx="100000" sy="100000" flip="none" algn="tl"/>
          </a:blipFill>
          <a:ln w="28575">
            <a:solidFill>
              <a:schemeClr val="tx1">
                <a:alpha val="45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ru-RU" dirty="0">
                <a:effectLst>
                  <a:glow rad="127000">
                    <a:schemeClr val="bg1"/>
                  </a:glow>
                </a:effectLst>
              </a:rPr>
              <a:t> </a:t>
            </a:r>
          </a:p>
          <a:p>
            <a:pPr marL="0" indent="0" algn="ctr">
              <a:buNone/>
            </a:pPr>
            <a:endParaRPr lang="ru-RU" dirty="0">
              <a:effectLst>
                <a:glow rad="127000">
                  <a:schemeClr val="bg1"/>
                </a:glow>
              </a:effectLst>
            </a:endParaRPr>
          </a:p>
          <a:p>
            <a:pPr marL="0" indent="0" algn="ctr">
              <a:buNone/>
            </a:pPr>
            <a:r>
              <a:rPr lang="ru-RU" dirty="0">
                <a:effectLst>
                  <a:glow rad="127000">
                    <a:schemeClr val="bg1"/>
                  </a:glow>
                </a:effectLst>
              </a:rPr>
              <a:t>Контактная информация:</a:t>
            </a:r>
          </a:p>
          <a:p>
            <a:pPr marL="0" indent="0" algn="ctr">
              <a:buNone/>
            </a:pPr>
            <a:r>
              <a:rPr lang="en-US" dirty="0">
                <a:effectLst>
                  <a:glow rad="127000">
                    <a:schemeClr val="bg1"/>
                  </a:glow>
                </a:effectLst>
                <a:hlinkClick r:id="rId3"/>
              </a:rPr>
              <a:t>mamaev@mirea.ru</a:t>
            </a:r>
            <a:r>
              <a:rPr lang="ru-RU" dirty="0">
                <a:effectLst>
                  <a:glow rad="127000">
                    <a:schemeClr val="bg1"/>
                  </a:glow>
                </a:effectLst>
              </a:rPr>
              <a:t> (Мамаев А.С., ассистент КБ-2)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55C59F2D-1F84-4563-A191-FE2BE2B50E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4082" y="487361"/>
            <a:ext cx="2111641" cy="23344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4937268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одзаголовок 2">
            <a:extLst>
              <a:ext uri="{FF2B5EF4-FFF2-40B4-BE49-F238E27FC236}">
                <a16:creationId xmlns:a16="http://schemas.microsoft.com/office/drawing/2014/main" id="{A0123597-A37C-4C21-ADB5-77A3C37DCB6E}"/>
              </a:ext>
            </a:extLst>
          </p:cNvPr>
          <p:cNvSpPr txBox="1">
            <a:spLocks/>
          </p:cNvSpPr>
          <p:nvPr/>
        </p:nvSpPr>
        <p:spPr>
          <a:xfrm>
            <a:off x="6818023" y="5621670"/>
            <a:ext cx="5373977" cy="1659509"/>
          </a:xfrm>
          <a:prstGeom prst="rect">
            <a:avLst/>
          </a:prstGeom>
          <a:effectLst/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None/>
              <a:defRPr sz="2000" kern="1200" cap="all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Pct val="125000"/>
              <a:buFont typeface="Arial" panose="020B0604020202020204" pitchFamily="34" charset="0"/>
              <a:buNone/>
              <a:tabLst/>
              <a:defRPr/>
            </a:pPr>
            <a:r>
              <a:rPr kumimoji="0" lang="ru-RU" b="0" i="0" u="none" strike="noStrike" kern="1200" cap="all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glow rad="254000">
                    <a:schemeClr val="bg1"/>
                  </a:glow>
                </a:effectLst>
                <a:uLnTx/>
                <a:uFillTx/>
                <a:ea typeface="+mn-ea"/>
                <a:cs typeface="+mn-cs"/>
              </a:rPr>
              <a:t>Подготовил:</a:t>
            </a:r>
            <a:endParaRPr lang="ru-RU" dirty="0">
              <a:solidFill>
                <a:schemeClr val="tx1"/>
              </a:solidFill>
              <a:effectLst>
                <a:glow rad="254000">
                  <a:schemeClr val="bg1"/>
                </a:glow>
              </a:effectLst>
            </a:endParaRPr>
          </a:p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Pct val="125000"/>
              <a:buFont typeface="Arial" panose="020B0604020202020204" pitchFamily="34" charset="0"/>
              <a:buNone/>
              <a:tabLst/>
              <a:defRPr/>
            </a:pPr>
            <a:r>
              <a:rPr lang="ru-RU" sz="1600" dirty="0">
                <a:solidFill>
                  <a:schemeClr val="tx1"/>
                </a:solidFill>
                <a:effectLst>
                  <a:glow rad="254000">
                    <a:schemeClr val="bg1"/>
                  </a:glow>
                </a:effectLst>
              </a:rPr>
              <a:t>Ассистент кафедры КБ-2</a:t>
            </a:r>
          </a:p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Pct val="125000"/>
              <a:buFont typeface="Arial" panose="020B0604020202020204" pitchFamily="34" charset="0"/>
              <a:buNone/>
              <a:tabLst/>
              <a:defRPr/>
            </a:pPr>
            <a:r>
              <a:rPr lang="ru-RU" sz="1600" dirty="0">
                <a:solidFill>
                  <a:schemeClr val="tx1"/>
                </a:solidFill>
                <a:effectLst>
                  <a:glow rad="254000">
                    <a:schemeClr val="bg1"/>
                  </a:glow>
                </a:effectLst>
              </a:rPr>
              <a:t>Александр Сергеевич Мамаев</a:t>
            </a:r>
          </a:p>
        </p:txBody>
      </p:sp>
      <p:sp>
        <p:nvSpPr>
          <p:cNvPr id="10" name="Подзаголовок 2">
            <a:extLst>
              <a:ext uri="{FF2B5EF4-FFF2-40B4-BE49-F238E27FC236}">
                <a16:creationId xmlns:a16="http://schemas.microsoft.com/office/drawing/2014/main" id="{2BDBD59B-8459-4B01-8480-DEFB31C3C9E6}"/>
              </a:ext>
            </a:extLst>
          </p:cNvPr>
          <p:cNvSpPr txBox="1">
            <a:spLocks/>
          </p:cNvSpPr>
          <p:nvPr/>
        </p:nvSpPr>
        <p:spPr>
          <a:xfrm>
            <a:off x="1019533" y="222116"/>
            <a:ext cx="10189247" cy="2497044"/>
          </a:xfrm>
          <a:prstGeom prst="rect">
            <a:avLst/>
          </a:prstGeom>
          <a:effectLst/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2000" b="0" i="0" kern="1200" cap="all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8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6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None/>
              <a:defRPr sz="1400" b="0" i="0" kern="1200">
                <a:solidFill>
                  <a:schemeClr val="tx1">
                    <a:tint val="75000"/>
                  </a:schemeClr>
                </a:solidFill>
                <a:latin typeface="+mj-lt"/>
                <a:ea typeface="+mj-ea"/>
                <a:cs typeface="+mj-cs"/>
              </a:defRPr>
            </a:lvl9pPr>
          </a:lstStyle>
          <a:p>
            <a:pPr lvl="0" algn="ctr">
              <a:spcBef>
                <a:spcPts val="0"/>
              </a:spcBef>
              <a:spcAft>
                <a:spcPts val="600"/>
              </a:spcAft>
              <a:buClr>
                <a:srgbClr val="252C36">
                  <a:lumMod val="40000"/>
                  <a:lumOff val="60000"/>
                </a:srgbClr>
              </a:buClr>
              <a:defRPr/>
            </a:pPr>
            <a:r>
              <a:rPr lang="ru-RU" sz="1800" dirty="0">
                <a:solidFill>
                  <a:schemeClr val="tx1"/>
                </a:solidFill>
                <a:effectLst>
                  <a:glow rad="254000">
                    <a:schemeClr val="bg1"/>
                  </a:glow>
                </a:effectLst>
              </a:rPr>
              <a:t>МИНОБРНАУКИ РОССИИ </a:t>
            </a:r>
          </a:p>
          <a:p>
            <a:pPr lvl="0" algn="ctr">
              <a:spcBef>
                <a:spcPts val="0"/>
              </a:spcBef>
              <a:spcAft>
                <a:spcPts val="600"/>
              </a:spcAft>
              <a:buClr>
                <a:srgbClr val="252C36">
                  <a:lumMod val="40000"/>
                  <a:lumOff val="60000"/>
                </a:srgbClr>
              </a:buClr>
              <a:defRPr/>
            </a:pPr>
            <a:r>
              <a:rPr lang="ru-RU" sz="1800" dirty="0">
                <a:solidFill>
                  <a:schemeClr val="tx1"/>
                </a:solidFill>
                <a:effectLst>
                  <a:glow rad="254000">
                    <a:schemeClr val="bg1"/>
                  </a:glow>
                </a:effectLst>
              </a:rPr>
              <a:t>Федеральное государственное бюджетное образовательное учреждение высшего образования </a:t>
            </a:r>
          </a:p>
          <a:p>
            <a:pPr lvl="0" algn="ctr">
              <a:spcBef>
                <a:spcPts val="0"/>
              </a:spcBef>
              <a:spcAft>
                <a:spcPts val="600"/>
              </a:spcAft>
              <a:buClr>
                <a:srgbClr val="252C36">
                  <a:lumMod val="40000"/>
                  <a:lumOff val="60000"/>
                </a:srgbClr>
              </a:buClr>
              <a:defRPr/>
            </a:pPr>
            <a:r>
              <a:rPr lang="ru-RU" sz="1800" dirty="0">
                <a:solidFill>
                  <a:schemeClr val="tx1"/>
                </a:solidFill>
                <a:effectLst>
                  <a:glow rad="254000">
                    <a:schemeClr val="bg1"/>
                  </a:glow>
                </a:effectLst>
              </a:rPr>
              <a:t>«МИРЭА–Российский технологический университет» </a:t>
            </a:r>
          </a:p>
          <a:p>
            <a:pPr lvl="0" algn="ctr">
              <a:spcBef>
                <a:spcPts val="0"/>
              </a:spcBef>
              <a:spcAft>
                <a:spcPts val="600"/>
              </a:spcAft>
              <a:buClr>
                <a:srgbClr val="252C36">
                  <a:lumMod val="40000"/>
                  <a:lumOff val="60000"/>
                </a:srgbClr>
              </a:buClr>
              <a:defRPr/>
            </a:pPr>
            <a:r>
              <a:rPr lang="ru-RU" sz="1800" dirty="0">
                <a:solidFill>
                  <a:schemeClr val="tx1"/>
                </a:solidFill>
                <a:effectLst>
                  <a:glow rad="254000">
                    <a:schemeClr val="bg1"/>
                  </a:glow>
                </a:effectLst>
              </a:rPr>
              <a:t>РТУ МИРЭА</a:t>
            </a:r>
          </a:p>
          <a:p>
            <a:pPr lvl="0" algn="ctr">
              <a:spcBef>
                <a:spcPts val="0"/>
              </a:spcBef>
              <a:spcAft>
                <a:spcPts val="600"/>
              </a:spcAft>
              <a:buClr>
                <a:srgbClr val="252C36">
                  <a:lumMod val="40000"/>
                  <a:lumOff val="60000"/>
                </a:srgbClr>
              </a:buClr>
              <a:defRPr/>
            </a:pPr>
            <a:r>
              <a:rPr lang="ru-RU" sz="1800" dirty="0">
                <a:solidFill>
                  <a:schemeClr val="tx1"/>
                </a:solidFill>
                <a:effectLst>
                  <a:glow rad="254000">
                    <a:schemeClr val="bg1"/>
                  </a:glow>
                </a:effectLst>
              </a:rPr>
              <a:t>Институт кибербезопасности и цифровых технологий </a:t>
            </a:r>
          </a:p>
          <a:p>
            <a:pPr lvl="0" algn="ctr">
              <a:spcBef>
                <a:spcPts val="0"/>
              </a:spcBef>
              <a:spcAft>
                <a:spcPts val="600"/>
              </a:spcAft>
              <a:buClr>
                <a:srgbClr val="252C36">
                  <a:lumMod val="40000"/>
                  <a:lumOff val="60000"/>
                </a:srgbClr>
              </a:buClr>
              <a:defRPr/>
            </a:pPr>
            <a:r>
              <a:rPr lang="ru-RU" sz="1800" dirty="0">
                <a:solidFill>
                  <a:schemeClr val="tx1"/>
                </a:solidFill>
                <a:effectLst>
                  <a:glow rad="254000">
                    <a:schemeClr val="bg1"/>
                  </a:glow>
                </a:effectLst>
              </a:rPr>
              <a:t>Кафедра КБ-2«Информационно-аналитические системы кибербезопасности»</a:t>
            </a:r>
            <a:endParaRPr lang="en-US" sz="1800" dirty="0">
              <a:solidFill>
                <a:schemeClr val="tx1"/>
              </a:solidFill>
              <a:effectLst>
                <a:glow rad="254000">
                  <a:schemeClr val="bg1"/>
                </a:glow>
              </a:effectLst>
            </a:endParaRPr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808FACF4-B7DE-4D33-93E7-A1E780A40997}"/>
              </a:ext>
            </a:extLst>
          </p:cNvPr>
          <p:cNvSpPr txBox="1">
            <a:spLocks/>
          </p:cNvSpPr>
          <p:nvPr/>
        </p:nvSpPr>
        <p:spPr>
          <a:xfrm>
            <a:off x="1316231" y="3205841"/>
            <a:ext cx="9559538" cy="1275372"/>
          </a:xfrm>
          <a:prstGeom prst="rect">
            <a:avLst/>
          </a:prstGeom>
          <a:effectLst>
            <a:softEdge rad="0"/>
          </a:effectLst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 algn="ctr"/>
            <a:r>
              <a:rPr kumimoji="0" lang="ru-RU" sz="2000" b="1" i="0" u="none" strike="noStrike" kern="1200" cap="none" spc="0" normalizeH="0" baseline="0" noProof="0" dirty="0">
                <a:ln>
                  <a:noFill/>
                </a:ln>
                <a:effectLst>
                  <a:glow rad="254000">
                    <a:schemeClr val="bg1"/>
                  </a:glow>
                </a:effectLst>
                <a:uLnTx/>
                <a:uFillTx/>
                <a:ea typeface="+mj-ea"/>
                <a:cs typeface="+mj-cs"/>
              </a:rPr>
              <a:t>Занятие на тему:</a:t>
            </a:r>
          </a:p>
          <a:p>
            <a:pPr lvl="0" algn="ctr"/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effectLst>
                  <a:glow rad="254000">
                    <a:schemeClr val="bg1"/>
                  </a:glow>
                </a:effectLst>
                <a:uLnTx/>
                <a:uFillTx/>
              </a:rPr>
              <a:t>SQL-инъекции: природа уязвимости, методы эксплуатации и современные подходы к защите</a:t>
            </a:r>
          </a:p>
        </p:txBody>
      </p:sp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A3C08B1A-68ED-49F8-A895-326423E7C69C}"/>
              </a:ext>
            </a:extLst>
          </p:cNvPr>
          <p:cNvSpPr txBox="1">
            <a:spLocks/>
          </p:cNvSpPr>
          <p:nvPr/>
        </p:nvSpPr>
        <p:spPr>
          <a:xfrm>
            <a:off x="1316231" y="6108351"/>
            <a:ext cx="9559538" cy="68614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kern="1200" cap="all" baseline="0">
                <a:solidFill>
                  <a:schemeClr val="tx1"/>
                </a:solidFill>
                <a:effectLst>
                  <a:outerShdw blurRad="177800" dist="38100" dir="2700000" algn="tl">
                    <a:srgbClr val="000000">
                      <a:alpha val="24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1600" dirty="0">
                <a:effectLst>
                  <a:glow rad="254000">
                    <a:schemeClr val="bg1"/>
                  </a:glow>
                </a:effectLst>
                <a:latin typeface="+mn-lt"/>
                <a:ea typeface="+mn-ea"/>
                <a:cs typeface="+mn-cs"/>
              </a:rPr>
              <a:t>Москва, 2026 г.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306AA2A-8562-411A-87EC-8E61D56B22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661" y="-7939"/>
            <a:ext cx="1397964" cy="1545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9406474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D27514FA-1577-470D-BA04-A552C7B20D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63"/>
            <a:ext cx="10515600" cy="1084534"/>
          </a:xfrm>
        </p:spPr>
        <p:txBody>
          <a:bodyPr anchor="t">
            <a:normAutofit/>
          </a:bodyPr>
          <a:lstStyle/>
          <a:p>
            <a:pPr algn="ctr"/>
            <a:r>
              <a:rPr lang="ru-RU" dirty="0">
                <a:effectLst>
                  <a:glow rad="254000">
                    <a:schemeClr val="bg1"/>
                  </a:glow>
                </a:effectLst>
              </a:rPr>
              <a:t>ы</a:t>
            </a:r>
            <a:endParaRPr lang="ru-RU" dirty="0">
              <a:effectLst>
                <a:glow rad="444500">
                  <a:schemeClr val="bg1"/>
                </a:glow>
              </a:effectLst>
            </a:endParaRPr>
          </a:p>
        </p:txBody>
      </p:sp>
      <p:sp>
        <p:nvSpPr>
          <p:cNvPr id="6" name="Номер слайда 3">
            <a:extLst>
              <a:ext uri="{FF2B5EF4-FFF2-40B4-BE49-F238E27FC236}">
                <a16:creationId xmlns:a16="http://schemas.microsoft.com/office/drawing/2014/main" id="{5437F25C-FC0D-4920-8536-14C019140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66035" y="22303"/>
            <a:ext cx="525965" cy="365125"/>
          </a:xfrm>
        </p:spPr>
        <p:txBody>
          <a:bodyPr/>
          <a:lstStyle/>
          <a:p>
            <a:pPr algn="ctr"/>
            <a:fld id="{BC8D7C3A-2EA1-48AA-A2BC-256FB9E135B5}" type="slidenum">
              <a:rPr lang="ru-RU" sz="2400" smtClean="0">
                <a:solidFill>
                  <a:schemeClr val="tx1"/>
                </a:solidFill>
                <a:effectLst>
                  <a:glow rad="444500">
                    <a:schemeClr val="bg1"/>
                  </a:glow>
                </a:effectLst>
              </a:rPr>
              <a:pPr algn="ctr"/>
              <a:t>24</a:t>
            </a:fld>
            <a:endParaRPr lang="ru-RU" sz="2400" dirty="0">
              <a:solidFill>
                <a:schemeClr val="tx1"/>
              </a:solidFill>
              <a:effectLst>
                <a:glow rad="444500">
                  <a:schemeClr val="bg1"/>
                </a:glow>
              </a:effectLst>
            </a:endParaRP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826C498A-7B31-419A-A0C8-0BBD021382C3}"/>
              </a:ext>
            </a:extLst>
          </p:cNvPr>
          <p:cNvSpPr txBox="1">
            <a:spLocks/>
          </p:cNvSpPr>
          <p:nvPr/>
        </p:nvSpPr>
        <p:spPr>
          <a:xfrm>
            <a:off x="297897" y="1476343"/>
            <a:ext cx="6028475" cy="5079440"/>
          </a:xfrm>
          <a:prstGeom prst="rect">
            <a:avLst/>
          </a:prstGeom>
          <a:blipFill dpi="0" rotWithShape="1">
            <a:blip r:embed="rId2">
              <a:alphaModFix amt="28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0" sx="100000" sy="100000" flip="none" algn="tl"/>
          </a:blipFill>
          <a:ln w="28575">
            <a:solidFill>
              <a:schemeClr val="tx1">
                <a:alpha val="45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iu-Cans-CA" sz="2000" dirty="0">
                <a:effectLst>
                  <a:glow rad="127000">
                    <a:schemeClr val="bg1"/>
                  </a:glow>
                </a:effectLst>
              </a:rPr>
              <a:t>ᐅ</a:t>
            </a:r>
            <a:r>
              <a:rPr lang="en-US" dirty="0">
                <a:effectLst>
                  <a:glow rad="127000">
                    <a:schemeClr val="bg1"/>
                  </a:glow>
                </a:effectLst>
              </a:rPr>
              <a:t> </a:t>
            </a:r>
            <a:r>
              <a:rPr lang="ru-RU" dirty="0">
                <a:effectLst>
                  <a:glow rad="127000">
                    <a:schemeClr val="bg1"/>
                  </a:glow>
                </a:effectLst>
              </a:rPr>
              <a:t>ы</a:t>
            </a:r>
          </a:p>
          <a:p>
            <a:pPr marL="0" indent="0" algn="just">
              <a:buNone/>
            </a:pPr>
            <a:endParaRPr lang="ru-RU" dirty="0">
              <a:effectLst>
                <a:glow rad="127000">
                  <a:schemeClr val="bg1"/>
                </a:glo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52174224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D27514FA-1577-470D-BA04-A552C7B20D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63"/>
            <a:ext cx="10515600" cy="1084534"/>
          </a:xfrm>
        </p:spPr>
        <p:txBody>
          <a:bodyPr anchor="t">
            <a:normAutofit/>
          </a:bodyPr>
          <a:lstStyle/>
          <a:p>
            <a:pPr algn="ctr"/>
            <a:r>
              <a:rPr lang="ru-RU" dirty="0">
                <a:effectLst>
                  <a:glow rad="254000">
                    <a:schemeClr val="bg1"/>
                  </a:glow>
                </a:effectLst>
              </a:rPr>
              <a:t>ы</a:t>
            </a:r>
            <a:endParaRPr lang="ru-RU" dirty="0">
              <a:effectLst>
                <a:glow rad="444500">
                  <a:schemeClr val="bg1"/>
                </a:glow>
              </a:effectLst>
            </a:endParaRPr>
          </a:p>
        </p:txBody>
      </p:sp>
      <p:sp>
        <p:nvSpPr>
          <p:cNvPr id="6" name="Номер слайда 3">
            <a:extLst>
              <a:ext uri="{FF2B5EF4-FFF2-40B4-BE49-F238E27FC236}">
                <a16:creationId xmlns:a16="http://schemas.microsoft.com/office/drawing/2014/main" id="{5437F25C-FC0D-4920-8536-14C019140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66035" y="22303"/>
            <a:ext cx="525965" cy="365125"/>
          </a:xfrm>
        </p:spPr>
        <p:txBody>
          <a:bodyPr/>
          <a:lstStyle/>
          <a:p>
            <a:pPr algn="ctr"/>
            <a:fld id="{BC8D7C3A-2EA1-48AA-A2BC-256FB9E135B5}" type="slidenum">
              <a:rPr lang="ru-RU" sz="2400" smtClean="0">
                <a:solidFill>
                  <a:schemeClr val="tx1"/>
                </a:solidFill>
                <a:effectLst>
                  <a:glow rad="444500">
                    <a:schemeClr val="bg1"/>
                  </a:glow>
                </a:effectLst>
              </a:rPr>
              <a:pPr algn="ctr"/>
              <a:t>25</a:t>
            </a:fld>
            <a:endParaRPr lang="ru-RU" sz="2400" dirty="0">
              <a:solidFill>
                <a:schemeClr val="tx1"/>
              </a:solidFill>
              <a:effectLst>
                <a:glow rad="444500">
                  <a:schemeClr val="bg1"/>
                </a:glow>
              </a:effectLst>
            </a:endParaRP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826C498A-7B31-419A-A0C8-0BBD021382C3}"/>
              </a:ext>
            </a:extLst>
          </p:cNvPr>
          <p:cNvSpPr txBox="1">
            <a:spLocks/>
          </p:cNvSpPr>
          <p:nvPr/>
        </p:nvSpPr>
        <p:spPr>
          <a:xfrm>
            <a:off x="5900542" y="1375982"/>
            <a:ext cx="6028475" cy="5079440"/>
          </a:xfrm>
          <a:prstGeom prst="rect">
            <a:avLst/>
          </a:prstGeom>
          <a:blipFill dpi="0" rotWithShape="1">
            <a:blip r:embed="rId2">
              <a:alphaModFix amt="28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0" sx="100000" sy="100000" flip="none" algn="tl"/>
          </a:blipFill>
          <a:ln w="28575">
            <a:solidFill>
              <a:schemeClr val="tx1">
                <a:alpha val="45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iu-Cans-CA" sz="2000" dirty="0">
                <a:effectLst>
                  <a:glow rad="127000">
                    <a:schemeClr val="bg1"/>
                  </a:glow>
                </a:effectLst>
              </a:rPr>
              <a:t>ᐅ</a:t>
            </a:r>
            <a:r>
              <a:rPr lang="en-US" dirty="0">
                <a:effectLst>
                  <a:glow rad="127000">
                    <a:schemeClr val="bg1"/>
                  </a:glow>
                </a:effectLst>
              </a:rPr>
              <a:t> </a:t>
            </a:r>
            <a:r>
              <a:rPr lang="ru-RU" dirty="0">
                <a:effectLst>
                  <a:glow rad="127000">
                    <a:schemeClr val="bg1"/>
                  </a:glow>
                </a:effectLst>
              </a:rPr>
              <a:t>ы</a:t>
            </a:r>
          </a:p>
          <a:p>
            <a:pPr marL="0" indent="0" algn="just">
              <a:buNone/>
            </a:pPr>
            <a:endParaRPr lang="ru-RU" dirty="0">
              <a:effectLst>
                <a:glow rad="127000">
                  <a:schemeClr val="bg1"/>
                </a:glo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73120271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4146</TotalTime>
  <Words>1989</Words>
  <Application>Microsoft Office PowerPoint</Application>
  <PresentationFormat>Широкоэкранный</PresentationFormat>
  <Paragraphs>128</Paragraphs>
  <Slides>25</Slides>
  <Notes>0</Notes>
  <HiddenSlides>2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25</vt:i4>
      </vt:variant>
    </vt:vector>
  </HeadingPairs>
  <TitlesOfParts>
    <vt:vector size="31" baseType="lpstr">
      <vt:lpstr>Arial</vt:lpstr>
      <vt:lpstr>Calibri</vt:lpstr>
      <vt:lpstr>Calibri Light</vt:lpstr>
      <vt:lpstr>Euphemia</vt:lpstr>
      <vt:lpstr>Wingdings 3</vt:lpstr>
      <vt:lpstr>Тема Office</vt:lpstr>
      <vt:lpstr>Презентация PowerPoint</vt:lpstr>
      <vt:lpstr>Введение – определение и актуальность</vt:lpstr>
      <vt:lpstr>Причины возникновения</vt:lpstr>
      <vt:lpstr>Классическая SQL-инъекция</vt:lpstr>
      <vt:lpstr>UNION-инъекция – несанкционированный доступ к данным</vt:lpstr>
      <vt:lpstr>Слепая SQL-инъекция – Blind SQL Injection</vt:lpstr>
      <vt:lpstr>Инъекция в ORDER BY и GROUP BY</vt:lpstr>
      <vt:lpstr>Демонстрационная среда – DVWA</vt:lpstr>
      <vt:lpstr>Ручная проверка инъекции в DVWA</vt:lpstr>
      <vt:lpstr>Методы защиты – два золотых правила</vt:lpstr>
      <vt:lpstr>Эскейпинг – мифы и реальность</vt:lpstr>
      <vt:lpstr>Подготовленные выражения – достоинства и ограничения</vt:lpstr>
      <vt:lpstr>Альтернатива – самодельные типизованные плейсхолдеры</vt:lpstr>
      <vt:lpstr>Белые списки для идентификаторов – OWASP-подход</vt:lpstr>
      <vt:lpstr>Статический анализ – SonarQube</vt:lpstr>
      <vt:lpstr>Динамическое тестирование – sqlmap</vt:lpstr>
      <vt:lpstr>Перехват трафика – Burp Proxy</vt:lpstr>
      <vt:lpstr>Разоблачение суеверий – мифы о защите</vt:lpstr>
      <vt:lpstr>Проблемы кодировки – GBK-инъекция</vt:lpstr>
      <vt:lpstr>Выводы – часть 1: Ключевые результаты анализ</vt:lpstr>
      <vt:lpstr>Выводы – часть 2: Количественные оценки и рекомендации</vt:lpstr>
      <vt:lpstr>СПАСИБО ЗА ВНИМАНИЕ!</vt:lpstr>
      <vt:lpstr>Презентация PowerPoint</vt:lpstr>
      <vt:lpstr>ы</vt:lpstr>
      <vt:lpstr>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Александр Мамаев</dc:creator>
  <cp:lastModifiedBy>Александр Мамаев</cp:lastModifiedBy>
  <cp:revision>300</cp:revision>
  <dcterms:created xsi:type="dcterms:W3CDTF">2023-04-17T10:12:03Z</dcterms:created>
  <dcterms:modified xsi:type="dcterms:W3CDTF">2026-09-10T07:15:56Z</dcterms:modified>
</cp:coreProperties>
</file>