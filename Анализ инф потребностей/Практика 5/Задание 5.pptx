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8" r:id="rId2"/>
    <p:sldId id="269" r:id="rId3"/>
    <p:sldId id="273" r:id="rId4"/>
    <p:sldId id="272" r:id="rId5"/>
    <p:sldId id="281" r:id="rId6"/>
    <p:sldId id="270" r:id="rId7"/>
    <p:sldId id="271" r:id="rId8"/>
    <p:sldId id="274" r:id="rId9"/>
    <p:sldId id="275" r:id="rId10"/>
    <p:sldId id="276" r:id="rId11"/>
    <p:sldId id="278" r:id="rId12"/>
    <p:sldId id="280" r:id="rId13"/>
    <p:sldId id="282" r:id="rId14"/>
    <p:sldId id="283" r:id="rId15"/>
    <p:sldId id="284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2172" y="1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1041E1-AC82-42C1-8362-7967BE50FC60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A331CE-44D7-4FAE-8ADB-5140252316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6477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8CB064-0FC0-476A-9D7A-A8B536ABFBE5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0940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8CB064-0FC0-476A-9D7A-A8B536ABFBE5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20315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8CB064-0FC0-476A-9D7A-A8B536ABFBE5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0785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8CB064-0FC0-476A-9D7A-A8B536ABFBE5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8133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8CB064-0FC0-476A-9D7A-A8B536ABFBE5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4385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8CB064-0FC0-476A-9D7A-A8B536ABFBE5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34499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8CB064-0FC0-476A-9D7A-A8B536ABFBE5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5640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8CB064-0FC0-476A-9D7A-A8B536ABFBE5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95673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8CB064-0FC0-476A-9D7A-A8B536ABFBE5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93288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8CB064-0FC0-476A-9D7A-A8B536ABFBE5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58847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8CB064-0FC0-476A-9D7A-A8B536ABFBE5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22346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8CB064-0FC0-476A-9D7A-A8B536ABFBE5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7574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8CB064-0FC0-476A-9D7A-A8B536ABFBE5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5379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8CB064-0FC0-476A-9D7A-A8B536ABFBE5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38855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8CB064-0FC0-476A-9D7A-A8B536ABFBE5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9540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9464-B68E-4FB0-85E5-EB5719E791B5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6BD92-EE49-4777-B6C6-16E85045A3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7389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9464-B68E-4FB0-85E5-EB5719E791B5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6BD92-EE49-4777-B6C6-16E85045A3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011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9464-B68E-4FB0-85E5-EB5719E791B5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6BD92-EE49-4777-B6C6-16E85045A3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153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9464-B68E-4FB0-85E5-EB5719E791B5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6BD92-EE49-4777-B6C6-16E85045A3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83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9464-B68E-4FB0-85E5-EB5719E791B5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6BD92-EE49-4777-B6C6-16E85045A3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2935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9464-B68E-4FB0-85E5-EB5719E791B5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6BD92-EE49-4777-B6C6-16E85045A3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6101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9464-B68E-4FB0-85E5-EB5719E791B5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6BD92-EE49-4777-B6C6-16E85045A3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7625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9464-B68E-4FB0-85E5-EB5719E791B5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6BD92-EE49-4777-B6C6-16E85045A3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1408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9464-B68E-4FB0-85E5-EB5719E791B5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6BD92-EE49-4777-B6C6-16E85045A3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1210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9464-B68E-4FB0-85E5-EB5719E791B5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6BD92-EE49-4777-B6C6-16E85045A3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5500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9464-B68E-4FB0-85E5-EB5719E791B5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6BD92-EE49-4777-B6C6-16E85045A3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66191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араллелограмм 6"/>
          <p:cNvSpPr/>
          <p:nvPr userDrawn="1"/>
        </p:nvSpPr>
        <p:spPr>
          <a:xfrm>
            <a:off x="412955" y="1"/>
            <a:ext cx="11379355" cy="680356"/>
          </a:xfrm>
          <a:prstGeom prst="parallelogram">
            <a:avLst>
              <a:gd name="adj" fmla="val 10014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prstClr val="white"/>
              </a:solidFill>
            </a:endParaRPr>
          </a:p>
        </p:txBody>
      </p:sp>
      <p:sp>
        <p:nvSpPr>
          <p:cNvPr id="8" name="Параллелограмм 7"/>
          <p:cNvSpPr/>
          <p:nvPr userDrawn="1"/>
        </p:nvSpPr>
        <p:spPr>
          <a:xfrm>
            <a:off x="1" y="1"/>
            <a:ext cx="919316" cy="680356"/>
          </a:xfrm>
          <a:prstGeom prst="parallelogram">
            <a:avLst>
              <a:gd name="adj" fmla="val 10014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prstClr val="white"/>
              </a:solidFill>
            </a:endParaRPr>
          </a:p>
        </p:txBody>
      </p:sp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919317" y="1"/>
            <a:ext cx="10415792" cy="514157"/>
          </a:xfrm>
          <a:prstGeom prst="rect">
            <a:avLst/>
          </a:prstGeom>
        </p:spPr>
        <p:txBody>
          <a:bodyPr vert="horz" wrap="square" lIns="0" tIns="180000" rIns="0" bIns="0" rtlCol="0" anchor="t" anchorCtr="0">
            <a:spAutoFit/>
          </a:bodyPr>
          <a:lstStyle>
            <a:lvl1pPr algn="ctr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6" name="Параллелограмм 5"/>
          <p:cNvSpPr/>
          <p:nvPr userDrawn="1"/>
        </p:nvSpPr>
        <p:spPr>
          <a:xfrm>
            <a:off x="11272685" y="1"/>
            <a:ext cx="919316" cy="680356"/>
          </a:xfrm>
          <a:prstGeom prst="parallelogram">
            <a:avLst>
              <a:gd name="adj" fmla="val 10014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57363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951">
          <p15:clr>
            <a:srgbClr val="FBAE40"/>
          </p15:clr>
        </p15:guide>
        <p15:guide id="3" pos="45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309464-B68E-4FB0-85E5-EB5719E791B5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B6BD92-EE49-4777-B6C6-16E85045A3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3697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4294967295"/>
          </p:nvPr>
        </p:nvSpPr>
        <p:spPr>
          <a:xfrm>
            <a:off x="11827805" y="234536"/>
            <a:ext cx="536275" cy="365125"/>
          </a:xfrm>
          <a:prstGeom prst="rect">
            <a:avLst/>
          </a:prstGeom>
        </p:spPr>
        <p:txBody>
          <a:bodyPr/>
          <a:lstStyle/>
          <a:p>
            <a:fld id="{865734E4-975E-4261-A54A-DEB4ADCBA110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156517" y="-123394"/>
            <a:ext cx="11809312" cy="624956"/>
          </a:xfrm>
        </p:spPr>
        <p:txBody>
          <a:bodyPr/>
          <a:lstStyle/>
          <a:p>
            <a:pPr marL="342891" indent="-342891"/>
            <a:r>
              <a:rPr lang="ru-RU" sz="3200" dirty="0"/>
              <a:t>РТУ МИРЭА     КБ-2 ИКБ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73384" y="1220755"/>
            <a:ext cx="11492445" cy="1333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466" marR="27939" indent="-8466">
              <a:lnSpc>
                <a:spcPct val="112000"/>
              </a:lnSpc>
              <a:spcAft>
                <a:spcPts val="27"/>
              </a:spcAft>
            </a:pPr>
            <a:r>
              <a:rPr lang="ru-RU" sz="2400" u="sng" dirty="0"/>
              <a:t>Тема 2.</a:t>
            </a:r>
            <a:r>
              <a:rPr lang="ru-RU" sz="2400" dirty="0"/>
              <a:t> Обеспечение информационной безопасности на сетевом уровне</a:t>
            </a:r>
            <a:br>
              <a:rPr lang="ru-RU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ru-RU" sz="2400" u="sng" dirty="0"/>
              <a:t>Занятие </a:t>
            </a:r>
            <a:r>
              <a:rPr lang="ru-RU" sz="2400" u="sng" dirty="0" smtClean="0"/>
              <a:t>9.</a:t>
            </a:r>
            <a:r>
              <a:rPr lang="ru-RU" sz="2400" dirty="0" smtClean="0"/>
              <a:t> </a:t>
            </a:r>
            <a:r>
              <a:rPr lang="ru-RU" sz="2400" dirty="0"/>
              <a:t>Методы и средства обеспечения ИБ р</a:t>
            </a:r>
            <a:r>
              <a:rPr lang="ru-RU" sz="2400" dirty="0" smtClean="0"/>
              <a:t>аспределенных площадок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35360" y="5541235"/>
            <a:ext cx="65287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Дисциплина: Анализ информационных потребностей подразделений информационно-аналитического мониторинга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8314381" y="5742453"/>
            <a:ext cx="3552395" cy="954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ru-RU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Доцент: Кирьянов Александр Владимирович</a:t>
            </a:r>
          </a:p>
          <a:p>
            <a:pPr lvl="0" algn="ctr"/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ru-RU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kiryanov_a@mirea.ru</a:t>
            </a:r>
            <a:endParaRPr lang="ru-RU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34725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4294967295"/>
          </p:nvPr>
        </p:nvSpPr>
        <p:spPr>
          <a:xfrm>
            <a:off x="11827805" y="234536"/>
            <a:ext cx="536275" cy="365125"/>
          </a:xfrm>
          <a:prstGeom prst="rect">
            <a:avLst/>
          </a:prstGeom>
        </p:spPr>
        <p:txBody>
          <a:bodyPr/>
          <a:lstStyle/>
          <a:p>
            <a:fld id="{865734E4-975E-4261-A54A-DEB4ADCBA110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156517" y="-219404"/>
            <a:ext cx="11809312" cy="624956"/>
          </a:xfrm>
        </p:spPr>
        <p:txBody>
          <a:bodyPr/>
          <a:lstStyle/>
          <a:p>
            <a:pPr marL="342891" indent="-342891"/>
            <a:r>
              <a:rPr lang="ru-RU" sz="3200" dirty="0"/>
              <a:t>Учебные вопросы и цели занятия: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61975" y="1122071"/>
            <a:ext cx="1067325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 Выполнение индивидуального задания.</a:t>
            </a:r>
          </a:p>
          <a:p>
            <a: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Настройка сети с использованием </a:t>
            </a:r>
            <a:r>
              <a:rPr lang="en-US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NAT/PAT</a:t>
            </a:r>
            <a: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 ограничением  </a:t>
            </a:r>
            <a:r>
              <a:rPr lang="en-US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ACL</a:t>
            </a:r>
            <a:endParaRPr lang="ru-RU" alt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Настройка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GRE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туннелей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35360" y="3706583"/>
            <a:ext cx="11492445" cy="27219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466" marR="27939" indent="-8466">
              <a:lnSpc>
                <a:spcPct val="112000"/>
              </a:lnSpc>
              <a:spcAft>
                <a:spcPts val="27"/>
              </a:spcAft>
            </a:pP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Цели занятия: </a:t>
            </a:r>
            <a:endParaRPr lang="ru-RU" sz="2667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Формирование навыков настройки параметров безопасности в программно-аппаратных средствах защиты информации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киберсистем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Продолжить изучение источников угроз информационной безопасности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киберсистем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меры по их предотвращению.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Ознакомить с составом типовых конфигураций программно-аппаратных средств защиты информации и их режимов функционирования.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11861438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4294967295"/>
          </p:nvPr>
        </p:nvSpPr>
        <p:spPr>
          <a:xfrm>
            <a:off x="11827805" y="234536"/>
            <a:ext cx="536275" cy="365125"/>
          </a:xfrm>
          <a:prstGeom prst="rect">
            <a:avLst/>
          </a:prstGeom>
        </p:spPr>
        <p:txBody>
          <a:bodyPr/>
          <a:lstStyle/>
          <a:p>
            <a:fld id="{865734E4-975E-4261-A54A-DEB4ADCBA110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156517" y="-219404"/>
            <a:ext cx="11809312" cy="624956"/>
          </a:xfrm>
        </p:spPr>
        <p:txBody>
          <a:bodyPr/>
          <a:lstStyle/>
          <a:p>
            <a:r>
              <a:rPr lang="ru-RU" altLang="ru-RU" sz="3200" dirty="0">
                <a:solidFill>
                  <a:schemeClr val="tx1"/>
                </a:solidFill>
              </a:rPr>
              <a:t>Исходные данные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l="1508" t="13562" r="23174" b="18430"/>
          <a:stretch/>
        </p:blipFill>
        <p:spPr>
          <a:xfrm>
            <a:off x="320007" y="740227"/>
            <a:ext cx="11630796" cy="590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8250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4294967295"/>
          </p:nvPr>
        </p:nvSpPr>
        <p:spPr>
          <a:xfrm>
            <a:off x="11827805" y="234536"/>
            <a:ext cx="536275" cy="365125"/>
          </a:xfrm>
          <a:prstGeom prst="rect">
            <a:avLst/>
          </a:prstGeom>
        </p:spPr>
        <p:txBody>
          <a:bodyPr/>
          <a:lstStyle/>
          <a:p>
            <a:fld id="{865734E4-975E-4261-A54A-DEB4ADCBA110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156517" y="-77942"/>
            <a:ext cx="11809312" cy="624956"/>
          </a:xfrm>
        </p:spPr>
        <p:txBody>
          <a:bodyPr/>
          <a:lstStyle/>
          <a:p>
            <a:r>
              <a:rPr lang="ru-RU" altLang="ru-RU" sz="3200" dirty="0">
                <a:solidFill>
                  <a:schemeClr val="tx1"/>
                </a:solidFill>
              </a:rPr>
              <a:t>Исходные данные</a:t>
            </a:r>
          </a:p>
        </p:txBody>
      </p:sp>
      <p:sp>
        <p:nvSpPr>
          <p:cNvPr id="8" name="Rectangle 14"/>
          <p:cNvSpPr txBox="1">
            <a:spLocks noChangeArrowheads="1"/>
          </p:cNvSpPr>
          <p:nvPr/>
        </p:nvSpPr>
        <p:spPr>
          <a:xfrm>
            <a:off x="1276448" y="1346201"/>
            <a:ext cx="9569450" cy="40777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altLang="ru-RU" sz="2400" b="1" dirty="0" smtClean="0"/>
              <a:t>Организация имеет 2 филиала, связанных через сеть оператора связи. Для каждого филиала оператором предоставляется публичная подсеть из 8 адресов. В каждом филиале имеется </a:t>
            </a:r>
            <a:r>
              <a:rPr lang="en-US" altLang="ru-RU" sz="2400" b="1" dirty="0" smtClean="0"/>
              <a:t>Web</a:t>
            </a:r>
            <a:r>
              <a:rPr lang="ru-RU" altLang="ru-RU" sz="2400" b="1" dirty="0" smtClean="0"/>
              <a:t>-сервер, к которому должен быть организован доступ из общей сети. В каждом филиале имеется определенная группа пользователей, которой разрешен доступ во внешнюю сеть. </a:t>
            </a:r>
          </a:p>
          <a:p>
            <a:r>
              <a:rPr lang="ru-RU" altLang="ru-RU" sz="2400" b="1" dirty="0" smtClean="0"/>
              <a:t>С использованием </a:t>
            </a:r>
            <a:r>
              <a:rPr lang="en-US" altLang="ru-RU" sz="2400" b="1" dirty="0" smtClean="0"/>
              <a:t>NAT </a:t>
            </a:r>
            <a:r>
              <a:rPr lang="ru-RU" altLang="ru-RU" sz="2400" b="1" dirty="0" smtClean="0"/>
              <a:t>и </a:t>
            </a:r>
            <a:r>
              <a:rPr lang="en-US" altLang="ru-RU" sz="2400" b="1" dirty="0" smtClean="0"/>
              <a:t>PAT </a:t>
            </a:r>
            <a:r>
              <a:rPr lang="ru-RU" altLang="ru-RU" sz="2400" b="1" dirty="0" smtClean="0"/>
              <a:t>необходимо настроить сеть для выполнения поставленных задач.</a:t>
            </a:r>
          </a:p>
          <a:p>
            <a:r>
              <a:rPr lang="ru-RU" altLang="ru-RU" sz="2400" b="1" dirty="0" smtClean="0"/>
              <a:t>Организовать туннели между </a:t>
            </a:r>
            <a:r>
              <a:rPr lang="ru-RU" altLang="ru-RU" sz="2400" b="1" dirty="0" smtClean="0"/>
              <a:t>Отделами МЧС.</a:t>
            </a:r>
            <a:endParaRPr lang="ru-RU" altLang="ru-RU" sz="2400" b="1" dirty="0" smtClean="0"/>
          </a:p>
          <a:p>
            <a:r>
              <a:rPr lang="ru-RU" altLang="ru-RU" sz="2400" b="1" dirty="0" smtClean="0"/>
              <a:t>Организовать доступ в интернет из </a:t>
            </a:r>
            <a:r>
              <a:rPr lang="ru-RU" altLang="ru-RU" sz="2400" b="1" dirty="0" err="1" smtClean="0"/>
              <a:t>спецсегмента</a:t>
            </a:r>
            <a:r>
              <a:rPr lang="ru-RU" altLang="ru-RU" sz="2400" b="1" dirty="0" smtClean="0"/>
              <a:t>.</a:t>
            </a:r>
            <a:endParaRPr lang="ru-RU" alt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6780899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4294967295"/>
          </p:nvPr>
        </p:nvSpPr>
        <p:spPr>
          <a:xfrm>
            <a:off x="11827805" y="234536"/>
            <a:ext cx="536275" cy="365125"/>
          </a:xfrm>
          <a:prstGeom prst="rect">
            <a:avLst/>
          </a:prstGeom>
        </p:spPr>
        <p:txBody>
          <a:bodyPr/>
          <a:lstStyle/>
          <a:p>
            <a:fld id="{865734E4-975E-4261-A54A-DEB4ADCBA110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8" name="Rectangle 14"/>
          <p:cNvSpPr txBox="1">
            <a:spLocks noChangeArrowheads="1"/>
          </p:cNvSpPr>
          <p:nvPr/>
        </p:nvSpPr>
        <p:spPr>
          <a:xfrm>
            <a:off x="1276448" y="1346201"/>
            <a:ext cx="9569450" cy="40777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altLang="ru-RU" sz="5400" b="1" dirty="0" smtClean="0"/>
              <a:t>Задание 1</a:t>
            </a:r>
            <a:endParaRPr lang="en-US" altLang="ru-RU" sz="5400" b="1" dirty="0" smtClean="0"/>
          </a:p>
          <a:p>
            <a:pPr marL="0" indent="0" algn="ctr">
              <a:buNone/>
            </a:pPr>
            <a:endParaRPr lang="ru-RU" altLang="ru-RU" sz="5400" b="1" dirty="0" smtClean="0"/>
          </a:p>
          <a:p>
            <a:pPr marL="0" indent="0" algn="ctr">
              <a:buNone/>
            </a:pPr>
            <a:r>
              <a:rPr lang="ru-RU" altLang="ru-RU" sz="5400" b="1" dirty="0" smtClean="0"/>
              <a:t>Настройка сети с использованием </a:t>
            </a:r>
            <a:r>
              <a:rPr lang="en-US" altLang="ru-RU" sz="5400" b="1" dirty="0" smtClean="0"/>
              <a:t>NAT/PAT</a:t>
            </a:r>
            <a:r>
              <a:rPr lang="ru-RU" altLang="ru-RU" sz="5400" b="1" dirty="0" smtClean="0"/>
              <a:t> и  ограничением  </a:t>
            </a:r>
            <a:r>
              <a:rPr lang="en-US" altLang="ru-RU" sz="5400" b="1" dirty="0" smtClean="0"/>
              <a:t>ACL</a:t>
            </a:r>
            <a:endParaRPr lang="ru-RU" altLang="ru-RU" sz="5400" b="1" dirty="0"/>
          </a:p>
        </p:txBody>
      </p:sp>
    </p:spTree>
    <p:extLst>
      <p:ext uri="{BB962C8B-B14F-4D97-AF65-F5344CB8AC3E}">
        <p14:creationId xmlns:p14="http://schemas.microsoft.com/office/powerpoint/2010/main" val="34124505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4294967295"/>
          </p:nvPr>
        </p:nvSpPr>
        <p:spPr>
          <a:xfrm>
            <a:off x="11827805" y="234536"/>
            <a:ext cx="536275" cy="365125"/>
          </a:xfrm>
          <a:prstGeom prst="rect">
            <a:avLst/>
          </a:prstGeom>
        </p:spPr>
        <p:txBody>
          <a:bodyPr/>
          <a:lstStyle/>
          <a:p>
            <a:fld id="{865734E4-975E-4261-A54A-DEB4ADCBA110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99367" y="44447"/>
            <a:ext cx="11809312" cy="514157"/>
          </a:xfrm>
        </p:spPr>
        <p:txBody>
          <a:bodyPr/>
          <a:lstStyle/>
          <a:p>
            <a:r>
              <a:rPr lang="ru-RU" altLang="ru-RU" u="sng" dirty="0">
                <a:solidFill>
                  <a:schemeClr val="tx1"/>
                </a:solidFill>
              </a:rPr>
              <a:t>Этап 1 – настройка глобального доступа к серверу 1  с помощью статического </a:t>
            </a:r>
            <a:r>
              <a:rPr lang="en-US" altLang="ru-RU" u="sng" dirty="0">
                <a:solidFill>
                  <a:schemeClr val="tx1"/>
                </a:solidFill>
              </a:rPr>
              <a:t>NAT</a:t>
            </a:r>
            <a:endParaRPr lang="ru-RU" altLang="ru-RU" u="sng" dirty="0">
              <a:solidFill>
                <a:schemeClr val="tx1"/>
              </a:solidFill>
            </a:endParaRPr>
          </a:p>
        </p:txBody>
      </p:sp>
      <p:sp>
        <p:nvSpPr>
          <p:cNvPr id="6" name="Rectangle 13"/>
          <p:cNvSpPr txBox="1">
            <a:spLocks noChangeArrowheads="1"/>
          </p:cNvSpPr>
          <p:nvPr/>
        </p:nvSpPr>
        <p:spPr>
          <a:xfrm>
            <a:off x="846667" y="769936"/>
            <a:ext cx="10515600" cy="514157"/>
          </a:xfrm>
          <a:prstGeom prst="rect">
            <a:avLst/>
          </a:prstGeom>
        </p:spPr>
        <p:txBody>
          <a:bodyPr vert="horz" wrap="square" lIns="0" tIns="180000" rIns="0" bIns="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u="sng" dirty="0" smtClean="0">
                <a:solidFill>
                  <a:schemeClr val="tx1"/>
                </a:solidFill>
              </a:rPr>
              <a:t>Этап 1 – настройка глобального доступа к серверу 1  с помощью статического </a:t>
            </a:r>
            <a:r>
              <a:rPr lang="en-US" altLang="ru-RU" u="sng" dirty="0" smtClean="0">
                <a:solidFill>
                  <a:schemeClr val="tx1"/>
                </a:solidFill>
              </a:rPr>
              <a:t>NAT</a:t>
            </a:r>
            <a:endParaRPr lang="ru-RU" altLang="ru-RU" u="sng" dirty="0">
              <a:solidFill>
                <a:schemeClr val="tx1"/>
              </a:solidFill>
            </a:endParaRPr>
          </a:p>
        </p:txBody>
      </p:sp>
      <p:sp>
        <p:nvSpPr>
          <p:cNvPr id="7" name="Rectangle 14"/>
          <p:cNvSpPr txBox="1">
            <a:spLocks noChangeArrowheads="1"/>
          </p:cNvSpPr>
          <p:nvPr/>
        </p:nvSpPr>
        <p:spPr>
          <a:xfrm>
            <a:off x="491067" y="1495425"/>
            <a:ext cx="11336738" cy="488844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ru-RU" altLang="ru-RU" sz="2200" b="1" dirty="0" smtClean="0"/>
              <a:t>Настройте сетевое оборудование в Филиале 1 используя для этого сеть 192.168.</a:t>
            </a:r>
            <a:r>
              <a:rPr lang="en-US" altLang="ru-RU" sz="2200" b="1" dirty="0" smtClean="0"/>
              <a:t>X</a:t>
            </a:r>
            <a:r>
              <a:rPr lang="ru-RU" altLang="ru-RU" sz="2200" b="1" dirty="0" smtClean="0"/>
              <a:t>.0/24 –настройте </a:t>
            </a:r>
            <a:r>
              <a:rPr lang="en-US" altLang="ru-RU" sz="2200" b="1" dirty="0" smtClean="0"/>
              <a:t>IP </a:t>
            </a:r>
            <a:r>
              <a:rPr lang="ru-RU" altLang="ru-RU" sz="2200" b="1" dirty="0" smtClean="0"/>
              <a:t>для рабочих мест, сервера и интерфейса маршрутизатора, расположенного в данной сети (</a:t>
            </a:r>
            <a:r>
              <a:rPr lang="en-US" altLang="ru-RU" sz="2200" b="1" dirty="0" smtClean="0"/>
              <a:t>X</a:t>
            </a:r>
            <a:r>
              <a:rPr lang="ru-RU" altLang="ru-RU" sz="2200" b="1" dirty="0" smtClean="0"/>
              <a:t> – номер  ПО СПИСКУ). </a:t>
            </a:r>
          </a:p>
          <a:p>
            <a:pPr>
              <a:lnSpc>
                <a:spcPct val="80000"/>
              </a:lnSpc>
            </a:pPr>
            <a:endParaRPr lang="ru-RU" altLang="ru-RU" sz="2200" b="1" dirty="0" smtClean="0"/>
          </a:p>
          <a:p>
            <a:pPr>
              <a:lnSpc>
                <a:spcPct val="80000"/>
              </a:lnSpc>
            </a:pPr>
            <a:r>
              <a:rPr lang="ru-RU" altLang="ru-RU" sz="2200" b="1" dirty="0" smtClean="0"/>
              <a:t>Оператором для организации связи между </a:t>
            </a:r>
            <a:r>
              <a:rPr lang="en-US" altLang="ru-RU" sz="2200" b="1" dirty="0" smtClean="0"/>
              <a:t>R</a:t>
            </a:r>
            <a:r>
              <a:rPr lang="ru-RU" altLang="ru-RU" sz="2200" b="1" dirty="0" smtClean="0"/>
              <a:t>1 и </a:t>
            </a:r>
            <a:r>
              <a:rPr lang="en-US" altLang="ru-RU" sz="2200" b="1" dirty="0" smtClean="0"/>
              <a:t>ISP</a:t>
            </a:r>
            <a:r>
              <a:rPr lang="ru-RU" altLang="ru-RU" sz="2200" b="1" dirty="0" smtClean="0"/>
              <a:t>_</a:t>
            </a:r>
            <a:r>
              <a:rPr lang="en-US" altLang="ru-RU" sz="2200" b="1" dirty="0" smtClean="0"/>
              <a:t>L</a:t>
            </a:r>
            <a:r>
              <a:rPr lang="ru-RU" altLang="ru-RU" sz="2200" b="1" dirty="0" smtClean="0"/>
              <a:t>1 выделена сеть 65.</a:t>
            </a:r>
            <a:r>
              <a:rPr lang="en-US" altLang="ru-RU" sz="2200" b="1" dirty="0" smtClean="0"/>
              <a:t>X</a:t>
            </a:r>
            <a:r>
              <a:rPr lang="ru-RU" altLang="ru-RU" sz="2200" b="1" dirty="0" smtClean="0"/>
              <a:t>.0.0/29. Настройте маршрутизаторы </a:t>
            </a:r>
            <a:r>
              <a:rPr lang="en-US" altLang="ru-RU" sz="2200" b="1" dirty="0" smtClean="0"/>
              <a:t>R</a:t>
            </a:r>
            <a:r>
              <a:rPr lang="ru-RU" altLang="ru-RU" sz="2200" b="1" dirty="0" smtClean="0"/>
              <a:t>1 и </a:t>
            </a:r>
            <a:r>
              <a:rPr lang="en-US" altLang="ru-RU" sz="2200" b="1" dirty="0" smtClean="0"/>
              <a:t>ISP</a:t>
            </a:r>
            <a:r>
              <a:rPr lang="ru-RU" altLang="ru-RU" sz="2200" b="1" dirty="0" smtClean="0"/>
              <a:t>_</a:t>
            </a:r>
            <a:r>
              <a:rPr lang="en-US" altLang="ru-RU" sz="2200" b="1" dirty="0" smtClean="0"/>
              <a:t>L</a:t>
            </a:r>
            <a:r>
              <a:rPr lang="ru-RU" altLang="ru-RU" sz="2200" b="1" dirty="0" smtClean="0"/>
              <a:t>1 для совместной работы. </a:t>
            </a:r>
          </a:p>
          <a:p>
            <a:pPr>
              <a:lnSpc>
                <a:spcPct val="80000"/>
              </a:lnSpc>
            </a:pPr>
            <a:endParaRPr lang="ru-RU" altLang="ru-RU" sz="2200" b="1" dirty="0" smtClean="0"/>
          </a:p>
          <a:p>
            <a:pPr>
              <a:lnSpc>
                <a:spcPct val="80000"/>
              </a:lnSpc>
            </a:pPr>
            <a:r>
              <a:rPr lang="ru-RU" altLang="ru-RU" sz="2200" b="1" dirty="0" smtClean="0"/>
              <a:t>Узел «Клиент Интернета» подключен через маршрутизатор </a:t>
            </a:r>
            <a:r>
              <a:rPr lang="en-US" altLang="ru-RU" sz="2200" b="1" dirty="0" smtClean="0"/>
              <a:t>ISP_L1</a:t>
            </a:r>
            <a:r>
              <a:rPr lang="ru-RU" altLang="ru-RU" sz="2200" b="1" dirty="0" smtClean="0"/>
              <a:t> и находится в сети 94.Х.0.0/29. Настройте соответствующий сетевой интерфейс маршрутизатора </a:t>
            </a:r>
            <a:r>
              <a:rPr lang="en-US" altLang="ru-RU" sz="2200" b="1" dirty="0" smtClean="0"/>
              <a:t>ISP</a:t>
            </a:r>
            <a:r>
              <a:rPr lang="ru-RU" altLang="ru-RU" sz="2200" b="1" dirty="0" smtClean="0"/>
              <a:t>_</a:t>
            </a:r>
            <a:r>
              <a:rPr lang="en-US" altLang="ru-RU" sz="2200" b="1" dirty="0" smtClean="0"/>
              <a:t>L</a:t>
            </a:r>
            <a:r>
              <a:rPr lang="ru-RU" altLang="ru-RU" sz="2200" b="1" dirty="0" smtClean="0"/>
              <a:t>1 и </a:t>
            </a:r>
            <a:r>
              <a:rPr lang="en-US" altLang="ru-RU" sz="2200" b="1" dirty="0" smtClean="0"/>
              <a:t>IP</a:t>
            </a:r>
            <a:r>
              <a:rPr lang="ru-RU" altLang="ru-RU" sz="2200" b="1" dirty="0" smtClean="0"/>
              <a:t>-конфигурацию на узле.</a:t>
            </a:r>
          </a:p>
          <a:p>
            <a:pPr>
              <a:lnSpc>
                <a:spcPct val="80000"/>
              </a:lnSpc>
            </a:pPr>
            <a:endParaRPr lang="ru-RU" altLang="ru-RU" sz="2200" b="1" dirty="0" smtClean="0"/>
          </a:p>
          <a:p>
            <a:pPr>
              <a:lnSpc>
                <a:spcPct val="80000"/>
              </a:lnSpc>
            </a:pPr>
            <a:r>
              <a:rPr lang="ru-RU" altLang="ru-RU" sz="2200" b="1" dirty="0" smtClean="0"/>
              <a:t>Настройте протокол маршрутизации </a:t>
            </a:r>
            <a:r>
              <a:rPr lang="en-US" altLang="ru-RU" sz="2200" b="1" dirty="0" smtClean="0"/>
              <a:t>OSPF</a:t>
            </a:r>
            <a:r>
              <a:rPr lang="ru-RU" altLang="ru-RU" sz="2200" b="1" dirty="0" smtClean="0"/>
              <a:t> в зоне 100 между маршрутизаторами </a:t>
            </a:r>
            <a:r>
              <a:rPr lang="en-US" altLang="ru-RU" sz="2200" b="1" dirty="0" smtClean="0"/>
              <a:t>R</a:t>
            </a:r>
            <a:r>
              <a:rPr lang="ru-RU" altLang="ru-RU" sz="2200" b="1" dirty="0" smtClean="0"/>
              <a:t>1 и </a:t>
            </a:r>
            <a:r>
              <a:rPr lang="en-US" altLang="ru-RU" sz="2200" b="1" dirty="0" smtClean="0"/>
              <a:t>ISP</a:t>
            </a:r>
            <a:r>
              <a:rPr lang="ru-RU" altLang="ru-RU" sz="2200" b="1" dirty="0" smtClean="0"/>
              <a:t>_</a:t>
            </a:r>
            <a:r>
              <a:rPr lang="en-US" altLang="ru-RU" sz="2200" b="1" dirty="0" smtClean="0"/>
              <a:t>L</a:t>
            </a:r>
            <a:r>
              <a:rPr lang="ru-RU" altLang="ru-RU" sz="2200" b="1" dirty="0" smtClean="0"/>
              <a:t>1. Обратите особое внимание на то, что частная сеть не должна быть видна за пределами пограничного маршрутизатора. Таким образом она не добавляется в список объявляемых сетей протокола </a:t>
            </a:r>
            <a:r>
              <a:rPr lang="en-US" altLang="ru-RU" sz="2200" b="1" dirty="0" smtClean="0"/>
              <a:t>OSPF</a:t>
            </a:r>
            <a:r>
              <a:rPr lang="ru-RU" altLang="ru-RU" sz="2200" b="1" dirty="0" smtClean="0"/>
              <a:t>.</a:t>
            </a:r>
            <a:endParaRPr lang="ru-RU" altLang="ru-RU" sz="2200" b="1" dirty="0"/>
          </a:p>
        </p:txBody>
      </p:sp>
    </p:spTree>
    <p:extLst>
      <p:ext uri="{BB962C8B-B14F-4D97-AF65-F5344CB8AC3E}">
        <p14:creationId xmlns:p14="http://schemas.microsoft.com/office/powerpoint/2010/main" val="4628460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4294967295"/>
          </p:nvPr>
        </p:nvSpPr>
        <p:spPr>
          <a:xfrm>
            <a:off x="11827805" y="234536"/>
            <a:ext cx="536275" cy="365125"/>
          </a:xfrm>
          <a:prstGeom prst="rect">
            <a:avLst/>
          </a:prstGeom>
        </p:spPr>
        <p:txBody>
          <a:bodyPr/>
          <a:lstStyle/>
          <a:p>
            <a:fld id="{865734E4-975E-4261-A54A-DEB4ADCBA110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7" name="Rectangle 14"/>
          <p:cNvSpPr txBox="1">
            <a:spLocks noChangeArrowheads="1"/>
          </p:cNvSpPr>
          <p:nvPr/>
        </p:nvSpPr>
        <p:spPr>
          <a:xfrm>
            <a:off x="491067" y="1495426"/>
            <a:ext cx="11336738" cy="471910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ru-RU" altLang="ru-RU" sz="2200" b="1" dirty="0" smtClean="0"/>
              <a:t>На маршрутизаторе R1 настройте статическое преобразование адресов для доступа к серверу S1, используя один из свободных адресов выделенной провайдером сети (65.X.0.0/29) с адресом, отличным от уже назначенного на последовательный интерфейс маршрутизатора R1.</a:t>
            </a:r>
          </a:p>
          <a:p>
            <a:pPr>
              <a:lnSpc>
                <a:spcPct val="80000"/>
              </a:lnSpc>
            </a:pPr>
            <a:endParaRPr lang="ru-RU" altLang="ru-RU" sz="2200" b="1" dirty="0" smtClean="0"/>
          </a:p>
          <a:p>
            <a:pPr marL="0" indent="0">
              <a:lnSpc>
                <a:spcPct val="80000"/>
              </a:lnSpc>
              <a:buNone/>
            </a:pPr>
            <a:r>
              <a:rPr lang="ru-RU" altLang="ru-RU" sz="2200" b="1" dirty="0" smtClean="0"/>
              <a:t>В качестве выполнения первого этапа проверьте следующую информацию:</a:t>
            </a:r>
          </a:p>
          <a:p>
            <a:pPr>
              <a:lnSpc>
                <a:spcPct val="80000"/>
              </a:lnSpc>
            </a:pPr>
            <a:r>
              <a:rPr lang="ru-RU" altLang="ru-RU" sz="2200" b="1" dirty="0" smtClean="0"/>
              <a:t>проверка взаимной достижимости между «Клиент Интернета» и сервером S1 командой </a:t>
            </a:r>
            <a:r>
              <a:rPr lang="ru-RU" altLang="ru-RU" sz="2200" b="1" dirty="0" err="1" smtClean="0"/>
              <a:t>ping</a:t>
            </a:r>
            <a:r>
              <a:rPr lang="ru-RU" altLang="ru-RU" sz="2200" b="1" dirty="0" smtClean="0"/>
              <a:t>;</a:t>
            </a:r>
          </a:p>
          <a:p>
            <a:pPr>
              <a:lnSpc>
                <a:spcPct val="80000"/>
              </a:lnSpc>
            </a:pPr>
            <a:r>
              <a:rPr lang="ru-RU" altLang="ru-RU" sz="2200" b="1" dirty="0" smtClean="0"/>
              <a:t>таблица преобразований NAT на маршрутизаторе R1;</a:t>
            </a:r>
          </a:p>
          <a:p>
            <a:pPr>
              <a:lnSpc>
                <a:spcPct val="80000"/>
              </a:lnSpc>
            </a:pPr>
            <a:r>
              <a:rPr lang="ru-RU" altLang="ru-RU" sz="2200" b="1" dirty="0" smtClean="0"/>
              <a:t>текущая конфигурация маршрутизатора R1.</a:t>
            </a: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99367" y="44447"/>
            <a:ext cx="11809312" cy="514157"/>
          </a:xfrm>
          <a:prstGeom prst="rect">
            <a:avLst/>
          </a:prstGeom>
        </p:spPr>
        <p:txBody>
          <a:bodyPr vert="horz" wrap="square" lIns="0" tIns="180000" rIns="0" bIns="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u="sng" smtClean="0">
                <a:solidFill>
                  <a:schemeClr val="tx1"/>
                </a:solidFill>
              </a:rPr>
              <a:t>Этап 1 – настройка глобального доступа к серверу 1  с помощью статического </a:t>
            </a:r>
            <a:r>
              <a:rPr lang="en-US" altLang="ru-RU" u="sng" smtClean="0">
                <a:solidFill>
                  <a:schemeClr val="tx1"/>
                </a:solidFill>
              </a:rPr>
              <a:t>NAT</a:t>
            </a:r>
            <a:endParaRPr lang="ru-RU" altLang="ru-RU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4148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4294967295"/>
          </p:nvPr>
        </p:nvSpPr>
        <p:spPr>
          <a:xfrm>
            <a:off x="11827805" y="234536"/>
            <a:ext cx="536275" cy="365125"/>
          </a:xfrm>
          <a:prstGeom prst="rect">
            <a:avLst/>
          </a:prstGeom>
        </p:spPr>
        <p:txBody>
          <a:bodyPr/>
          <a:lstStyle/>
          <a:p>
            <a:fld id="{865734E4-975E-4261-A54A-DEB4ADCBA110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7" name="Rectangle 14"/>
          <p:cNvSpPr txBox="1">
            <a:spLocks noChangeArrowheads="1"/>
          </p:cNvSpPr>
          <p:nvPr/>
        </p:nvSpPr>
        <p:spPr>
          <a:xfrm>
            <a:off x="335654" y="819150"/>
            <a:ext cx="11336738" cy="591502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ru-RU" altLang="ru-RU" sz="2200" b="1" dirty="0" smtClean="0"/>
              <a:t>Настройте сетевое оборудование в Филиале 2 используя для этого сеть 192.168.X.0/24 – рабочие места, сервер, маршрутизаторы. (X – номер по списку в журнале). Разбейте сети на подсети с использованием технологии VLSM и присвойте IP-адреса сетевым устройствам.</a:t>
            </a:r>
          </a:p>
          <a:p>
            <a:pPr>
              <a:lnSpc>
                <a:spcPct val="80000"/>
              </a:lnSpc>
            </a:pPr>
            <a:r>
              <a:rPr lang="ru-RU" altLang="ru-RU" sz="2200" b="1" dirty="0" smtClean="0"/>
              <a:t>Оператором для организации связи между R2 и ISP_L1 выделена сеть 66.X.0.0/29. Настройте 2 маршрутизатора для совместной работы.</a:t>
            </a:r>
          </a:p>
          <a:p>
            <a:pPr>
              <a:lnSpc>
                <a:spcPct val="80000"/>
              </a:lnSpc>
            </a:pPr>
            <a:r>
              <a:rPr lang="ru-RU" altLang="ru-RU" sz="2200" b="1" dirty="0" smtClean="0"/>
              <a:t>Настройте протокол маршрутизации OSPF в зоне 100 между маршрутизаторами R2 и ISP_L1. Частные сети при этом не объявляются.</a:t>
            </a:r>
          </a:p>
          <a:p>
            <a:pPr>
              <a:lnSpc>
                <a:spcPct val="80000"/>
              </a:lnSpc>
            </a:pPr>
            <a:r>
              <a:rPr lang="ru-RU" altLang="ru-RU" sz="2200" b="1" dirty="0" smtClean="0"/>
              <a:t>Настройте протокол маршрутизации OSPF в зоне 200 между маршрутизаторами R2 и R3. В данной области объявляются исключительно частные сети.</a:t>
            </a:r>
          </a:p>
          <a:p>
            <a:pPr>
              <a:lnSpc>
                <a:spcPct val="80000"/>
              </a:lnSpc>
            </a:pPr>
            <a:r>
              <a:rPr lang="ru-RU" altLang="ru-RU" sz="2200" b="1" dirty="0" smtClean="0"/>
              <a:t>Настройте статическое преобразование адресов для доступа к серверу S2, используя один из свободных адресов выделенной провайдером сети (66.X.0.0/29).</a:t>
            </a: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99367" y="44447"/>
            <a:ext cx="11809312" cy="514157"/>
          </a:xfrm>
          <a:prstGeom prst="rect">
            <a:avLst/>
          </a:prstGeom>
        </p:spPr>
        <p:txBody>
          <a:bodyPr vert="horz" wrap="square" lIns="0" tIns="180000" rIns="0" bIns="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u="sng" dirty="0">
                <a:solidFill>
                  <a:schemeClr val="tx1"/>
                </a:solidFill>
              </a:rPr>
              <a:t>Этап 2 – настройка глобального доступа к серверу 2 с использованием статического NAT </a:t>
            </a:r>
          </a:p>
        </p:txBody>
      </p:sp>
    </p:spTree>
    <p:extLst>
      <p:ext uri="{BB962C8B-B14F-4D97-AF65-F5344CB8AC3E}">
        <p14:creationId xmlns:p14="http://schemas.microsoft.com/office/powerpoint/2010/main" val="25734588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4294967295"/>
          </p:nvPr>
        </p:nvSpPr>
        <p:spPr>
          <a:xfrm>
            <a:off x="11827805" y="234536"/>
            <a:ext cx="536275" cy="365125"/>
          </a:xfrm>
          <a:prstGeom prst="rect">
            <a:avLst/>
          </a:prstGeom>
        </p:spPr>
        <p:txBody>
          <a:bodyPr/>
          <a:lstStyle/>
          <a:p>
            <a:fld id="{865734E4-975E-4261-A54A-DEB4ADCBA110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7" name="Rectangle 14"/>
          <p:cNvSpPr txBox="1">
            <a:spLocks noChangeArrowheads="1"/>
          </p:cNvSpPr>
          <p:nvPr/>
        </p:nvSpPr>
        <p:spPr>
          <a:xfrm>
            <a:off x="200025" y="1495426"/>
            <a:ext cx="11925300" cy="471910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ru-RU" altLang="ru-RU" sz="2200" b="1" dirty="0" smtClean="0"/>
              <a:t>В качестве выполнения второго этапа проверьте следующую информацию:</a:t>
            </a:r>
          </a:p>
          <a:p>
            <a:pPr>
              <a:lnSpc>
                <a:spcPct val="80000"/>
              </a:lnSpc>
            </a:pPr>
            <a:endParaRPr lang="ru-RU" altLang="ru-RU" sz="2200" b="1" dirty="0" smtClean="0"/>
          </a:p>
          <a:p>
            <a:pPr>
              <a:lnSpc>
                <a:spcPct val="80000"/>
              </a:lnSpc>
            </a:pPr>
            <a:r>
              <a:rPr lang="ru-RU" altLang="ru-RU" sz="2200" b="1" dirty="0" smtClean="0"/>
              <a:t>проверка взаимной достижимости между «Клиент Интернета» и сервером S2 командой </a:t>
            </a:r>
            <a:r>
              <a:rPr lang="ru-RU" altLang="ru-RU" sz="2200" b="1" dirty="0" err="1" smtClean="0"/>
              <a:t>ping</a:t>
            </a:r>
            <a:r>
              <a:rPr lang="ru-RU" altLang="ru-RU" sz="2200" b="1" dirty="0" smtClean="0"/>
              <a:t>;</a:t>
            </a:r>
          </a:p>
          <a:p>
            <a:pPr>
              <a:lnSpc>
                <a:spcPct val="80000"/>
              </a:lnSpc>
            </a:pPr>
            <a:r>
              <a:rPr lang="ru-RU" altLang="ru-RU" sz="2200" b="1" dirty="0" smtClean="0"/>
              <a:t>проверка взаимной достижимости между сервером S2 и рабочими станциями РГ1 и РГ2;</a:t>
            </a:r>
          </a:p>
          <a:p>
            <a:pPr>
              <a:lnSpc>
                <a:spcPct val="80000"/>
              </a:lnSpc>
            </a:pPr>
            <a:r>
              <a:rPr lang="ru-RU" altLang="ru-RU" sz="2200" b="1" dirty="0" smtClean="0"/>
              <a:t>таблица преобразований NAT на маршрутизаторе R2;</a:t>
            </a:r>
          </a:p>
          <a:p>
            <a:pPr>
              <a:lnSpc>
                <a:spcPct val="80000"/>
              </a:lnSpc>
            </a:pPr>
            <a:r>
              <a:rPr lang="ru-RU" altLang="ru-RU" sz="2200" b="1" dirty="0" smtClean="0"/>
              <a:t>текущая конфигурация маршрутизатора R2.</a:t>
            </a: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99367" y="44447"/>
            <a:ext cx="11809312" cy="514157"/>
          </a:xfrm>
          <a:prstGeom prst="rect">
            <a:avLst/>
          </a:prstGeom>
        </p:spPr>
        <p:txBody>
          <a:bodyPr vert="horz" wrap="square" lIns="0" tIns="180000" rIns="0" bIns="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u="sng" dirty="0">
                <a:solidFill>
                  <a:schemeClr val="tx1"/>
                </a:solidFill>
              </a:rPr>
              <a:t>Этап 2 – настройка глобального доступа к серверу 2 с использованием статического NAT </a:t>
            </a:r>
          </a:p>
        </p:txBody>
      </p:sp>
    </p:spTree>
    <p:extLst>
      <p:ext uri="{BB962C8B-B14F-4D97-AF65-F5344CB8AC3E}">
        <p14:creationId xmlns:p14="http://schemas.microsoft.com/office/powerpoint/2010/main" val="15319638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4294967295"/>
          </p:nvPr>
        </p:nvSpPr>
        <p:spPr>
          <a:xfrm>
            <a:off x="11827805" y="234536"/>
            <a:ext cx="536275" cy="365125"/>
          </a:xfrm>
          <a:prstGeom prst="rect">
            <a:avLst/>
          </a:prstGeom>
        </p:spPr>
        <p:txBody>
          <a:bodyPr/>
          <a:lstStyle/>
          <a:p>
            <a:fld id="{865734E4-975E-4261-A54A-DEB4ADCBA110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7" name="Rectangle 14"/>
          <p:cNvSpPr txBox="1">
            <a:spLocks noChangeArrowheads="1"/>
          </p:cNvSpPr>
          <p:nvPr/>
        </p:nvSpPr>
        <p:spPr>
          <a:xfrm>
            <a:off x="491067" y="1495426"/>
            <a:ext cx="11336738" cy="471910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ru-RU" altLang="ru-RU" sz="2200" b="1" dirty="0" smtClean="0"/>
              <a:t>Настройте доступ всех рабочих станций филиала 1 в общую сеть с использованием динамического </a:t>
            </a:r>
            <a:r>
              <a:rPr lang="en-US" altLang="ru-RU" sz="2200" b="1" dirty="0" smtClean="0"/>
              <a:t>N</a:t>
            </a:r>
            <a:r>
              <a:rPr lang="ru-RU" altLang="ru-RU" sz="2200" b="1" dirty="0" smtClean="0"/>
              <a:t>AT.</a:t>
            </a:r>
          </a:p>
          <a:p>
            <a:pPr>
              <a:lnSpc>
                <a:spcPct val="80000"/>
              </a:lnSpc>
            </a:pPr>
            <a:endParaRPr lang="ru-RU" altLang="ru-RU" sz="2200" b="1" dirty="0" smtClean="0"/>
          </a:p>
          <a:p>
            <a:pPr marL="0" indent="0">
              <a:lnSpc>
                <a:spcPct val="80000"/>
              </a:lnSpc>
              <a:buNone/>
            </a:pPr>
            <a:r>
              <a:rPr lang="ru-RU" altLang="ru-RU" sz="2200" b="1" dirty="0" smtClean="0"/>
              <a:t>В качестве выполнения третьего этапа проверьте следующую информацию:</a:t>
            </a:r>
          </a:p>
          <a:p>
            <a:pPr>
              <a:lnSpc>
                <a:spcPct val="80000"/>
              </a:lnSpc>
            </a:pPr>
            <a:r>
              <a:rPr lang="ru-RU" altLang="ru-RU" sz="2200" b="1" dirty="0" smtClean="0"/>
              <a:t>непустая таблица преобразований NAT на маршрутизаторе R1;</a:t>
            </a:r>
          </a:p>
          <a:p>
            <a:pPr>
              <a:lnSpc>
                <a:spcPct val="80000"/>
              </a:lnSpc>
            </a:pPr>
            <a:r>
              <a:rPr lang="ru-RU" altLang="ru-RU" sz="2200" b="1" dirty="0" smtClean="0"/>
              <a:t>текущая конфигурация маршрутизатора R1.</a:t>
            </a: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99367" y="44447"/>
            <a:ext cx="11809312" cy="514157"/>
          </a:xfrm>
          <a:prstGeom prst="rect">
            <a:avLst/>
          </a:prstGeom>
        </p:spPr>
        <p:txBody>
          <a:bodyPr vert="horz" wrap="square" lIns="0" tIns="180000" rIns="0" bIns="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u="sng" dirty="0">
                <a:solidFill>
                  <a:schemeClr val="tx1"/>
                </a:solidFill>
              </a:rPr>
              <a:t>Этап 3 – настройка доступа в Интернет из Филиала 1 с использованием </a:t>
            </a:r>
            <a:r>
              <a:rPr lang="en-US" altLang="ru-RU" u="sng" dirty="0" smtClean="0">
                <a:solidFill>
                  <a:schemeClr val="tx1"/>
                </a:solidFill>
              </a:rPr>
              <a:t>N</a:t>
            </a:r>
            <a:r>
              <a:rPr lang="ru-RU" altLang="ru-RU" u="sng" dirty="0" smtClean="0">
                <a:solidFill>
                  <a:schemeClr val="tx1"/>
                </a:solidFill>
              </a:rPr>
              <a:t>AT</a:t>
            </a:r>
            <a:endParaRPr lang="ru-RU" altLang="ru-RU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69414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4294967295"/>
          </p:nvPr>
        </p:nvSpPr>
        <p:spPr>
          <a:xfrm>
            <a:off x="11827805" y="234536"/>
            <a:ext cx="536275" cy="365125"/>
          </a:xfrm>
          <a:prstGeom prst="rect">
            <a:avLst/>
          </a:prstGeom>
        </p:spPr>
        <p:txBody>
          <a:bodyPr/>
          <a:lstStyle/>
          <a:p>
            <a:fld id="{865734E4-975E-4261-A54A-DEB4ADCBA110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7" name="Rectangle 14"/>
          <p:cNvSpPr txBox="1">
            <a:spLocks noChangeArrowheads="1"/>
          </p:cNvSpPr>
          <p:nvPr/>
        </p:nvSpPr>
        <p:spPr>
          <a:xfrm>
            <a:off x="491067" y="885826"/>
            <a:ext cx="11336738" cy="471910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ru-RU" altLang="ru-RU" sz="2200" b="1" dirty="0" smtClean="0"/>
              <a:t>Настройте доступ всех рабочих станций филиала </a:t>
            </a:r>
            <a:r>
              <a:rPr lang="en-US" altLang="ru-RU" sz="2200" b="1" dirty="0" smtClean="0"/>
              <a:t>2</a:t>
            </a:r>
            <a:r>
              <a:rPr lang="ru-RU" altLang="ru-RU" sz="2200" b="1" dirty="0" smtClean="0"/>
              <a:t> в общую сеть с использованием динамического </a:t>
            </a:r>
            <a:r>
              <a:rPr lang="en-US" altLang="ru-RU" sz="2200" b="1" dirty="0"/>
              <a:t>P</a:t>
            </a:r>
            <a:r>
              <a:rPr lang="ru-RU" altLang="ru-RU" sz="2200" b="1" dirty="0" smtClean="0"/>
              <a:t>AT.</a:t>
            </a:r>
            <a:endParaRPr lang="en-US" altLang="ru-RU" sz="2200" b="1" dirty="0" smtClean="0"/>
          </a:p>
          <a:p>
            <a:pPr>
              <a:lnSpc>
                <a:spcPct val="80000"/>
              </a:lnSpc>
            </a:pPr>
            <a:r>
              <a:rPr lang="ru-RU" altLang="ru-RU" sz="2200" b="1" dirty="0" smtClean="0"/>
              <a:t>Запретите доступ </a:t>
            </a:r>
            <a:r>
              <a:rPr lang="ru-RU" altLang="ru-RU" sz="2200" b="1" dirty="0" smtClean="0"/>
              <a:t>станции </a:t>
            </a:r>
            <a:r>
              <a:rPr lang="ru-RU" altLang="ru-RU" sz="2200" b="1" dirty="0" smtClean="0"/>
              <a:t>РГ1 филиала 2 в общую </a:t>
            </a:r>
            <a:r>
              <a:rPr lang="ru-RU" altLang="ru-RU" sz="2200" b="1" dirty="0" smtClean="0"/>
              <a:t>сеть (Интернет) </a:t>
            </a:r>
            <a:r>
              <a:rPr lang="ru-RU" altLang="ru-RU" sz="2200" b="1" dirty="0" smtClean="0"/>
              <a:t>с использованием ACL.</a:t>
            </a:r>
          </a:p>
          <a:p>
            <a:pPr>
              <a:lnSpc>
                <a:spcPct val="80000"/>
              </a:lnSpc>
            </a:pPr>
            <a:r>
              <a:rPr lang="ru-RU" altLang="ru-RU" sz="2200" b="1" dirty="0" smtClean="0"/>
              <a:t>Обратите внимание, что на маршрутизаторе R3 отсутствует информация о глобальных сетях (они расположены в другой зоне OSPF). Исправьте данную ситуацию при помощи маршрута по умолчанию</a:t>
            </a:r>
          </a:p>
          <a:p>
            <a:pPr>
              <a:lnSpc>
                <a:spcPct val="80000"/>
              </a:lnSpc>
            </a:pPr>
            <a:r>
              <a:rPr lang="ru-RU" altLang="ru-RU" sz="2200" b="1" dirty="0" smtClean="0"/>
              <a:t>Настройте интерфейсы  и  протокол маршрутизации </a:t>
            </a:r>
            <a:r>
              <a:rPr lang="en-US" altLang="ru-RU" sz="2200" b="1" dirty="0" smtClean="0"/>
              <a:t>OSPF</a:t>
            </a:r>
            <a:r>
              <a:rPr lang="ru-RU" altLang="ru-RU" sz="2200" b="1" dirty="0" smtClean="0"/>
              <a:t> в зоне 100 между маршрутизаторами </a:t>
            </a:r>
            <a:r>
              <a:rPr lang="en-US" altLang="ru-RU" sz="2200" b="1" dirty="0" smtClean="0"/>
              <a:t>ISP</a:t>
            </a:r>
            <a:r>
              <a:rPr lang="ru-RU" altLang="ru-RU" sz="2200" b="1" dirty="0" smtClean="0"/>
              <a:t>_</a:t>
            </a:r>
            <a:r>
              <a:rPr lang="en-US" altLang="ru-RU" sz="2200" b="1" dirty="0" smtClean="0"/>
              <a:t>L</a:t>
            </a:r>
            <a:r>
              <a:rPr lang="ru-RU" altLang="ru-RU" sz="2200" b="1" dirty="0" smtClean="0"/>
              <a:t>2 и </a:t>
            </a:r>
            <a:r>
              <a:rPr lang="en-US" altLang="ru-RU" sz="2200" b="1" dirty="0" smtClean="0"/>
              <a:t>ISP</a:t>
            </a:r>
            <a:r>
              <a:rPr lang="ru-RU" altLang="ru-RU" sz="2200" b="1" dirty="0" smtClean="0"/>
              <a:t>_</a:t>
            </a:r>
            <a:r>
              <a:rPr lang="en-US" altLang="ru-RU" sz="2200" b="1" dirty="0" smtClean="0"/>
              <a:t>L</a:t>
            </a:r>
            <a:r>
              <a:rPr lang="ru-RU" altLang="ru-RU" sz="2200" b="1" dirty="0" smtClean="0"/>
              <a:t>1, а также в сторону сервера </a:t>
            </a:r>
            <a:r>
              <a:rPr lang="ru-RU" altLang="ru-RU" sz="2000" b="1" dirty="0" smtClean="0"/>
              <a:t>«</a:t>
            </a:r>
            <a:r>
              <a:rPr lang="en-US" sz="2000" b="1" dirty="0" smtClean="0">
                <a:effectLst/>
              </a:rPr>
              <a:t>Yandex.ru</a:t>
            </a:r>
            <a:r>
              <a:rPr lang="ru-RU" sz="2000" b="1" dirty="0" smtClean="0">
                <a:effectLst/>
              </a:rPr>
              <a:t>».</a:t>
            </a:r>
            <a:endParaRPr lang="ru-RU" altLang="ru-RU" sz="2000" b="1" dirty="0" smtClean="0"/>
          </a:p>
          <a:p>
            <a:pPr>
              <a:lnSpc>
                <a:spcPct val="80000"/>
              </a:lnSpc>
            </a:pPr>
            <a:r>
              <a:rPr lang="ru-RU" altLang="ru-RU" sz="2200" b="1" dirty="0" smtClean="0"/>
              <a:t>Настройте взаимодействие</a:t>
            </a:r>
            <a:r>
              <a:rPr lang="ru-RU" sz="2400" b="1" dirty="0" smtClean="0">
                <a:effectLst/>
              </a:rPr>
              <a:t> </a:t>
            </a:r>
            <a:r>
              <a:rPr lang="ru-RU" altLang="ru-RU" sz="2200" b="1" dirty="0" smtClean="0"/>
              <a:t>«Клиент Интернета» и клиентов Филиалов с сервером «</a:t>
            </a:r>
            <a:r>
              <a:rPr lang="en-US" sz="2400" b="1" dirty="0" smtClean="0">
                <a:effectLst/>
              </a:rPr>
              <a:t>Yandex.ru</a:t>
            </a:r>
            <a:r>
              <a:rPr lang="ru-RU" sz="2400" b="1" dirty="0" smtClean="0">
                <a:effectLst/>
              </a:rPr>
              <a:t>».</a:t>
            </a:r>
            <a:endParaRPr lang="ru-RU" altLang="ru-RU" sz="2200" b="1" dirty="0" smtClean="0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99367" y="44447"/>
            <a:ext cx="11809312" cy="514157"/>
          </a:xfrm>
          <a:prstGeom prst="rect">
            <a:avLst/>
          </a:prstGeom>
        </p:spPr>
        <p:txBody>
          <a:bodyPr vert="horz" wrap="square" lIns="0" tIns="180000" rIns="0" bIns="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u="sng" dirty="0">
                <a:solidFill>
                  <a:schemeClr val="tx1"/>
                </a:solidFill>
              </a:rPr>
              <a:t>Этап </a:t>
            </a:r>
            <a:r>
              <a:rPr lang="en-US" altLang="ru-RU" u="sng" dirty="0" smtClean="0">
                <a:solidFill>
                  <a:schemeClr val="tx1"/>
                </a:solidFill>
              </a:rPr>
              <a:t>4</a:t>
            </a:r>
            <a:r>
              <a:rPr lang="ru-RU" altLang="ru-RU" u="sng" dirty="0" smtClean="0">
                <a:solidFill>
                  <a:schemeClr val="tx1"/>
                </a:solidFill>
              </a:rPr>
              <a:t> </a:t>
            </a:r>
            <a:r>
              <a:rPr lang="ru-RU" altLang="ru-RU" u="sng" dirty="0">
                <a:solidFill>
                  <a:schemeClr val="tx1"/>
                </a:solidFill>
              </a:rPr>
              <a:t>– настройка доступа в Интернет из Филиала </a:t>
            </a:r>
            <a:r>
              <a:rPr lang="en-US" altLang="ru-RU" u="sng" dirty="0" smtClean="0">
                <a:solidFill>
                  <a:schemeClr val="tx1"/>
                </a:solidFill>
              </a:rPr>
              <a:t>2</a:t>
            </a:r>
            <a:r>
              <a:rPr lang="ru-RU" altLang="ru-RU" u="sng" dirty="0" smtClean="0">
                <a:solidFill>
                  <a:schemeClr val="tx1"/>
                </a:solidFill>
              </a:rPr>
              <a:t> </a:t>
            </a:r>
            <a:r>
              <a:rPr lang="ru-RU" altLang="ru-RU" u="sng" dirty="0">
                <a:solidFill>
                  <a:schemeClr val="tx1"/>
                </a:solidFill>
              </a:rPr>
              <a:t>с использованием PAT</a:t>
            </a:r>
          </a:p>
        </p:txBody>
      </p:sp>
    </p:spTree>
    <p:extLst>
      <p:ext uri="{BB962C8B-B14F-4D97-AF65-F5344CB8AC3E}">
        <p14:creationId xmlns:p14="http://schemas.microsoft.com/office/powerpoint/2010/main" val="30864294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4294967295"/>
          </p:nvPr>
        </p:nvSpPr>
        <p:spPr>
          <a:xfrm>
            <a:off x="11827805" y="234536"/>
            <a:ext cx="536275" cy="365125"/>
          </a:xfrm>
          <a:prstGeom prst="rect">
            <a:avLst/>
          </a:prstGeom>
        </p:spPr>
        <p:txBody>
          <a:bodyPr/>
          <a:lstStyle/>
          <a:p>
            <a:fld id="{865734E4-975E-4261-A54A-DEB4ADCBA110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7" name="Rectangle 14"/>
          <p:cNvSpPr txBox="1">
            <a:spLocks noChangeArrowheads="1"/>
          </p:cNvSpPr>
          <p:nvPr/>
        </p:nvSpPr>
        <p:spPr>
          <a:xfrm>
            <a:off x="491067" y="1847851"/>
            <a:ext cx="11336738" cy="471910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ru-RU" altLang="ru-RU" sz="2200" b="1" dirty="0" smtClean="0"/>
              <a:t>В качестве выполнения четвертого этапа проверьте следующую информацию:</a:t>
            </a:r>
          </a:p>
          <a:p>
            <a:pPr>
              <a:lnSpc>
                <a:spcPct val="80000"/>
              </a:lnSpc>
            </a:pPr>
            <a:r>
              <a:rPr lang="ru-RU" altLang="ru-RU" sz="2200" b="1" dirty="0" smtClean="0"/>
              <a:t> проверка взаимной достижимости между РГ1 и сервером S2 командой </a:t>
            </a:r>
            <a:r>
              <a:rPr lang="ru-RU" altLang="ru-RU" sz="2200" b="1" dirty="0" err="1" smtClean="0"/>
              <a:t>ping</a:t>
            </a:r>
            <a:r>
              <a:rPr lang="ru-RU" altLang="ru-RU" sz="2200" b="1" dirty="0" smtClean="0"/>
              <a:t>;</a:t>
            </a:r>
          </a:p>
          <a:p>
            <a:pPr>
              <a:lnSpc>
                <a:spcPct val="80000"/>
              </a:lnSpc>
            </a:pPr>
            <a:r>
              <a:rPr lang="ru-RU" altLang="ru-RU" sz="2200" b="1" dirty="0" smtClean="0"/>
              <a:t>проверка взаимной достижимости между компьютерами филиала 1 и сервером S2 командой </a:t>
            </a:r>
            <a:r>
              <a:rPr lang="ru-RU" altLang="ru-RU" sz="2200" b="1" dirty="0" err="1" smtClean="0"/>
              <a:t>ping</a:t>
            </a:r>
            <a:r>
              <a:rPr lang="ru-RU" altLang="ru-RU" sz="2200" b="1" dirty="0" smtClean="0"/>
              <a:t>;</a:t>
            </a:r>
          </a:p>
          <a:p>
            <a:pPr>
              <a:lnSpc>
                <a:spcPct val="80000"/>
              </a:lnSpc>
            </a:pPr>
            <a:r>
              <a:rPr lang="ru-RU" altLang="ru-RU" sz="2200" b="1" dirty="0" smtClean="0"/>
              <a:t>таблица преобразований NAT на маршрутизаторе R2;</a:t>
            </a:r>
          </a:p>
          <a:p>
            <a:pPr>
              <a:lnSpc>
                <a:spcPct val="80000"/>
              </a:lnSpc>
            </a:pPr>
            <a:r>
              <a:rPr lang="ru-RU" altLang="ru-RU" sz="2200" b="1" dirty="0" smtClean="0"/>
              <a:t>текущая конфигурация маршрутизатора R2, R3;</a:t>
            </a:r>
          </a:p>
          <a:p>
            <a:pPr>
              <a:lnSpc>
                <a:spcPct val="80000"/>
              </a:lnSpc>
            </a:pPr>
            <a:r>
              <a:rPr lang="ru-RU" altLang="ru-RU" sz="2200" b="1" dirty="0" smtClean="0"/>
              <a:t>Сервер </a:t>
            </a:r>
            <a:r>
              <a:rPr lang="ru-RU" altLang="ru-RU" sz="2000" b="1" dirty="0" smtClean="0"/>
              <a:t>«</a:t>
            </a:r>
            <a:r>
              <a:rPr lang="en-US" sz="2000" b="1" dirty="0" smtClean="0">
                <a:effectLst/>
              </a:rPr>
              <a:t>Yandex.ru</a:t>
            </a:r>
            <a:r>
              <a:rPr lang="ru-RU" sz="2000" b="1" dirty="0" smtClean="0">
                <a:effectLst/>
              </a:rPr>
              <a:t>» достижим из филиалов</a:t>
            </a:r>
            <a:r>
              <a:rPr lang="ru-RU" altLang="ru-RU" sz="2200" b="1" dirty="0" smtClean="0"/>
              <a:t>.</a:t>
            </a: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99367" y="44447"/>
            <a:ext cx="11809312" cy="514157"/>
          </a:xfrm>
          <a:prstGeom prst="rect">
            <a:avLst/>
          </a:prstGeom>
        </p:spPr>
        <p:txBody>
          <a:bodyPr vert="horz" wrap="square" lIns="0" tIns="180000" rIns="0" bIns="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u="sng" dirty="0">
                <a:solidFill>
                  <a:schemeClr val="tx1"/>
                </a:solidFill>
              </a:rPr>
              <a:t>Этап </a:t>
            </a:r>
            <a:r>
              <a:rPr lang="en-US" altLang="ru-RU" u="sng" dirty="0" smtClean="0">
                <a:solidFill>
                  <a:schemeClr val="tx1"/>
                </a:solidFill>
              </a:rPr>
              <a:t>4</a:t>
            </a:r>
            <a:r>
              <a:rPr lang="ru-RU" altLang="ru-RU" u="sng" dirty="0" smtClean="0">
                <a:solidFill>
                  <a:schemeClr val="tx1"/>
                </a:solidFill>
              </a:rPr>
              <a:t> </a:t>
            </a:r>
            <a:r>
              <a:rPr lang="ru-RU" altLang="ru-RU" u="sng" dirty="0">
                <a:solidFill>
                  <a:schemeClr val="tx1"/>
                </a:solidFill>
              </a:rPr>
              <a:t>– настройка доступа в Интернет из Филиала </a:t>
            </a:r>
            <a:r>
              <a:rPr lang="en-US" altLang="ru-RU" u="sng" dirty="0" smtClean="0">
                <a:solidFill>
                  <a:schemeClr val="tx1"/>
                </a:solidFill>
              </a:rPr>
              <a:t>2</a:t>
            </a:r>
            <a:r>
              <a:rPr lang="ru-RU" altLang="ru-RU" u="sng" dirty="0" smtClean="0">
                <a:solidFill>
                  <a:schemeClr val="tx1"/>
                </a:solidFill>
              </a:rPr>
              <a:t> </a:t>
            </a:r>
            <a:r>
              <a:rPr lang="ru-RU" altLang="ru-RU" u="sng" dirty="0">
                <a:solidFill>
                  <a:schemeClr val="tx1"/>
                </a:solidFill>
              </a:rPr>
              <a:t>с использованием PAT</a:t>
            </a:r>
          </a:p>
        </p:txBody>
      </p:sp>
    </p:spTree>
    <p:extLst>
      <p:ext uri="{BB962C8B-B14F-4D97-AF65-F5344CB8AC3E}">
        <p14:creationId xmlns:p14="http://schemas.microsoft.com/office/powerpoint/2010/main" val="29073839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4294967295"/>
          </p:nvPr>
        </p:nvSpPr>
        <p:spPr>
          <a:xfrm>
            <a:off x="11827805" y="234536"/>
            <a:ext cx="536275" cy="365125"/>
          </a:xfrm>
          <a:prstGeom prst="rect">
            <a:avLst/>
          </a:prstGeom>
        </p:spPr>
        <p:txBody>
          <a:bodyPr/>
          <a:lstStyle/>
          <a:p>
            <a:fld id="{865734E4-975E-4261-A54A-DEB4ADCBA110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156517" y="-77942"/>
            <a:ext cx="11809312" cy="624956"/>
          </a:xfrm>
        </p:spPr>
        <p:txBody>
          <a:bodyPr/>
          <a:lstStyle/>
          <a:p>
            <a:r>
              <a:rPr lang="ru-RU" altLang="ru-RU" sz="3200" dirty="0">
                <a:solidFill>
                  <a:schemeClr val="tx1"/>
                </a:solidFill>
              </a:rPr>
              <a:t>Исходные данные</a:t>
            </a:r>
          </a:p>
        </p:txBody>
      </p:sp>
      <p:sp>
        <p:nvSpPr>
          <p:cNvPr id="8" name="Rectangle 14"/>
          <p:cNvSpPr txBox="1">
            <a:spLocks noChangeArrowheads="1"/>
          </p:cNvSpPr>
          <p:nvPr/>
        </p:nvSpPr>
        <p:spPr>
          <a:xfrm>
            <a:off x="1276448" y="1346201"/>
            <a:ext cx="9569450" cy="40777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altLang="ru-RU" sz="5400" b="1" dirty="0" smtClean="0"/>
              <a:t>Задание </a:t>
            </a:r>
            <a:r>
              <a:rPr lang="en-US" altLang="ru-RU" sz="5400" b="1" dirty="0" smtClean="0"/>
              <a:t>2</a:t>
            </a:r>
          </a:p>
          <a:p>
            <a:pPr marL="0" indent="0" algn="ctr">
              <a:buNone/>
            </a:pPr>
            <a:endParaRPr lang="ru-RU" altLang="ru-RU" sz="5400" b="1" dirty="0" smtClean="0"/>
          </a:p>
          <a:p>
            <a:pPr marL="0" indent="0" algn="ctr">
              <a:buNone/>
            </a:pPr>
            <a:r>
              <a:rPr lang="ru-RU" altLang="ru-RU" sz="5400" b="1" dirty="0" smtClean="0"/>
              <a:t>Настройка</a:t>
            </a:r>
            <a:r>
              <a:rPr lang="en-US" altLang="ru-RU" sz="5400" b="1" dirty="0" smtClean="0"/>
              <a:t> GRE </a:t>
            </a:r>
            <a:r>
              <a:rPr lang="ru-RU" altLang="ru-RU" sz="5400" b="1" dirty="0" smtClean="0"/>
              <a:t>туннелей </a:t>
            </a:r>
            <a:endParaRPr lang="ru-RU" altLang="ru-RU" sz="5400" b="1" dirty="0"/>
          </a:p>
        </p:txBody>
      </p:sp>
    </p:spTree>
    <p:extLst>
      <p:ext uri="{BB962C8B-B14F-4D97-AF65-F5344CB8AC3E}">
        <p14:creationId xmlns:p14="http://schemas.microsoft.com/office/powerpoint/2010/main" val="1684845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4294967295"/>
          </p:nvPr>
        </p:nvSpPr>
        <p:spPr>
          <a:xfrm>
            <a:off x="11827805" y="234536"/>
            <a:ext cx="536275" cy="365125"/>
          </a:xfrm>
          <a:prstGeom prst="rect">
            <a:avLst/>
          </a:prstGeom>
        </p:spPr>
        <p:txBody>
          <a:bodyPr/>
          <a:lstStyle/>
          <a:p>
            <a:fld id="{865734E4-975E-4261-A54A-DEB4ADCBA110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7" name="Rectangle 14"/>
          <p:cNvSpPr txBox="1">
            <a:spLocks noChangeArrowheads="1"/>
          </p:cNvSpPr>
          <p:nvPr/>
        </p:nvSpPr>
        <p:spPr>
          <a:xfrm>
            <a:off x="491067" y="962026"/>
            <a:ext cx="11336738" cy="471910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ru-RU" altLang="ru-RU" sz="2200" b="1" dirty="0" smtClean="0"/>
              <a:t>В </a:t>
            </a:r>
            <a:r>
              <a:rPr lang="ru-RU" altLang="ru-RU" sz="2200" b="1" dirty="0" smtClean="0"/>
              <a:t>Филиале 2 разворачиваются Ситуационные центры отдела МЧС (СЦ МЧС1 и 2), </a:t>
            </a:r>
            <a:r>
              <a:rPr lang="ru-RU" altLang="ru-RU" sz="2200" b="1" dirty="0" smtClean="0"/>
              <a:t>состоящий из маршрутизатора, коммутатора и </a:t>
            </a:r>
            <a:r>
              <a:rPr lang="ru-RU" altLang="ru-RU" sz="2200" b="1" dirty="0" smtClean="0"/>
              <a:t>трех </a:t>
            </a:r>
            <a:r>
              <a:rPr lang="ru-RU" altLang="ru-RU" sz="2200" b="1" dirty="0" smtClean="0"/>
              <a:t>автоматизированных </a:t>
            </a:r>
            <a:r>
              <a:rPr lang="ru-RU" altLang="ru-RU" sz="2200" b="1" dirty="0" smtClean="0"/>
              <a:t>рабочих мест (АРМ). Необходимо выполнить настройку оборудования в каждом </a:t>
            </a:r>
            <a:r>
              <a:rPr lang="ru-RU" altLang="ru-RU" sz="2200" b="1" dirty="0" smtClean="0"/>
              <a:t>СЦ МЧС:</a:t>
            </a:r>
            <a:endParaRPr lang="ru-RU" altLang="ru-RU" sz="2200" b="1" dirty="0" smtClean="0"/>
          </a:p>
          <a:p>
            <a:pPr marL="0" indent="0">
              <a:lnSpc>
                <a:spcPct val="80000"/>
              </a:lnSpc>
              <a:buNone/>
            </a:pPr>
            <a:endParaRPr lang="ru-RU" altLang="ru-RU" sz="2200" b="1" dirty="0" smtClean="0"/>
          </a:p>
          <a:p>
            <a:pPr marL="0" indent="0">
              <a:lnSpc>
                <a:spcPct val="80000"/>
              </a:lnSpc>
              <a:buNone/>
            </a:pPr>
            <a:r>
              <a:rPr lang="ru-RU" altLang="ru-RU" sz="2200" b="1" u="sng" dirty="0" smtClean="0"/>
              <a:t>НАСТРОЙКИ ПРОИЗВОДЯТСЯ ТОЬКО НА ОБОРУДОВАНИИ  СИТУАЦИОННЫХ ЦЕНТРОВ!!!</a:t>
            </a:r>
          </a:p>
          <a:p>
            <a:pPr marL="0" indent="0">
              <a:lnSpc>
                <a:spcPct val="80000"/>
              </a:lnSpc>
              <a:buNone/>
            </a:pPr>
            <a:endParaRPr lang="ru-RU" altLang="ru-RU" sz="2200" b="1" u="sng" dirty="0" smtClean="0"/>
          </a:p>
          <a:p>
            <a:pPr marL="0" indent="0">
              <a:lnSpc>
                <a:spcPct val="80000"/>
              </a:lnSpc>
              <a:buNone/>
            </a:pPr>
            <a:r>
              <a:rPr lang="ru-RU" altLang="ru-RU" sz="2200" b="1" dirty="0" smtClean="0"/>
              <a:t>1. Адресация </a:t>
            </a:r>
            <a:r>
              <a:rPr lang="ru-RU" altLang="ru-RU" sz="2200" b="1" dirty="0" smtClean="0"/>
              <a:t>СЦ1-95.1.Y.0, 95.2.Y.0</a:t>
            </a:r>
            <a:r>
              <a:rPr lang="ru-RU" altLang="ru-RU" sz="2200" b="1" dirty="0" smtClean="0"/>
              <a:t>, 95.3.</a:t>
            </a:r>
            <a:r>
              <a:rPr lang="en-US" altLang="ru-RU" sz="2200" b="1" dirty="0" smtClean="0"/>
              <a:t>Y</a:t>
            </a:r>
            <a:r>
              <a:rPr lang="ru-RU" altLang="ru-RU" sz="2200" b="1" dirty="0" smtClean="0"/>
              <a:t>.0;  </a:t>
            </a:r>
            <a:r>
              <a:rPr lang="ru-RU" altLang="ru-RU" sz="2200" b="1" dirty="0" smtClean="0"/>
              <a:t>СЦ2-96.1.Y.0, 96.2.Y.0</a:t>
            </a:r>
            <a:r>
              <a:rPr lang="ru-RU" altLang="ru-RU" sz="2200" b="1" dirty="0"/>
              <a:t>, </a:t>
            </a:r>
            <a:r>
              <a:rPr lang="ru-RU" altLang="ru-RU" sz="2200" b="1" dirty="0" smtClean="0"/>
              <a:t>96.3.Y.0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ru-RU" altLang="ru-RU" sz="2200" b="1" dirty="0" smtClean="0"/>
              <a:t>(где </a:t>
            </a:r>
            <a:r>
              <a:rPr lang="ru-RU" altLang="ru-RU" sz="2200" b="1" dirty="0" smtClean="0"/>
              <a:t>Y–номер по списку в журнале);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ru-RU" altLang="ru-RU" sz="2200" b="1" dirty="0" smtClean="0"/>
              <a:t>2. Создаются три VLAN</a:t>
            </a:r>
            <a:r>
              <a:rPr lang="ru-RU" altLang="ru-RU" sz="2200" b="1" dirty="0" smtClean="0"/>
              <a:t>, по одному для каждого АРМ;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ru-RU" altLang="ru-RU" sz="2200" b="1" dirty="0" smtClean="0"/>
              <a:t>3. Протокол </a:t>
            </a:r>
            <a:r>
              <a:rPr lang="ru-RU" altLang="ru-RU" sz="2200" b="1" dirty="0" smtClean="0"/>
              <a:t>маршрутизации RIPv2;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ru-RU" altLang="ru-RU" sz="2200" b="1" dirty="0" smtClean="0"/>
              <a:t>4. Организовать </a:t>
            </a:r>
            <a:r>
              <a:rPr lang="ru-RU" altLang="ru-RU" sz="2200" b="1" dirty="0" smtClean="0"/>
              <a:t>туннель GRE между СЦ</a:t>
            </a:r>
            <a:r>
              <a:rPr lang="ru-RU" altLang="ru-RU" sz="2200" b="1" dirty="0" smtClean="0"/>
              <a:t>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ru-RU" altLang="ru-RU" sz="2200" b="1" dirty="0" smtClean="0"/>
              <a:t>5. Только АРМы Интернета из СЦ имеют доступ в интернет (</a:t>
            </a:r>
            <a:r>
              <a:rPr lang="ru-RU" altLang="ru-RU" sz="2400" b="1" dirty="0"/>
              <a:t>Сервер «</a:t>
            </a:r>
            <a:r>
              <a:rPr lang="en-US" sz="2400" b="1" dirty="0"/>
              <a:t>Yandex.ru</a:t>
            </a:r>
            <a:r>
              <a:rPr lang="ru-RU" sz="2400" b="1" dirty="0" smtClean="0"/>
              <a:t>»</a:t>
            </a:r>
            <a:r>
              <a:rPr lang="ru-RU" altLang="ru-RU" sz="2200" b="1" dirty="0" smtClean="0"/>
              <a:t>). </a:t>
            </a:r>
            <a:endParaRPr lang="ru-RU" altLang="ru-RU" sz="2200" b="1" dirty="0" smtClean="0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99367" y="44447"/>
            <a:ext cx="11809312" cy="514157"/>
          </a:xfrm>
          <a:prstGeom prst="rect">
            <a:avLst/>
          </a:prstGeom>
        </p:spPr>
        <p:txBody>
          <a:bodyPr vert="horz" wrap="square" lIns="0" tIns="180000" rIns="0" bIns="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u="sng" dirty="0" smtClean="0">
                <a:solidFill>
                  <a:schemeClr val="tx1"/>
                </a:solidFill>
              </a:rPr>
              <a:t>Задание 2 – </a:t>
            </a:r>
            <a:r>
              <a:rPr lang="ru-RU" altLang="ru-RU" u="sng" dirty="0">
                <a:solidFill>
                  <a:schemeClr val="tx1"/>
                </a:solidFill>
              </a:rPr>
              <a:t>настройка </a:t>
            </a:r>
            <a:r>
              <a:rPr lang="en-US" altLang="ru-RU" u="sng" dirty="0" smtClean="0">
                <a:solidFill>
                  <a:schemeClr val="tx1"/>
                </a:solidFill>
              </a:rPr>
              <a:t>GRE</a:t>
            </a:r>
            <a:r>
              <a:rPr lang="ru-RU" altLang="ru-RU" u="sng" dirty="0" smtClean="0">
                <a:solidFill>
                  <a:schemeClr val="tx1"/>
                </a:solidFill>
              </a:rPr>
              <a:t> туннелей</a:t>
            </a:r>
            <a:endParaRPr lang="ru-RU" altLang="ru-RU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63831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4294967295"/>
          </p:nvPr>
        </p:nvSpPr>
        <p:spPr>
          <a:xfrm>
            <a:off x="11827805" y="234536"/>
            <a:ext cx="536275" cy="365125"/>
          </a:xfrm>
          <a:prstGeom prst="rect">
            <a:avLst/>
          </a:prstGeom>
        </p:spPr>
        <p:txBody>
          <a:bodyPr/>
          <a:lstStyle/>
          <a:p>
            <a:fld id="{865734E4-975E-4261-A54A-DEB4ADCBA110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7" name="Rectangle 14"/>
          <p:cNvSpPr txBox="1">
            <a:spLocks noChangeArrowheads="1"/>
          </p:cNvSpPr>
          <p:nvPr/>
        </p:nvSpPr>
        <p:spPr>
          <a:xfrm>
            <a:off x="491067" y="1847851"/>
            <a:ext cx="11336738" cy="471910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ru-RU" altLang="ru-RU" sz="2200" b="1" dirty="0" smtClean="0"/>
              <a:t>В качестве выполнения </a:t>
            </a:r>
            <a:r>
              <a:rPr lang="ru-RU" altLang="ru-RU" sz="2200" b="1" dirty="0" smtClean="0"/>
              <a:t>Задания 2 проверьте </a:t>
            </a:r>
            <a:r>
              <a:rPr lang="ru-RU" altLang="ru-RU" sz="2200" b="1" dirty="0" smtClean="0"/>
              <a:t>следующую информацию:</a:t>
            </a:r>
          </a:p>
          <a:p>
            <a:pPr>
              <a:lnSpc>
                <a:spcPct val="80000"/>
              </a:lnSpc>
            </a:pPr>
            <a:r>
              <a:rPr lang="ru-RU" altLang="ru-RU" sz="2200" b="1" dirty="0" smtClean="0"/>
              <a:t>АРМы </a:t>
            </a:r>
            <a:r>
              <a:rPr lang="ru-RU" altLang="ru-RU" sz="2200" b="1" dirty="0"/>
              <a:t>Интернета СЦ имеют доступ в интернет (</a:t>
            </a:r>
            <a:r>
              <a:rPr lang="ru-RU" altLang="ru-RU" sz="2400" b="1" dirty="0"/>
              <a:t>Сервер «</a:t>
            </a:r>
            <a:r>
              <a:rPr lang="en-US" sz="2400" b="1" dirty="0"/>
              <a:t>Yandex.ru</a:t>
            </a:r>
            <a:r>
              <a:rPr lang="ru-RU" sz="2400" b="1" dirty="0"/>
              <a:t>»</a:t>
            </a:r>
            <a:r>
              <a:rPr lang="ru-RU" altLang="ru-RU" sz="2200" b="1" dirty="0"/>
              <a:t>). </a:t>
            </a:r>
          </a:p>
          <a:p>
            <a:pPr>
              <a:lnSpc>
                <a:spcPct val="80000"/>
              </a:lnSpc>
            </a:pPr>
            <a:r>
              <a:rPr lang="ru-RU" altLang="ru-RU" sz="2200" b="1" dirty="0" smtClean="0"/>
              <a:t>АРМы </a:t>
            </a:r>
            <a:r>
              <a:rPr lang="ru-RU" altLang="ru-RU" sz="2200" b="1" dirty="0"/>
              <a:t>СЦ должны быть взаимно </a:t>
            </a:r>
            <a:r>
              <a:rPr lang="ru-RU" altLang="ru-RU" sz="2200" b="1" dirty="0" smtClean="0"/>
              <a:t>доступны через туннели;</a:t>
            </a:r>
          </a:p>
          <a:p>
            <a:pPr>
              <a:lnSpc>
                <a:spcPct val="80000"/>
              </a:lnSpc>
            </a:pPr>
            <a:r>
              <a:rPr lang="ru-RU" altLang="ru-RU" sz="2200" b="1" dirty="0" smtClean="0"/>
              <a:t>маршрутизация </a:t>
            </a:r>
            <a:r>
              <a:rPr lang="ru-RU" altLang="ru-RU" sz="2200" b="1" dirty="0"/>
              <a:t>во внешней  сети (как филиалов так и провайдера) не нарушена;</a:t>
            </a:r>
          </a:p>
          <a:p>
            <a:pPr>
              <a:lnSpc>
                <a:spcPct val="80000"/>
              </a:lnSpc>
            </a:pPr>
            <a:r>
              <a:rPr lang="ru-RU" altLang="ru-RU" sz="2200" b="1" dirty="0" smtClean="0"/>
              <a:t>текущая </a:t>
            </a:r>
            <a:r>
              <a:rPr lang="ru-RU" altLang="ru-RU" sz="2200" b="1" dirty="0" smtClean="0"/>
              <a:t>конфигурация маршрутизатора </a:t>
            </a:r>
            <a:r>
              <a:rPr lang="ru-RU" altLang="ru-RU" sz="2200" b="1" dirty="0" smtClean="0"/>
              <a:t>МЧС 1, МЧС 2;</a:t>
            </a:r>
          </a:p>
          <a:p>
            <a:pPr>
              <a:lnSpc>
                <a:spcPct val="80000"/>
              </a:lnSpc>
            </a:pPr>
            <a:r>
              <a:rPr lang="ru-RU" altLang="ru-RU" sz="2200" b="1" dirty="0" smtClean="0"/>
              <a:t>Пояснение произведённых настроек.</a:t>
            </a:r>
            <a:endParaRPr lang="ru-RU" altLang="ru-RU" sz="2200" b="1" dirty="0" smtClean="0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99367" y="44447"/>
            <a:ext cx="11809312" cy="514157"/>
          </a:xfrm>
          <a:prstGeom prst="rect">
            <a:avLst/>
          </a:prstGeom>
        </p:spPr>
        <p:txBody>
          <a:bodyPr vert="horz" wrap="square" lIns="0" tIns="180000" rIns="0" bIns="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u="sng" dirty="0">
                <a:solidFill>
                  <a:schemeClr val="tx1"/>
                </a:solidFill>
              </a:rPr>
              <a:t>Задание 2 – настройка </a:t>
            </a:r>
            <a:r>
              <a:rPr lang="en-US" altLang="ru-RU" u="sng" dirty="0">
                <a:solidFill>
                  <a:schemeClr val="tx1"/>
                </a:solidFill>
              </a:rPr>
              <a:t>GRE</a:t>
            </a:r>
            <a:r>
              <a:rPr lang="ru-RU" altLang="ru-RU" u="sng" dirty="0">
                <a:solidFill>
                  <a:schemeClr val="tx1"/>
                </a:solidFill>
              </a:rPr>
              <a:t> туннелей</a:t>
            </a:r>
            <a:endParaRPr lang="ru-RU" altLang="ru-RU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5793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11532</TotalTime>
  <Words>1084</Words>
  <Application>Microsoft Office PowerPoint</Application>
  <PresentationFormat>Широкоэкранный</PresentationFormat>
  <Paragraphs>122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Тема Office</vt:lpstr>
      <vt:lpstr>РТУ МИРЭА     КБ-2 ИКБ</vt:lpstr>
      <vt:lpstr>Учебные вопросы и цели занятия:</vt:lpstr>
      <vt:lpstr>Исходные данные</vt:lpstr>
      <vt:lpstr>Исходные данные</vt:lpstr>
      <vt:lpstr>Презентация PowerPoint</vt:lpstr>
      <vt:lpstr>Этап 1 – настройка глобального доступа к серверу 1  с помощью статического NAT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Исходные данные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Исходные данные</dc:title>
  <dc:creator>alex</dc:creator>
  <cp:lastModifiedBy>alex</cp:lastModifiedBy>
  <cp:revision>15</cp:revision>
  <dcterms:created xsi:type="dcterms:W3CDTF">2025-11-18T19:17:17Z</dcterms:created>
  <dcterms:modified xsi:type="dcterms:W3CDTF">2025-11-26T19:30:18Z</dcterms:modified>
</cp:coreProperties>
</file>